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sldIdLst>
    <p:sldId id="333" r:id="rId2"/>
    <p:sldId id="334" r:id="rId3"/>
    <p:sldId id="335" r:id="rId4"/>
    <p:sldId id="336" r:id="rId5"/>
    <p:sldId id="337" r:id="rId6"/>
    <p:sldId id="349" r:id="rId7"/>
    <p:sldId id="350" r:id="rId8"/>
    <p:sldId id="351" r:id="rId9"/>
    <p:sldId id="352" r:id="rId10"/>
    <p:sldId id="340" r:id="rId11"/>
    <p:sldId id="338" r:id="rId12"/>
    <p:sldId id="343" r:id="rId13"/>
    <p:sldId id="344" r:id="rId14"/>
    <p:sldId id="345" r:id="rId15"/>
    <p:sldId id="346" r:id="rId16"/>
    <p:sldId id="341" r:id="rId17"/>
    <p:sldId id="357" r:id="rId18"/>
    <p:sldId id="358" r:id="rId19"/>
    <p:sldId id="359" r:id="rId20"/>
    <p:sldId id="360" r:id="rId21"/>
    <p:sldId id="342" r:id="rId22"/>
    <p:sldId id="347" r:id="rId23"/>
    <p:sldId id="353" r:id="rId24"/>
    <p:sldId id="354" r:id="rId25"/>
    <p:sldId id="355" r:id="rId26"/>
    <p:sldId id="356" r:id="rId27"/>
    <p:sldId id="339" r:id="rId28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8" userDrawn="1">
          <p15:clr>
            <a:srgbClr val="A4A3A4"/>
          </p15:clr>
        </p15:guide>
        <p15:guide id="2" pos="5760" userDrawn="1">
          <p15:clr>
            <a:srgbClr val="A4A3A4"/>
          </p15:clr>
        </p15:guide>
        <p15:guide id="3" orient="horz" pos="44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D762DE-549A-4CA1-90C4-C499FCC53F03}" v="20" dt="2025-09-02T14:33:36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1" autoAdjust="0"/>
    <p:restoredTop sz="92718" autoAdjust="0"/>
  </p:normalViewPr>
  <p:slideViewPr>
    <p:cSldViewPr>
      <p:cViewPr>
        <p:scale>
          <a:sx n="50" d="100"/>
          <a:sy n="50" d="100"/>
        </p:scale>
        <p:origin x="29" y="91"/>
      </p:cViewPr>
      <p:guideLst>
        <p:guide orient="horz" pos="1608"/>
        <p:guide pos="5760"/>
        <p:guide orient="horz" pos="448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2D96E9-8FC2-4761-8B0F-732A022FE3D0}" type="datetimeFigureOut">
              <a:rPr lang="en-IN" smtClean="0"/>
              <a:pPr/>
              <a:t>25-11-2025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1B559A-E338-4F75-A573-9861E0BAC220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DC1C6"/>
                </a:solidFill>
                <a:effectLst/>
                <a:highlight>
                  <a:srgbClr val="1F1F1F"/>
                </a:highlight>
                <a:latin typeface="arial" panose="020B0604020202020204" pitchFamily="34" charset="0"/>
              </a:rPr>
              <a:t> 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559A-E338-4F75-A573-9861E0BAC220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14921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Frontend &amp; Dashboard</a:t>
            </a:r>
            <a:r>
              <a:rPr lang="en-IN" dirty="0"/>
              <a:t> → Adithya</a:t>
            </a:r>
          </a:p>
          <a:p>
            <a:r>
              <a:rPr lang="en-IN" b="1" dirty="0"/>
              <a:t>Database &amp; Crawler</a:t>
            </a:r>
            <a:r>
              <a:rPr lang="en-IN" dirty="0"/>
              <a:t> → </a:t>
            </a:r>
            <a:r>
              <a:rPr lang="en-IN" dirty="0" err="1"/>
              <a:t>Abhayraj</a:t>
            </a:r>
            <a:endParaRPr lang="en-IN" dirty="0"/>
          </a:p>
          <a:p>
            <a:r>
              <a:rPr lang="en-IN" b="1" dirty="0"/>
              <a:t>SEO, Performance Analyzer, UX-Audit</a:t>
            </a:r>
            <a:r>
              <a:rPr lang="en-IN" dirty="0"/>
              <a:t> → </a:t>
            </a:r>
            <a:r>
              <a:rPr lang="en-IN" dirty="0" err="1"/>
              <a:t>Aashitha</a:t>
            </a:r>
            <a:endParaRPr lang="en-IN" dirty="0"/>
          </a:p>
          <a:p>
            <a:r>
              <a:rPr lang="en-IN" b="1" dirty="0"/>
              <a:t>Security</a:t>
            </a:r>
            <a:r>
              <a:rPr lang="en-IN" dirty="0"/>
              <a:t>→ Ashwini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1B559A-E338-4F75-A573-9861E0BAC220}" type="slidenum">
              <a:rPr lang="en-IN" smtClean="0"/>
              <a:pPr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298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2829A-2D1A-42C3-8D91-9F5E54DAAC82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0D197-1632-4527-9336-EDB055E82F68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1C289-CDC0-4412-8EBF-D6554052AF2C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1F22-2B1D-497F-9F8D-1ED9CD0B4B81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A8F0-A19B-479C-BE75-1B5710F6EA46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EA947-AB05-4466-AEB7-87BE9C6351F9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D71-F2BC-4DA2-A9C1-DC7D7D739E25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BB881-A14D-4FC9-B2B4-C6B3D5625466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58E814-5596-4769-B960-CF505F7289BF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F8547-D9FC-48A4-88F1-5C59F64BFD49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8B714-4CF5-4A5D-9953-3F2E1F2FAD78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49024-EEDE-43DF-A041-62888680CFDC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896" y="532749"/>
            <a:ext cx="3009122" cy="19838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946374" y="285751"/>
            <a:ext cx="2503426" cy="2419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617076" y="405779"/>
            <a:ext cx="11316970" cy="6419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50" b="1" spc="-7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6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9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50" b="1" spc="-10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6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20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4050" b="1" spc="-10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50" b="1" spc="-55" dirty="0">
                <a:solidFill>
                  <a:srgbClr val="FF57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endParaRPr sz="4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8152" y="1038905"/>
            <a:ext cx="11235055" cy="133540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920115" marR="912495" algn="ctr">
              <a:lnSpc>
                <a:spcPts val="3300"/>
              </a:lnSpc>
              <a:spcBef>
                <a:spcPts val="490"/>
              </a:spcBef>
            </a:pPr>
            <a:r>
              <a:rPr sz="2800" spc="3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</a:t>
            </a:r>
            <a:r>
              <a:rPr sz="2800" spc="-7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8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Vivekananda</a:t>
            </a:r>
            <a:r>
              <a:rPr sz="2800" spc="-7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 err="1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Vidyavardhaka</a:t>
            </a:r>
            <a:r>
              <a:rPr sz="28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2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Sangha</a:t>
            </a:r>
            <a:r>
              <a:rPr lang="en-IN" sz="2800" spc="-12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800" spc="-6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Puttur®] </a:t>
            </a:r>
            <a:r>
              <a:rPr sz="2800" spc="-819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Affiliated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Visvesvaraya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</a:t>
            </a:r>
            <a:r>
              <a:rPr lang="en-IN" sz="28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Belagavi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315"/>
              </a:lnSpc>
            </a:pPr>
            <a:r>
              <a:rPr sz="280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AICTE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Delhi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4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8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Recognised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Govt</a:t>
            </a:r>
            <a:r>
              <a:rPr sz="2800" spc="-7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80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6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15" dirty="0">
                <a:solidFill>
                  <a:srgbClr val="527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Karnataka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666683" y="3718936"/>
            <a:ext cx="12954635" cy="5080"/>
          </a:xfrm>
          <a:custGeom>
            <a:avLst/>
            <a:gdLst/>
            <a:ahLst/>
            <a:cxnLst/>
            <a:rect l="l" t="t" r="r" b="b"/>
            <a:pathLst>
              <a:path w="12954635" h="5079">
                <a:moveTo>
                  <a:pt x="0" y="0"/>
                </a:moveTo>
                <a:lnTo>
                  <a:pt x="12954080" y="4756"/>
                </a:lnTo>
              </a:path>
            </a:pathLst>
          </a:custGeom>
          <a:ln w="9524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08833" y="4021113"/>
            <a:ext cx="14670335" cy="1808187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12065" marR="5080" algn="ctr">
              <a:spcBef>
                <a:spcPts val="1140"/>
              </a:spcBef>
            </a:pP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5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SiteSense</a:t>
            </a:r>
            <a:r>
              <a:rPr lang="en-US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- Unified and actionable view of overall website health</a:t>
            </a:r>
            <a:endParaRPr lang="en-US" sz="5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43200" y="6286500"/>
            <a:ext cx="12954635" cy="0"/>
          </a:xfrm>
          <a:custGeom>
            <a:avLst/>
            <a:gdLst/>
            <a:ahLst/>
            <a:cxnLst/>
            <a:rect l="l" t="t" r="r" b="b"/>
            <a:pathLst>
              <a:path w="12954635">
                <a:moveTo>
                  <a:pt x="0" y="0"/>
                </a:moveTo>
                <a:lnTo>
                  <a:pt x="12954083" y="0"/>
                </a:lnTo>
              </a:path>
            </a:pathLst>
          </a:custGeom>
          <a:ln w="9524">
            <a:solidFill>
              <a:srgbClr val="2B2B2B"/>
            </a:solidFill>
          </a:ln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57800" y="3062749"/>
            <a:ext cx="7772400" cy="56938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0"/>
              </a:spcBef>
            </a:pPr>
            <a:r>
              <a:rPr lang="en-US" sz="3600" b="1" spc="-4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</a:t>
            </a:r>
            <a:r>
              <a:rPr lang="en-US" sz="3600" b="1" spc="-1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sz="3600" b="1" spc="-8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spc="-35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</a:t>
            </a:r>
            <a:r>
              <a:rPr sz="3600" b="1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578172" y="6529574"/>
            <a:ext cx="5719228" cy="2302553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15"/>
              </a:spcBef>
            </a:pPr>
            <a:r>
              <a:rPr sz="25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</a:t>
            </a:r>
            <a:r>
              <a:rPr sz="25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5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endParaRPr lang="en-IN" sz="25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515"/>
              </a:spcBef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Aashitha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Prabhu B (4VP23CS001)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Abhayraj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Bhat N (4VP23CS002) Adithya (4VP23CS004) </a:t>
            </a:r>
          </a:p>
          <a:p>
            <a:pPr algn="ctr">
              <a:spcBef>
                <a:spcPts val="515"/>
              </a:spcBef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Ashwini (4VP23CS017)</a:t>
            </a:r>
            <a:endParaRPr lang="en-US" sz="2800" b="1" spc="-17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-152400" y="6617851"/>
            <a:ext cx="80772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500" dirty="0">
                <a:latin typeface="Times New Roman" panose="02020603050405020304" pitchFamily="18" charset="0"/>
                <a:cs typeface="Times New Roman" pitchFamily="18" charset="0"/>
              </a:rPr>
              <a:t>Guided by</a:t>
            </a:r>
          </a:p>
          <a:p>
            <a:pPr algn="ctr"/>
            <a:r>
              <a:rPr lang="en-IN" sz="2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Pradeep Kumar K G </a:t>
            </a:r>
          </a:p>
          <a:p>
            <a:pPr algn="ctr"/>
            <a:r>
              <a:rPr lang="en-US" sz="25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HOD, CSE</a:t>
            </a:r>
            <a:endParaRPr lang="en-IN" sz="2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3CA7C802-C910-5BE0-5589-1593012D5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317A1-A7E8-43F1-920D-8A028F042A51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CC9068C3-562B-2FEB-AE99-24FEA9700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443096B-2676-BF6D-7D21-138ADD96F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</a:t>
            </a:fld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94300" y="190500"/>
            <a:ext cx="78994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3000" y="1790700"/>
            <a:ext cx="15429230" cy="6561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Specifications 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591310" y="4784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775DC7-6BF1-B393-041B-E13CE92B5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700ED8-F77E-4115-93F9-8D489DE34DF7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C093A-4458-45AC-EF84-F1A14B7EB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107630-F715-ACD5-0655-E46C97EE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</a:t>
            </a:fld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>
          <a:xfrm>
            <a:off x="2286000" y="266700"/>
            <a:ext cx="13373099" cy="1295400"/>
          </a:xfrm>
        </p:spPr>
        <p:txBody>
          <a:bodyPr>
            <a:normAutofit/>
          </a:bodyPr>
          <a:lstStyle/>
          <a:p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8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141AF6-EDE5-AB65-0BA7-5937918F5359}"/>
              </a:ext>
            </a:extLst>
          </p:cNvPr>
          <p:cNvSpPr txBox="1"/>
          <p:nvPr/>
        </p:nvSpPr>
        <p:spPr>
          <a:xfrm>
            <a:off x="1257300" y="2247900"/>
            <a:ext cx="157734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00330" algn="just">
              <a:lnSpc>
                <a:spcPct val="150000"/>
              </a:lnSpc>
              <a:spcAft>
                <a:spcPts val="800"/>
              </a:spcAft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SiteSense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unified platform/tool for small scale and freelance web-developers/web-developing companies or even students, providing an overall health result of their website, which includes 4 decision making factors,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Performance, Security, SEO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UX-Audit,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hence obtaining a priority-based fix suggestions to improve the performance and reliability of the website.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5F2D2E72-06C0-C391-3A36-A1792FED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57300" y="9534526"/>
            <a:ext cx="4114800" cy="547688"/>
          </a:xfrm>
        </p:spPr>
        <p:txBody>
          <a:bodyPr/>
          <a:lstStyle/>
          <a:p>
            <a:fld id="{01C8CE3C-5C8C-4A2D-9FD9-0F026A50C13C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C96F9560-702D-DFAF-AB75-49BB216B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7900" y="9534526"/>
            <a:ext cx="6172200" cy="547688"/>
          </a:xfrm>
        </p:spPr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BBAD17BF-46A8-424A-5546-6BBB4ACDA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915900" y="9534526"/>
            <a:ext cx="4114800" cy="547688"/>
          </a:xfrm>
        </p:spPr>
        <p:txBody>
          <a:bodyPr/>
          <a:lstStyle/>
          <a:p>
            <a:fld id="{B6F15528-21DE-4FAA-801E-634DDDAF4B2B}" type="slidenum">
              <a:rPr lang="en-IN" smtClean="0"/>
              <a:pPr/>
              <a:t>3</a:t>
            </a:fld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79500" y="204786"/>
            <a:ext cx="161290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68913C-4556-8F0F-FA4C-389174CEBEBD}"/>
              </a:ext>
            </a:extLst>
          </p:cNvPr>
          <p:cNvSpPr txBox="1"/>
          <p:nvPr/>
        </p:nvSpPr>
        <p:spPr>
          <a:xfrm>
            <a:off x="1257300" y="2705100"/>
            <a:ext cx="1565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772F03-C24C-FB4B-7AE2-E870A95E2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8CE3C-5C8C-4A2D-9FD9-0F026A50C13C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D4E45-04E2-F3EF-0F58-06C2090A2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619AF-9DC1-0CAD-9FB0-24701FCBB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CE3309-CB3A-0326-13B2-6E9A2124F10C}"/>
              </a:ext>
            </a:extLst>
          </p:cNvPr>
          <p:cNvSpPr txBox="1"/>
          <p:nvPr/>
        </p:nvSpPr>
        <p:spPr>
          <a:xfrm>
            <a:off x="1257300" y="2247900"/>
            <a:ext cx="15773400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00330" algn="just">
              <a:lnSpc>
                <a:spcPct val="150000"/>
              </a:lnSpc>
              <a:spcAft>
                <a:spcPts val="800"/>
              </a:spcAft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audits are time-consuming and inconsistent,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SiteSense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solves it with an integrated audit pipeline that automates every test and creates a unified platform for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/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5053E2-D5C2-D123-A9D8-BE15FCE794E7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B4C33-069C-2605-48C1-2CBF9FA9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5C4F7C-D06B-B960-ACE9-3F33FD3DE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42A19-E099-ADE3-E1F0-46BA3C6F3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D81BF-E52D-35C2-A98D-934622C8EC5A}"/>
              </a:ext>
            </a:extLst>
          </p:cNvPr>
          <p:cNvSpPr txBox="1"/>
          <p:nvPr/>
        </p:nvSpPr>
        <p:spPr>
          <a:xfrm>
            <a:off x="1257300" y="2407920"/>
            <a:ext cx="15773400" cy="221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health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holistically and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insights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a lightweight dashboard.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prioritised recommendations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clear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analysis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improvements.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5775C-82DB-C1F5-2943-A02A8DF5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E681993D-81F9-DE30-9B62-C3615E259F5A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75C9FA6-A057-01F9-4F31-95702C4D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05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6AC2936-09FE-066E-A065-A08BC3F3D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29634"/>
              </p:ext>
            </p:extLst>
          </p:nvPr>
        </p:nvGraphicFramePr>
        <p:xfrm>
          <a:off x="1752600" y="1675625"/>
          <a:ext cx="13258800" cy="7646600"/>
        </p:xfrm>
        <a:graphic>
          <a:graphicData uri="http://schemas.openxmlformats.org/drawingml/2006/table">
            <a:tbl>
              <a:tblPr firstRow="1" firstCol="1" bandRow="1"/>
              <a:tblGrid>
                <a:gridCol w="2329572">
                  <a:extLst>
                    <a:ext uri="{9D8B030D-6E8A-4147-A177-3AD203B41FA5}">
                      <a16:colId xmlns:a16="http://schemas.microsoft.com/office/drawing/2014/main" val="2047504327"/>
                    </a:ext>
                  </a:extLst>
                </a:gridCol>
                <a:gridCol w="5317892">
                  <a:extLst>
                    <a:ext uri="{9D8B030D-6E8A-4147-A177-3AD203B41FA5}">
                      <a16:colId xmlns:a16="http://schemas.microsoft.com/office/drawing/2014/main" val="1032553071"/>
                    </a:ext>
                  </a:extLst>
                </a:gridCol>
                <a:gridCol w="3245831">
                  <a:extLst>
                    <a:ext uri="{9D8B030D-6E8A-4147-A177-3AD203B41FA5}">
                      <a16:colId xmlns:a16="http://schemas.microsoft.com/office/drawing/2014/main" val="89381599"/>
                    </a:ext>
                  </a:extLst>
                </a:gridCol>
                <a:gridCol w="2365505">
                  <a:extLst>
                    <a:ext uri="{9D8B030D-6E8A-4147-A177-3AD203B41FA5}">
                      <a16:colId xmlns:a16="http://schemas.microsoft.com/office/drawing/2014/main" val="2664243038"/>
                    </a:ext>
                  </a:extLst>
                </a:gridCol>
              </a:tblGrid>
              <a:tr h="42736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Name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Technology / Focus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Advantage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Limitations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extLst>
                  <a:ext uri="{0D108BD9-81ED-4DB2-BD59-A6C34878D82A}">
                    <a16:rowId xmlns:a16="http://schemas.microsoft.com/office/drawing/2014/main" val="2522443264"/>
                  </a:ext>
                </a:extLst>
              </a:tr>
              <a:tr h="316758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Van Riet et al. (2023)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Lighthouse-based performance benchmarking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Dramatic improvements via targeted optimizations; shows value of continuous performance engineering.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Single case study; limited generalization.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extLst>
                  <a:ext uri="{0D108BD9-81ED-4DB2-BD59-A6C34878D82A}">
                    <a16:rowId xmlns:a16="http://schemas.microsoft.com/office/drawing/2014/main" val="2592711686"/>
                  </a:ext>
                </a:extLst>
              </a:tr>
              <a:tr h="179747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Fischer et al. (2025)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Automated accessibility checking tools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Reveals major WCAG coverage gaps; shows inconsistency across tools.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Tools incomplete and inconsistent.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extLst>
                  <a:ext uri="{0D108BD9-81ED-4DB2-BD59-A6C34878D82A}">
                    <a16:rowId xmlns:a16="http://schemas.microsoft.com/office/drawing/2014/main" val="3196976443"/>
                  </a:ext>
                </a:extLst>
              </a:tr>
              <a:tr h="22541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>
                          <a:effectLst/>
                        </a:rPr>
                        <a:t>Manca et al. (2022)</a:t>
                      </a:r>
                      <a:endParaRPr lang="en-IN" sz="22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Transparency of accessibility tools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Identifies need for clearer, user-centered explanations.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200" dirty="0">
                          <a:effectLst/>
                        </a:rPr>
                        <a:t>Existing tools produce confusing, divergent results.</a:t>
                      </a:r>
                      <a:endParaRPr lang="en-IN" sz="22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36510" marR="136510" marT="0" marB="0"/>
                </a:tc>
                <a:extLst>
                  <a:ext uri="{0D108BD9-81ED-4DB2-BD59-A6C34878D82A}">
                    <a16:rowId xmlns:a16="http://schemas.microsoft.com/office/drawing/2014/main" val="3814267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323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AD7F-FB2E-BD5E-4848-509581F1B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45B804A4-376B-7643-F839-D49DC1FD1767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BAEFDA6F-5803-9380-9D44-E1A772C35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05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6291A-561C-C3A1-8F9F-3BF621E9B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947725"/>
              </p:ext>
            </p:extLst>
          </p:nvPr>
        </p:nvGraphicFramePr>
        <p:xfrm>
          <a:off x="1752600" y="2171700"/>
          <a:ext cx="13868400" cy="7758114"/>
        </p:xfrm>
        <a:graphic>
          <a:graphicData uri="http://schemas.openxmlformats.org/drawingml/2006/table">
            <a:tbl>
              <a:tblPr firstRow="1" firstCol="1" bandRow="1"/>
              <a:tblGrid>
                <a:gridCol w="2436679">
                  <a:extLst>
                    <a:ext uri="{9D8B030D-6E8A-4147-A177-3AD203B41FA5}">
                      <a16:colId xmlns:a16="http://schemas.microsoft.com/office/drawing/2014/main" val="480366094"/>
                    </a:ext>
                  </a:extLst>
                </a:gridCol>
                <a:gridCol w="5562394">
                  <a:extLst>
                    <a:ext uri="{9D8B030D-6E8A-4147-A177-3AD203B41FA5}">
                      <a16:colId xmlns:a16="http://schemas.microsoft.com/office/drawing/2014/main" val="1054022672"/>
                    </a:ext>
                  </a:extLst>
                </a:gridCol>
                <a:gridCol w="3395064">
                  <a:extLst>
                    <a:ext uri="{9D8B030D-6E8A-4147-A177-3AD203B41FA5}">
                      <a16:colId xmlns:a16="http://schemas.microsoft.com/office/drawing/2014/main" val="702864722"/>
                    </a:ext>
                  </a:extLst>
                </a:gridCol>
                <a:gridCol w="2474263">
                  <a:extLst>
                    <a:ext uri="{9D8B030D-6E8A-4147-A177-3AD203B41FA5}">
                      <a16:colId xmlns:a16="http://schemas.microsoft.com/office/drawing/2014/main" val="2410140030"/>
                    </a:ext>
                  </a:extLst>
                </a:gridCol>
              </a:tblGrid>
              <a:tr h="27504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 dirty="0" err="1">
                          <a:effectLst/>
                        </a:rPr>
                        <a:t>Namoun</a:t>
                      </a:r>
                      <a:r>
                        <a:rPr lang="en-US" sz="2500" dirty="0">
                          <a:effectLst/>
                        </a:rPr>
                        <a:t> et al. (2021)</a:t>
                      </a:r>
                      <a:endParaRPr lang="en-IN" sz="2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Usability/SEO/accessibility/security tools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Broad audit coverage across multiple dimensions.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Reports often vague, contradictory, lacking actionable insights.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extLst>
                  <a:ext uri="{0D108BD9-81ED-4DB2-BD59-A6C34878D82A}">
                    <a16:rowId xmlns:a16="http://schemas.microsoft.com/office/drawing/2014/main" val="2267331964"/>
                  </a:ext>
                </a:extLst>
              </a:tr>
              <a:tr h="136032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Heričko et al. (2021)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 dirty="0">
                          <a:effectLst/>
                        </a:rPr>
                        <a:t>Lighthouse score reliability</a:t>
                      </a:r>
                      <a:endParaRPr lang="en-IN" sz="2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Repeated runs greatly stabilize metrics.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Single-run results are unreliable.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extLst>
                  <a:ext uri="{0D108BD9-81ED-4DB2-BD59-A6C34878D82A}">
                    <a16:rowId xmlns:a16="http://schemas.microsoft.com/office/drawing/2014/main" val="2200311164"/>
                  </a:ext>
                </a:extLst>
              </a:tr>
              <a:tr h="18236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Vepsäläinen et al. (2024)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 dirty="0">
                          <a:effectLst/>
                        </a:rPr>
                        <a:t>Web performance optimization techniques</a:t>
                      </a:r>
                      <a:endParaRPr lang="en-IN" sz="2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Reviews modern optimization strategies; links performance to SEO.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High‑level review; lacks actionable guidance.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extLst>
                  <a:ext uri="{0D108BD9-81ED-4DB2-BD59-A6C34878D82A}">
                    <a16:rowId xmlns:a16="http://schemas.microsoft.com/office/drawing/2014/main" val="1689016799"/>
                  </a:ext>
                </a:extLst>
              </a:tr>
              <a:tr h="18236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Yang et al. (2023)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>
                          <a:effectLst/>
                        </a:rPr>
                        <a:t>Visual-aware WPO testing</a:t>
                      </a:r>
                      <a:endParaRPr lang="en-IN" sz="25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 dirty="0">
                          <a:effectLst/>
                        </a:rPr>
                        <a:t>Identified 21 UI distortions caused by aggressive optimizers.</a:t>
                      </a:r>
                      <a:endParaRPr lang="en-IN" sz="2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500" dirty="0">
                          <a:effectLst/>
                        </a:rPr>
                        <a:t>Focuses only on proxy-based WPO tools.</a:t>
                      </a:r>
                      <a:endParaRPr lang="en-IN" sz="25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58996" marR="158996" marT="0" marB="0"/>
                </a:tc>
                <a:extLst>
                  <a:ext uri="{0D108BD9-81ED-4DB2-BD59-A6C34878D82A}">
                    <a16:rowId xmlns:a16="http://schemas.microsoft.com/office/drawing/2014/main" val="9171066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03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065B-14CC-205A-67C3-AFE34374F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7198C52-EAC7-E6BC-1D91-46BB71FE0B2A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ED0C5CC8-06DF-2AA3-6513-EDBF3377F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05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036CBC-CE9D-0FAA-3B2F-8EC72DAC7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084914"/>
              </p:ext>
            </p:extLst>
          </p:nvPr>
        </p:nvGraphicFramePr>
        <p:xfrm>
          <a:off x="1242199" y="2560320"/>
          <a:ext cx="13406477" cy="7239000"/>
        </p:xfrm>
        <a:graphic>
          <a:graphicData uri="http://schemas.openxmlformats.org/drawingml/2006/table">
            <a:tbl>
              <a:tblPr firstRow="1" firstCol="1" bandRow="1"/>
              <a:tblGrid>
                <a:gridCol w="2355519">
                  <a:extLst>
                    <a:ext uri="{9D8B030D-6E8A-4147-A177-3AD203B41FA5}">
                      <a16:colId xmlns:a16="http://schemas.microsoft.com/office/drawing/2014/main" val="2448523990"/>
                    </a:ext>
                  </a:extLst>
                </a:gridCol>
                <a:gridCol w="5377124">
                  <a:extLst>
                    <a:ext uri="{9D8B030D-6E8A-4147-A177-3AD203B41FA5}">
                      <a16:colId xmlns:a16="http://schemas.microsoft.com/office/drawing/2014/main" val="928491743"/>
                    </a:ext>
                  </a:extLst>
                </a:gridCol>
                <a:gridCol w="3281983">
                  <a:extLst>
                    <a:ext uri="{9D8B030D-6E8A-4147-A177-3AD203B41FA5}">
                      <a16:colId xmlns:a16="http://schemas.microsoft.com/office/drawing/2014/main" val="47160211"/>
                    </a:ext>
                  </a:extLst>
                </a:gridCol>
                <a:gridCol w="2391851">
                  <a:extLst>
                    <a:ext uri="{9D8B030D-6E8A-4147-A177-3AD203B41FA5}">
                      <a16:colId xmlns:a16="http://schemas.microsoft.com/office/drawing/2014/main" val="3351449006"/>
                    </a:ext>
                  </a:extLst>
                </a:gridCol>
              </a:tblGrid>
              <a:tr h="1809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 dirty="0">
                          <a:effectLst/>
                        </a:rPr>
                        <a:t>Burkard et al. (2021)</a:t>
                      </a:r>
                      <a:endParaRPr lang="en-IN" sz="2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Accessibility monitoring systems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Useful for continuous monitoring and suggestions.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None cover all guidelines; manual review needed.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extLst>
                  <a:ext uri="{0D108BD9-81ED-4DB2-BD59-A6C34878D82A}">
                    <a16:rowId xmlns:a16="http://schemas.microsoft.com/office/drawing/2014/main" val="538087345"/>
                  </a:ext>
                </a:extLst>
              </a:tr>
              <a:tr h="1809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 dirty="0">
                          <a:effectLst/>
                        </a:rPr>
                        <a:t>Buchanan et al. (2017)</a:t>
                      </a:r>
                      <a:endParaRPr lang="en-IN" sz="2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 dirty="0">
                          <a:effectLst/>
                        </a:rPr>
                        <a:t>HTTP security header adoption</a:t>
                      </a:r>
                      <a:endParaRPr lang="en-IN" sz="2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Shows increasing adoption trends; highlights gaps.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Single snapshot; does not track progression.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extLst>
                  <a:ext uri="{0D108BD9-81ED-4DB2-BD59-A6C34878D82A}">
                    <a16:rowId xmlns:a16="http://schemas.microsoft.com/office/drawing/2014/main" val="660240450"/>
                  </a:ext>
                </a:extLst>
              </a:tr>
              <a:tr h="1809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Yarphel &amp; Rani (2025)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Web vulnerability scanner comparison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 dirty="0">
                          <a:effectLst/>
                        </a:rPr>
                        <a:t>Burp Suite most accurate; ZAP good usability balance.</a:t>
                      </a:r>
                      <a:endParaRPr lang="en-IN" sz="2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No single scanner finds all vulnerabilities.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extLst>
                  <a:ext uri="{0D108BD9-81ED-4DB2-BD59-A6C34878D82A}">
                    <a16:rowId xmlns:a16="http://schemas.microsoft.com/office/drawing/2014/main" val="638313067"/>
                  </a:ext>
                </a:extLst>
              </a:tr>
              <a:tr h="18097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Pezzuti et al. (2025)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Neural prioritization for crawling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>
                          <a:effectLst/>
                        </a:rPr>
                        <a:t>Improves early crawl quality using semantic cues.</a:t>
                      </a:r>
                      <a:endParaRPr lang="en-IN" sz="2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600" dirty="0">
                          <a:effectLst/>
                        </a:rPr>
                        <a:t>High computational cost; experimental.</a:t>
                      </a:r>
                      <a:endParaRPr lang="en-IN" sz="2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3494" marR="163494" marT="0" marB="0"/>
                </a:tc>
                <a:extLst>
                  <a:ext uri="{0D108BD9-81ED-4DB2-BD59-A6C34878D82A}">
                    <a16:rowId xmlns:a16="http://schemas.microsoft.com/office/drawing/2014/main" val="3009108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093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8E7B-48C4-03BA-DA32-36CAED831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9421576-445D-D7EC-2404-1A60FB4DEDFB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9A815314-F231-8B28-6B4C-F58818FF3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0505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6CADDE5-D402-126B-4F7F-374F7A409B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300494"/>
              </p:ext>
            </p:extLst>
          </p:nvPr>
        </p:nvGraphicFramePr>
        <p:xfrm>
          <a:off x="1066800" y="2560320"/>
          <a:ext cx="13798620" cy="5556504"/>
        </p:xfrm>
        <a:graphic>
          <a:graphicData uri="http://schemas.openxmlformats.org/drawingml/2006/table">
            <a:tbl>
              <a:tblPr firstRow="1" firstCol="1" bandRow="1"/>
              <a:tblGrid>
                <a:gridCol w="2424419">
                  <a:extLst>
                    <a:ext uri="{9D8B030D-6E8A-4147-A177-3AD203B41FA5}">
                      <a16:colId xmlns:a16="http://schemas.microsoft.com/office/drawing/2014/main" val="2257245905"/>
                    </a:ext>
                  </a:extLst>
                </a:gridCol>
                <a:gridCol w="5534406">
                  <a:extLst>
                    <a:ext uri="{9D8B030D-6E8A-4147-A177-3AD203B41FA5}">
                      <a16:colId xmlns:a16="http://schemas.microsoft.com/office/drawing/2014/main" val="40860167"/>
                    </a:ext>
                  </a:extLst>
                </a:gridCol>
                <a:gridCol w="3377982">
                  <a:extLst>
                    <a:ext uri="{9D8B030D-6E8A-4147-A177-3AD203B41FA5}">
                      <a16:colId xmlns:a16="http://schemas.microsoft.com/office/drawing/2014/main" val="908094680"/>
                    </a:ext>
                  </a:extLst>
                </a:gridCol>
                <a:gridCol w="2461813">
                  <a:extLst>
                    <a:ext uri="{9D8B030D-6E8A-4147-A177-3AD203B41FA5}">
                      <a16:colId xmlns:a16="http://schemas.microsoft.com/office/drawing/2014/main" val="3597997336"/>
                    </a:ext>
                  </a:extLst>
                </a:gridCol>
              </a:tblGrid>
              <a:tr h="1388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Alim (2025)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University website analysis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Reveals accessibility/security issues; usability high.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Only homepage analysis.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extLst>
                  <a:ext uri="{0D108BD9-81ED-4DB2-BD59-A6C34878D82A}">
                    <a16:rowId xmlns:a16="http://schemas.microsoft.com/office/drawing/2014/main" val="1635653586"/>
                  </a:ext>
                </a:extLst>
              </a:tr>
              <a:tr h="1388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Laskar (2025)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CI/CD accessibility framework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6× improvement in violation detection.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Focuses solely on accessibility.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extLst>
                  <a:ext uri="{0D108BD9-81ED-4DB2-BD59-A6C34878D82A}">
                    <a16:rowId xmlns:a16="http://schemas.microsoft.com/office/drawing/2014/main" val="497351303"/>
                  </a:ext>
                </a:extLst>
              </a:tr>
              <a:tr h="1388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Kerschbaumer et al. (2025)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Global HTTPS adoption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Majority HTTPS adoption; SEO benefits.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Some insecure configurations persist.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extLst>
                  <a:ext uri="{0D108BD9-81ED-4DB2-BD59-A6C34878D82A}">
                    <a16:rowId xmlns:a16="http://schemas.microsoft.com/office/drawing/2014/main" val="2113174488"/>
                  </a:ext>
                </a:extLst>
              </a:tr>
              <a:tr h="138874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Król &amp; Zdonek (2020)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>
                          <a:effectLst/>
                        </a:rPr>
                        <a:t>Website quality indices</a:t>
                      </a:r>
                      <a:endParaRPr lang="en-IN" sz="27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Explains trade-off between indices and detailed metrics.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700" dirty="0">
                          <a:effectLst/>
                        </a:rPr>
                        <a:t>Many indices overly superficial.</a:t>
                      </a:r>
                      <a:endParaRPr lang="en-IN" sz="27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unga" panose="020B0502040204020203" pitchFamily="34" charset="0"/>
                      </a:endParaRPr>
                    </a:p>
                  </a:txBody>
                  <a:tcPr marL="168276" marR="168276" marT="0" marB="0"/>
                </a:tc>
                <a:extLst>
                  <a:ext uri="{0D108BD9-81ED-4DB2-BD59-A6C34878D82A}">
                    <a16:rowId xmlns:a16="http://schemas.microsoft.com/office/drawing/2014/main" val="690393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520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8C953-C44B-EAEB-160B-35DA64F4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9342B68F-28D2-A0CE-015A-F2DC5D46B255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BBBE2-2553-8E68-23C5-500F68ED899D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CD13D-459C-418B-F398-CB3234294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4507F-4BA1-F3B1-B27F-674B4959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3EA54-E34E-AABA-6E66-DE50EC7F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64179-3105-20D1-B09A-BA5AA7DD0F9E}"/>
              </a:ext>
            </a:extLst>
          </p:cNvPr>
          <p:cNvSpPr txBox="1"/>
          <p:nvPr/>
        </p:nvSpPr>
        <p:spPr>
          <a:xfrm>
            <a:off x="1257300" y="2407920"/>
            <a:ext cx="157734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architecture.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Next.js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Express.js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 Crawler, Performance, Security, Accessibility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JSON-based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2121530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C297FA6E-3B33-5745-A03A-9D9392B283B5}"/>
              </a:ext>
            </a:extLst>
          </p:cNvPr>
          <p:cNvSpPr txBox="1">
            <a:spLocks/>
          </p:cNvSpPr>
          <p:nvPr/>
        </p:nvSpPr>
        <p:spPr>
          <a:xfrm>
            <a:off x="995947" y="34946"/>
            <a:ext cx="161290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8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2B05555-7AF6-6B80-149A-30F1E030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B5D17-F095-40C8-8B02-33912F38D425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D36DCBB-B983-9B7E-1271-3DFBB8925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C5D1FC-C8AE-F48E-815A-E6B0C548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11</a:t>
            </a:fld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EBC13B-3BF8-0ED6-BEBA-DB6FFFC627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0472" y="1638300"/>
            <a:ext cx="16153995" cy="75156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090B9FE-9B05-966F-75F5-942EB3F591EA}"/>
              </a:ext>
            </a:extLst>
          </p:cNvPr>
          <p:cNvSpPr/>
          <p:nvPr/>
        </p:nvSpPr>
        <p:spPr>
          <a:xfrm>
            <a:off x="13944600" y="4229100"/>
            <a:ext cx="685800" cy="22860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4031F7-4209-6C92-3848-FBCEA9FCF7CA}"/>
              </a:ext>
            </a:extLst>
          </p:cNvPr>
          <p:cNvCxnSpPr/>
          <p:nvPr/>
        </p:nvCxnSpPr>
        <p:spPr>
          <a:xfrm>
            <a:off x="13944600" y="4229100"/>
            <a:ext cx="6858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250D04-2984-25C6-D3C4-28ED8ECF682A}"/>
              </a:ext>
            </a:extLst>
          </p:cNvPr>
          <p:cNvCxnSpPr/>
          <p:nvPr/>
        </p:nvCxnSpPr>
        <p:spPr>
          <a:xfrm flipV="1">
            <a:off x="14287500" y="4229100"/>
            <a:ext cx="0" cy="22860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426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B69EA-AA9B-E751-C249-F52AE49E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2968FA48-9329-7794-66AC-A12B1F17F7E3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Crawler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1288E3-D0C7-2DAA-F95D-DC11295B43BE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628E64-66C2-A157-E299-B456BB19E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7C2AE-C985-DF2E-E483-44D5E010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F7245-7E34-0966-BCED-23393F20F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986B7-C0E2-1A7C-D2FC-7E9C60525184}"/>
              </a:ext>
            </a:extLst>
          </p:cNvPr>
          <p:cNvSpPr txBox="1"/>
          <p:nvPr/>
        </p:nvSpPr>
        <p:spPr>
          <a:xfrm>
            <a:off x="1257300" y="2407920"/>
            <a:ext cx="157734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Discovers internal URLs using BFS.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Removes duplicates &amp; off-domain links.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Generates endpoints for other modules.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depth &amp; page limits.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APIs: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Cheerios - Fast, jQuery-like HTML parsing without browser overhead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Axios - Industry-standard, reliable HTTP client with timeout support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 : Node.js</a:t>
            </a:r>
          </a:p>
        </p:txBody>
      </p:sp>
    </p:spTree>
    <p:extLst>
      <p:ext uri="{BB962C8B-B14F-4D97-AF65-F5344CB8AC3E}">
        <p14:creationId xmlns:p14="http://schemas.microsoft.com/office/powerpoint/2010/main" val="35912820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FE89-D34B-1BB8-DCFE-01E205C6F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FBE78527-7393-348B-2927-AB6DDA6EE5AD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Performance &amp; SEO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107665-5AF4-9331-D47A-173B7AABD6F0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A5CDB-B9C1-3F1A-E0CA-0C0EDF33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0FA3A5-C60E-45D6-A9EA-7CDB208B1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506A1-98A9-59BB-04B4-7EF09262A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74F607-4219-3D80-6DB1-C5ABA1963E05}"/>
              </a:ext>
            </a:extLst>
          </p:cNvPr>
          <p:cNvSpPr txBox="1"/>
          <p:nvPr/>
        </p:nvSpPr>
        <p:spPr>
          <a:xfrm>
            <a:off x="1257300" y="2407920"/>
            <a:ext cx="157734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Lighthouse-based metrics: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FCP - First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contentful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Paint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 - Largest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Contentful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Paint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TBT - Total Blocking Time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CLS - Cumulative layout shift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150040-ED9B-413B-2F44-687BDB2DD732}"/>
              </a:ext>
            </a:extLst>
          </p:cNvPr>
          <p:cNvSpPr txBox="1"/>
          <p:nvPr/>
        </p:nvSpPr>
        <p:spPr>
          <a:xfrm>
            <a:off x="9144000" y="2324100"/>
            <a:ext cx="15773400" cy="5174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SEO: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description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title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alt text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test quality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Crawlable anchors</a:t>
            </a:r>
          </a:p>
        </p:txBody>
      </p:sp>
    </p:spTree>
    <p:extLst>
      <p:ext uri="{BB962C8B-B14F-4D97-AF65-F5344CB8AC3E}">
        <p14:creationId xmlns:p14="http://schemas.microsoft.com/office/powerpoint/2010/main" val="394747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FF489-F609-0618-3595-E3993463D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95AA6AF6-501A-DA07-1154-EED6D59DC432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Accessibility (UX-Audit)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5BD5B-1CF4-1796-E747-3F625761F083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15951-48FE-780C-6438-01232A4A9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CFEC0-AE38-87EB-C100-8F113AFA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F5894-8358-A762-796A-3CA3BE8F7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8E039-6152-72A1-A9F5-83A3346704C4}"/>
              </a:ext>
            </a:extLst>
          </p:cNvPr>
          <p:cNvSpPr txBox="1"/>
          <p:nvPr/>
        </p:nvSpPr>
        <p:spPr>
          <a:xfrm>
            <a:off x="1257300" y="2407920"/>
            <a:ext cx="15773400" cy="6651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WCAG compliance testing and accessibility evaluation.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Perceivable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Operable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Understandable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technology: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Puppeteer - headless chrome browser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Ax-core - accessibility rules complying with the WCAG</a:t>
            </a:r>
          </a:p>
        </p:txBody>
      </p:sp>
    </p:spTree>
    <p:extLst>
      <p:ext uri="{BB962C8B-B14F-4D97-AF65-F5344CB8AC3E}">
        <p14:creationId xmlns:p14="http://schemas.microsoft.com/office/powerpoint/2010/main" val="93484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FD45-09A1-56EF-E683-C72E70967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B6D07D4D-74B5-A8B9-CBCB-D1D0516354FD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Security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548FE3-0140-9AB3-98C0-FDE4C0F601FD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B4705-25F1-ECF8-0FE4-6C74AD2A2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DD448-06EC-79EB-E0CB-8CB372F76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79C8A-8BCB-ABEB-D515-50E4F8405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BDF21-0D14-F9FB-7706-D702D7028BC3}"/>
              </a:ext>
            </a:extLst>
          </p:cNvPr>
          <p:cNvSpPr txBox="1"/>
          <p:nvPr/>
        </p:nvSpPr>
        <p:spPr>
          <a:xfrm>
            <a:off x="1257300" y="2407920"/>
            <a:ext cx="157734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detection and risk management.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technology: OWASP ZAP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Broken Accessibility control.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failure.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Injection(SQL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, XSS)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Insecure designs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56F186-7BB1-ED42-A773-BC0AACF07110}"/>
              </a:ext>
            </a:extLst>
          </p:cNvPr>
          <p:cNvSpPr txBox="1"/>
          <p:nvPr/>
        </p:nvSpPr>
        <p:spPr>
          <a:xfrm>
            <a:off x="9601200" y="2460270"/>
            <a:ext cx="15773400" cy="3697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ZAP Scanning process: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Zap daemon process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Spider scan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scan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results</a:t>
            </a:r>
          </a:p>
        </p:txBody>
      </p:sp>
    </p:spTree>
    <p:extLst>
      <p:ext uri="{BB962C8B-B14F-4D97-AF65-F5344CB8AC3E}">
        <p14:creationId xmlns:p14="http://schemas.microsoft.com/office/powerpoint/2010/main" val="1319619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B80A8-3A02-B1AF-784A-8A36FAA0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D7FC7F75-0B92-EA94-84FC-6311F4DA0BD5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EADCD9-FBE5-3591-7D76-4863FBA797B5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667AC-EA25-6B62-F92B-0E2EFF2E6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C7E6F-FC84-73D5-5BF2-C95BE54B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9940B-38BE-63C1-839D-87ABA4D2A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2A09B9-64A8-ECB7-AF27-9105CD8B4CEA}"/>
              </a:ext>
            </a:extLst>
          </p:cNvPr>
          <p:cNvSpPr txBox="1"/>
          <p:nvPr/>
        </p:nvSpPr>
        <p:spPr>
          <a:xfrm>
            <a:off x="1257300" y="2407920"/>
            <a:ext cx="15773400" cy="2219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 in the form of dashboard containing combined results of all the pages.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user-friendly way of representation of error by highlighting it using different colors.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 generation to share the results and to have a comparative analysis of different versions.</a:t>
            </a:r>
          </a:p>
        </p:txBody>
      </p:sp>
    </p:spTree>
    <p:extLst>
      <p:ext uri="{BB962C8B-B14F-4D97-AF65-F5344CB8AC3E}">
        <p14:creationId xmlns:p14="http://schemas.microsoft.com/office/powerpoint/2010/main" val="1357500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0EDA6-9EE0-96B3-1752-28A3A30E3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DAB2A1AC-1A25-D644-4AE0-799EB278E56E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15604-72DD-6A44-6943-AD016E52ED2C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0966D-230F-EBC6-C04E-0C5B52448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FDB2-D5FD-72DE-E5A9-7E3D3115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F859-7A83-181A-ACDE-00C12EF8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17</a:t>
            </a:fld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86E169-AFFA-0D95-AA58-C9F6E8D056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843" y="1628028"/>
            <a:ext cx="14086313" cy="788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66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1D68C-449C-18ED-DF50-38FEF40C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F421181F-4345-B7E1-A944-BD5845E4F181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3D0718-4154-5EA6-4FA9-AC66A9EC525E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FC310-1690-CA99-EFFE-A1606B8E4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B4B5C-53D3-FAC5-DE89-1EEEB169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7BFB1-4842-DECC-56B7-C464E3B4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177A30-45D8-2E05-D859-11FBE9680D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1456336"/>
            <a:ext cx="13831534" cy="776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072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7D39-B89F-D887-25C0-0BFCA5B7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81F1A61A-5D5D-0A32-A4C3-F72EF8D852EC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7B32E4C-4E32-9701-BCF3-49EA7FAF0D01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EA930-C8E0-62B0-D71F-FFD917EB2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40DB6-DB5B-FEBC-5039-3B540E9C6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B9F37-8737-EC02-EF36-5A95FAAB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19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DFF166-02BB-7419-F5AA-543FC806E2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643" y="1562100"/>
            <a:ext cx="13176713" cy="7408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775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4AF89-3B9D-5681-DD47-492DA8743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C5942EAD-5AF7-15C1-97B4-E118EFC4B30A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AC1C2A-B009-C987-FF8C-827CD3EC9785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40B0A-FE68-DA33-98B3-F7D5F62D3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5BA33-D5D9-6C12-ACDB-4732ED2A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20159-7AA7-7173-6BF5-C14416FB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20</a:t>
            </a:fld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0FF627-CF5A-AB21-1285-530F111F8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1827473"/>
            <a:ext cx="13331513" cy="74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3738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5A312-747C-B977-8820-22A0DB627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016D24E5-5A9B-4D0A-0647-ADB74D5242C1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&amp; Future Enhancements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B84A1F-727B-0946-0F45-676025C65E94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2D688-A771-B901-5B9E-6F6161735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4B80B-9FC2-81F7-C737-AC32B1329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1C9BC-52B8-D4D4-4CBE-7F548EA0E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21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416CA-B75F-0BA5-4F88-27A94E48A490}"/>
              </a:ext>
            </a:extLst>
          </p:cNvPr>
          <p:cNvSpPr txBox="1"/>
          <p:nvPr/>
        </p:nvSpPr>
        <p:spPr>
          <a:xfrm>
            <a:off x="1257300" y="2407920"/>
            <a:ext cx="15773400" cy="443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support for local host websites.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E-Commerce websites are not completely parsed.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integrate AI to get personalized recommendations and can improve the issue understanding.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the website more interactive by having live error corrections and suggestions.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add continuous support for the user with version comparison.</a:t>
            </a:r>
          </a:p>
        </p:txBody>
      </p:sp>
    </p:spTree>
    <p:extLst>
      <p:ext uri="{BB962C8B-B14F-4D97-AF65-F5344CB8AC3E}">
        <p14:creationId xmlns:p14="http://schemas.microsoft.com/office/powerpoint/2010/main" val="2799764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6E0EA-DCEB-F461-7B15-26ACF240E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C0D3CD5B-AFB1-F4E0-C831-B63190714C87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248E1-23B7-1450-883E-CBAB562AA67D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8942C-D36A-F3E2-C648-2D930328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616E6-33F6-BDAD-BD64-36EF9B7C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FAD2E-945D-30FE-CF7D-CB3EBC768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22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720627-6C79-B478-2D3C-5EE09267E5F2}"/>
              </a:ext>
            </a:extLst>
          </p:cNvPr>
          <p:cNvSpPr txBox="1"/>
          <p:nvPr/>
        </p:nvSpPr>
        <p:spPr>
          <a:xfrm>
            <a:off x="1257300" y="2407920"/>
            <a:ext cx="15773400" cy="6651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Van Riet, M., van Deursen, A. and Zaidman, A., 2023. Optimize along the way: An industrial case study on web performance. International Journal of Web Engineering.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Fischer, A., Carlson, E. and Sandberg, H., 2025. Coverage of web accessibility guidelines provided by automated checking tools. Universal Access in the Information Society.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Manca, M.,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Paternò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F. and Santoro, C., 2022. The transparency of automatic web accessibility evaluation tools: design criteria, state of the art, and user perception. ACM Transactions on Accessible Computing.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Namoun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Alshanqiti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and Tellers, J., 2021. A review of automated website usability evaluation tools: research issues and challenges. In Proceedings of HCII.</a:t>
            </a:r>
          </a:p>
        </p:txBody>
      </p:sp>
    </p:spTree>
    <p:extLst>
      <p:ext uri="{BB962C8B-B14F-4D97-AF65-F5344CB8AC3E}">
        <p14:creationId xmlns:p14="http://schemas.microsoft.com/office/powerpoint/2010/main" val="28747242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3A291-965E-23B4-1375-8E0FC9C71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6EBBC6A4-A3ED-0839-B91A-99C4A1B87432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BD8EEC-B4F2-04A8-839A-6DE19DA50351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4614-8F95-8454-4C06-06935FEC2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DE6B-4BF5-33F4-DE8A-89BBDA5A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1C544-4F03-3CA5-7AED-CE64713B8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F4127F-6BA0-5A18-F38E-F2A0FD5E1570}"/>
              </a:ext>
            </a:extLst>
          </p:cNvPr>
          <p:cNvSpPr txBox="1"/>
          <p:nvPr/>
        </p:nvSpPr>
        <p:spPr>
          <a:xfrm>
            <a:off x="1257300" y="2407920"/>
            <a:ext cx="15773400" cy="6651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Heričko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Štrumbelj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and Gregorič, T., 2021. Towards representative web performance measurements with Google Lighthouse. In Proceedings of Web Engineering Conference.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Vepsäläinen, T.,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Raitila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Kaario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2024. Overview of web application performance optimization techniques.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arXiv:2412.07892.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Yang, F., Qian, F. and Sun, Y., 2023. Visual-aware testing and debugging for web performance optimization. In Proceedings of the Web Conference 2023.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Martins, J. and Duarte, C., 2024. Large-scale study of web accessibility metrics. Universal Access in the Information Society, 23(4). </a:t>
            </a:r>
          </a:p>
        </p:txBody>
      </p:sp>
    </p:spTree>
    <p:extLst>
      <p:ext uri="{BB962C8B-B14F-4D97-AF65-F5344CB8AC3E}">
        <p14:creationId xmlns:p14="http://schemas.microsoft.com/office/powerpoint/2010/main" val="1530086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5400-B4FB-9692-93D3-8A64571F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68516B3E-07F5-6DE9-D3D2-B55E748BD3B1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792158-826F-18E8-D1B1-80656103EDA4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25886-3581-DB54-B0C0-5987AF8E7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7CEA2-51C6-ECED-CF53-FBB32E098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8DF41-F23B-B20E-D402-04D9F5F5F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14EE2D-4919-2C25-CBB4-C6210ED332AC}"/>
              </a:ext>
            </a:extLst>
          </p:cNvPr>
          <p:cNvSpPr txBox="1"/>
          <p:nvPr/>
        </p:nvSpPr>
        <p:spPr>
          <a:xfrm>
            <a:off x="1257300" y="2407920"/>
            <a:ext cx="15773400" cy="6651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Abu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Doush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 and Kassem, R., 2025. Evaluating AI-generated web code for accessibility compliance: A metric-driven approach. In Proceedings of the ACM Web Conference.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Vigo, M., Brown, J. and Conway, V., 2013. Benchmarking web accessibility evaluation tools: Measuring the harm of sole reliance on automated tests. In Proceedings of the Web for All Conference.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Burkard, S., Kuber, R. and Shinohara, K., 2021. Monitoring systems for checking websites on accessibility. Frontiers in Computer Science, 3, p.628770.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Buchanan, B., Wang, Y. and Arshad, S., 2017. Analysis of the adoption of security headers in HTTP. IET Information Security, 11(6).</a:t>
            </a:r>
          </a:p>
        </p:txBody>
      </p:sp>
    </p:spTree>
    <p:extLst>
      <p:ext uri="{BB962C8B-B14F-4D97-AF65-F5344CB8AC3E}">
        <p14:creationId xmlns:p14="http://schemas.microsoft.com/office/powerpoint/2010/main" val="23666856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C9BC-E10D-B81E-79F9-2DFD4D0F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3A6F2C36-7749-3664-043A-CBF0ACB51D82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903FE5-F732-253A-29B1-25F44A0E8114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F520A-45D1-9253-D52B-96C38145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1B6E7-C2CC-71D7-1479-8C71DAE14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0B93C-B321-5A56-B8CC-2073BE372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20C23-0B48-C3D3-B533-C0E1CB22EEE5}"/>
              </a:ext>
            </a:extLst>
          </p:cNvPr>
          <p:cNvSpPr txBox="1"/>
          <p:nvPr/>
        </p:nvSpPr>
        <p:spPr>
          <a:xfrm>
            <a:off x="1257300" y="2407920"/>
            <a:ext cx="15773400" cy="5913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Yarphel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and Rani, S., 2025. Comparative performance analysis of web vulnerability scanners. International Journal of Information Security, 4(1).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Pezzuti, A., Demeester, A. 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Buscaldi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2025. Neural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prioritisation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web crawling.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arXiv:2506.16146.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Alim, S., 2025. Preliminary analysis of web accessibility, usability, and security of leading university websites. Journal of Web Research, 12(3). 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Laskar, S., 2025. Continuous accessibility testing with automated screen readers. SARC Journal of Engineering and Computer Science, 85.</a:t>
            </a:r>
          </a:p>
        </p:txBody>
      </p:sp>
    </p:spTree>
    <p:extLst>
      <p:ext uri="{BB962C8B-B14F-4D97-AF65-F5344CB8AC3E}">
        <p14:creationId xmlns:p14="http://schemas.microsoft.com/office/powerpoint/2010/main" val="1497571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504D-9119-0DA4-1380-A938C2731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5">
            <a:extLst>
              <a:ext uri="{FF2B5EF4-FFF2-40B4-BE49-F238E27FC236}">
                <a16:creationId xmlns:a16="http://schemas.microsoft.com/office/drawing/2014/main" id="{422F9025-348D-C204-4071-AE14AAD14CAE}"/>
              </a:ext>
            </a:extLst>
          </p:cNvPr>
          <p:cNvSpPr txBox="1"/>
          <p:nvPr/>
        </p:nvSpPr>
        <p:spPr>
          <a:xfrm>
            <a:off x="381000" y="204786"/>
            <a:ext cx="17272000" cy="124393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 algn="l" defTabSz="6858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US" sz="7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18FE16-945D-B5FC-1BC3-2275FC3C9FCE}"/>
              </a:ext>
            </a:extLst>
          </p:cNvPr>
          <p:cNvSpPr txBox="1"/>
          <p:nvPr/>
        </p:nvSpPr>
        <p:spPr>
          <a:xfrm>
            <a:off x="1257300" y="2324100"/>
            <a:ext cx="1577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41A45-2938-14B3-D730-AEE27589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DCBEC-FE1A-4F50-8B86-AF2B73484213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40626-AEFB-78D5-196D-59466B9B5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A2C56-EB99-2F25-9C2F-7E0D41EB1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6D425B-C7A7-5A89-9058-9998BF28E62D}"/>
              </a:ext>
            </a:extLst>
          </p:cNvPr>
          <p:cNvSpPr txBox="1"/>
          <p:nvPr/>
        </p:nvSpPr>
        <p:spPr>
          <a:xfrm>
            <a:off x="1257300" y="2407920"/>
            <a:ext cx="15773400" cy="2958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Kerschbaumer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S., Snyder, A. and Heidemann, J., 2025. The state of HTTPS adoption on the web. 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MADWeb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2025.</a:t>
            </a:r>
          </a:p>
          <a:p>
            <a:pPr lvl="0">
              <a:lnSpc>
                <a:spcPct val="15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	Król, K. and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Zdonek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2020. Aggregated indices in website quality assessment. Future Internet, 12(4).</a:t>
            </a:r>
          </a:p>
        </p:txBody>
      </p:sp>
    </p:spTree>
    <p:extLst>
      <p:ext uri="{BB962C8B-B14F-4D97-AF65-F5344CB8AC3E}">
        <p14:creationId xmlns:p14="http://schemas.microsoft.com/office/powerpoint/2010/main" val="23138779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762000" y="4229100"/>
            <a:ext cx="16599535" cy="1407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25000"/>
              </a:lnSpc>
              <a:spcBef>
                <a:spcPts val="100"/>
              </a:spcBef>
            </a:pP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1A484-B647-F471-2E04-7A7F66885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F6FEB-12E4-4DDA-8AB0-25E6F56191E1}" type="datetime3">
              <a:rPr lang="en-US" smtClean="0"/>
              <a:t>25 November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6B13EB-2AD5-F743-00D5-C336A1912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&amp; ENGINEERING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EF056-5CAA-0D82-5235-BAA9310D6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27</a:t>
            </a:fld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5729</TotalTime>
  <Words>1766</Words>
  <Application>Microsoft Office PowerPoint</Application>
  <PresentationFormat>Custom</PresentationFormat>
  <Paragraphs>279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Vivekananda College of Engineering &amp; Technology</vt:lpstr>
      <vt:lpstr>Contents</vt:lpstr>
      <vt:lpstr>PowerPoint Presentation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Seminar Presentation</dc:title>
  <dc:creator>Devadatta Bhat</dc:creator>
  <cp:keywords>DAFfHv8tBnY,BAEw4UIMEh0</cp:keywords>
  <cp:lastModifiedBy>Adithya .</cp:lastModifiedBy>
  <cp:revision>259</cp:revision>
  <dcterms:created xsi:type="dcterms:W3CDTF">2023-04-19T04:19:00Z</dcterms:created>
  <dcterms:modified xsi:type="dcterms:W3CDTF">2025-11-25T08:47:34Z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2023-04-05T11:00:00Z</vt:filetime>
  </property>
  <property fmtid="{D5CDD505-2E9C-101B-9397-08002B2CF9AE}" pid="3" name="Creator">
    <vt:lpwstr>Canva</vt:lpwstr>
  </property>
  <property fmtid="{D5CDD505-2E9C-101B-9397-08002B2CF9AE}" pid="4" name="LastSaved">
    <vt:filetime>2023-04-05T11:00:00Z</vt:filetime>
  </property>
  <property fmtid="{D5CDD505-2E9C-101B-9397-08002B2CF9AE}" pid="5" name="ContentTypeId">
    <vt:lpwstr>0x0101008301C2465860E646B06EEF43E40A17DD</vt:lpwstr>
  </property>
  <property fmtid="{D5CDD505-2E9C-101B-9397-08002B2CF9AE}" pid="6" name="ICV">
    <vt:lpwstr>51D16898E5F34F01B2EC78FD561D3C06</vt:lpwstr>
  </property>
  <property fmtid="{D5CDD505-2E9C-101B-9397-08002B2CF9AE}" pid="7" name="KSOProductBuildVer">
    <vt:lpwstr>1033-11.2.0.11225</vt:lpwstr>
  </property>
</Properties>
</file>