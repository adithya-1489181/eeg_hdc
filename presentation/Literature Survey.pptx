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98" r:id="rId5"/>
    <p:sldId id="259" r:id="rId6"/>
    <p:sldId id="260" r:id="rId7"/>
    <p:sldId id="334" r:id="rId8"/>
    <p:sldId id="258" r:id="rId9"/>
    <p:sldId id="335" r:id="rId10"/>
    <p:sldId id="336" r:id="rId11"/>
    <p:sldId id="261" r:id="rId12"/>
    <p:sldId id="262" r:id="rId13"/>
    <p:sldId id="263" r:id="rId14"/>
    <p:sldId id="264" r:id="rId15"/>
    <p:sldId id="265" r:id="rId16"/>
    <p:sldId id="331" r:id="rId17"/>
    <p:sldId id="332" r:id="rId18"/>
    <p:sldId id="273" r:id="rId19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58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>
      <p:cViewPr varScale="1">
        <p:scale>
          <a:sx n="54" d="100"/>
          <a:sy n="54" d="100"/>
        </p:scale>
        <p:origin x="710" y="72"/>
      </p:cViewPr>
      <p:guideLst>
        <p:guide orient="horz" pos="2858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D96E9-8FC2-4761-8B0F-732A022FE3D0}" type="datetimeFigureOut">
              <a:rPr lang="en-IN" smtClean="0"/>
              <a:pPr/>
              <a:t>10-08-2026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B559A-E338-4F75-A573-9861E0BAC220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BDC1C6"/>
                </a:solidFill>
                <a:effectLst/>
                <a:highlight>
                  <a:srgbClr val="1F1F1F"/>
                </a:highlight>
                <a:latin typeface="arial" panose="020B0604020202020204" pitchFamily="34" charset="0"/>
              </a:rPr>
              <a:t>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559A-E338-4F75-A573-9861E0BAC220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492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1686C-7A71-3CEC-2C10-2FA499D70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BF7C2-FCD8-0A67-B8A5-B547830BD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762C0-E27A-1E9B-0EBC-2FF1DCE99D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BDC1C6"/>
                </a:solidFill>
                <a:effectLst/>
                <a:highlight>
                  <a:srgbClr val="1F1F1F"/>
                </a:highlight>
                <a:latin typeface="arial" panose="020B0604020202020204" pitchFamily="34" charset="0"/>
              </a:rPr>
              <a:t> 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95A32-7A02-3549-F799-7F83289EB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559A-E338-4F75-A573-9861E0BAC220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180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6489-D712-42FD-A5CE-C6172C8BA296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002D-46B2-464C-84A5-D232A4E74A4F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8F8AF-8985-4F65-B349-6C141653713C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9EED-9FD4-4385-9E08-A4A9DD895483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80E91-64E4-45E6-9423-9C321850AA40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17C59-F215-49B6-BB5E-D29A2E5E5132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EA1C9-1125-4D1C-AFA8-2DD04CC465F7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C455-CAEA-4C73-997E-A67663698C56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1E071-8CD4-432A-9114-2008217081A4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194F1-0AB8-4BE9-A439-7E46A5759AB1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EAA3-BB41-4C03-BC4D-15B9C422D377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92398-1DF7-4A72-9249-49FFF57890A2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225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536B-0AF0-43FC-9687-A3A6CCFB2121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225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EF65B-1CD3-4C27-85C4-98B625C36928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82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E16DC-6745-42F5-9E6E-F85302676B44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040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6EC28-665F-4900-92F2-570BE0AB62F1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401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07A8-E8D3-43FC-A598-1EA1EA9E84C3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877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297E-87B1-45DD-85FA-F98211548008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02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E95E9-EC26-4467-80D4-1B9C86B4C053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934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3728-DFB1-4D64-9358-D87D7108B63C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8583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88F4A-D1DD-4E46-B569-6CCF79D28816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546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733EF-CC8A-4780-B318-8862E19F0355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477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69BA7-71E3-4D1F-8F91-3683761D03CA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AI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55EB5-80B1-423B-B8A7-6502C7E46C6A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AI &amp; ML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697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896" y="311608"/>
            <a:ext cx="3009122" cy="1983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6374" y="64610"/>
            <a:ext cx="2428874" cy="2419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17076" y="184638"/>
            <a:ext cx="11316970" cy="641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50" b="1" spc="-7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Vivekananda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-6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9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50" b="1" spc="-10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-6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2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-5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4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>
          <a:xfrm>
            <a:off x="304800" y="9562895"/>
            <a:ext cx="4114800" cy="547688"/>
          </a:xfrm>
        </p:spPr>
        <p:txBody>
          <a:bodyPr/>
          <a:lstStyle/>
          <a:p>
            <a:fld id="{95CC48DC-4FB6-40C3-8F10-00DED7216493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August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8152" y="817764"/>
            <a:ext cx="11235055" cy="13354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920115" marR="912495" algn="ctr">
              <a:lnSpc>
                <a:spcPts val="3300"/>
              </a:lnSpc>
              <a:spcBef>
                <a:spcPts val="490"/>
              </a:spcBef>
            </a:pPr>
            <a:r>
              <a:rPr sz="3000" spc="3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sz="3000" spc="-7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4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30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8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0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3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Vivekananda</a:t>
            </a:r>
            <a:r>
              <a:rPr sz="3000" spc="-7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20" dirty="0" err="1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Vidyavardhaka</a:t>
            </a:r>
            <a:r>
              <a:rPr sz="30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2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Sangha</a:t>
            </a:r>
            <a:r>
              <a:rPr lang="en-IN" sz="3000" spc="-12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30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Puttur®] </a:t>
            </a:r>
            <a:r>
              <a:rPr sz="3000" spc="-819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5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Affiliated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Visvesvaraya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1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en-IN" sz="30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Belagavi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315"/>
              </a:lnSpc>
            </a:pPr>
            <a:r>
              <a:rPr sz="30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4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8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Recognised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Govt</a:t>
            </a:r>
            <a:r>
              <a:rPr sz="30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8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0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1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Karnataka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6683" y="3437487"/>
            <a:ext cx="12954635" cy="5080"/>
          </a:xfrm>
          <a:custGeom>
            <a:avLst/>
            <a:gdLst/>
            <a:ahLst/>
            <a:cxnLst/>
            <a:rect l="l" t="t" r="r" b="b"/>
            <a:pathLst>
              <a:path w="12954635" h="5079">
                <a:moveTo>
                  <a:pt x="0" y="0"/>
                </a:moveTo>
                <a:lnTo>
                  <a:pt x="12954080" y="4756"/>
                </a:lnTo>
              </a:path>
            </a:pathLst>
          </a:custGeom>
          <a:ln w="9524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81200" y="3739664"/>
            <a:ext cx="15049500" cy="1808187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065" marR="5080" algn="ctr">
              <a:spcBef>
                <a:spcPts val="1140"/>
              </a:spcBef>
            </a:pP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“EEG-HDC” – EEG Based Hierarchical Detection &amp; Classification of Seizures. </a:t>
            </a:r>
            <a:endParaRPr 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3200" y="6286500"/>
            <a:ext cx="12954635" cy="0"/>
          </a:xfrm>
          <a:custGeom>
            <a:avLst/>
            <a:gdLst/>
            <a:ahLst/>
            <a:cxnLst/>
            <a:rect l="l" t="t" r="r" b="b"/>
            <a:pathLst>
              <a:path w="12954635">
                <a:moveTo>
                  <a:pt x="0" y="0"/>
                </a:moveTo>
                <a:lnTo>
                  <a:pt x="12954083" y="0"/>
                </a:lnTo>
              </a:path>
            </a:pathLst>
          </a:custGeom>
          <a:ln w="9524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7800" y="2781300"/>
            <a:ext cx="777240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US" sz="3600" b="1" spc="-4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</a:t>
            </a:r>
            <a:r>
              <a:rPr lang="en-US" sz="3600" b="1" spc="-1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3600" b="1" spc="-8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3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r>
              <a:rPr sz="3600" b="1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18580" y="9240944"/>
            <a:ext cx="11450839" cy="5074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22115" marR="5080" indent="-4210050">
              <a:lnSpc>
                <a:spcPct val="117000"/>
              </a:lnSpc>
              <a:spcBef>
                <a:spcPts val="95"/>
              </a:spcBef>
            </a:pPr>
            <a:r>
              <a:rPr sz="3000" b="1" spc="-1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z="3000" b="1" spc="-7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3000" b="1" spc="-1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&amp; ENGINEERING </a:t>
            </a:r>
            <a:r>
              <a:rPr sz="30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en-GB" sz="30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30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r>
              <a:rPr lang="en-GB" sz="30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41289" y="6602778"/>
            <a:ext cx="5719228" cy="2302553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25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5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5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515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Aashitha Prabhu B (4VP23CS001) Abhayraj Bhat N (4VP23CS002) Adithya (4VP23CS004) </a:t>
            </a:r>
          </a:p>
          <a:p>
            <a:pPr algn="ctr">
              <a:spcBef>
                <a:spcPts val="515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Ashwini (4VP23CS017)</a:t>
            </a:r>
            <a:endParaRPr lang="en-US" sz="2800" b="1" spc="-17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62200" y="6694113"/>
            <a:ext cx="5486400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itchFamily="18" charset="0"/>
              </a:rPr>
              <a:t>Guided by</a:t>
            </a:r>
          </a:p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Pradeep Kumar K G</a:t>
            </a:r>
          </a:p>
          <a:p>
            <a:pPr algn="ctr"/>
            <a:r>
              <a:rPr lang="en-IN" sz="28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HoD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CSE</a:t>
            </a:r>
            <a:endParaRPr lang="en-IN" sz="2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6E2D-4D84-5024-865F-808CFE68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715500"/>
            <a:ext cx="6172200" cy="649323"/>
          </a:xfrm>
        </p:spPr>
        <p:txBody>
          <a:bodyPr/>
          <a:lstStyle/>
          <a:p>
            <a:r>
              <a:rPr lang="en-IN" dirty="0"/>
              <a:t>Dept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48200" y="-17505"/>
            <a:ext cx="78994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55A0-882F-4DF6-AC3D-AF8B081A5704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August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3000" y="1790700"/>
            <a:ext cx="15429230" cy="5730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591310" y="47847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>
          <a:xfrm>
            <a:off x="2057400" y="803406"/>
            <a:ext cx="13373099" cy="1295400"/>
          </a:xfrm>
        </p:spPr>
        <p:txBody>
          <a:bodyPr>
            <a:normAutofit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8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A0061-5C20-4BFA-8D13-4B871A15E322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August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1E02C-1914-30FE-57D8-DE0A13822058}"/>
              </a:ext>
            </a:extLst>
          </p:cNvPr>
          <p:cNvSpPr txBox="1"/>
          <p:nvPr/>
        </p:nvSpPr>
        <p:spPr>
          <a:xfrm>
            <a:off x="2057400" y="2705100"/>
            <a:ext cx="14249399" cy="497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seizure is a sudden abnormal electrical activity in the brain, analyzed using EEG signals that record multi-channel brain activity. This project proposes a hierarchical deep learning framework that first detects seizure segments and then classifies them into Focal, Focal to Bilateral Tonic-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Clonic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Generalized Tonic-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Clonic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types using transfer learning to improve classification.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95947" y="34946"/>
            <a:ext cx="161290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BC7E-AFED-4CBD-97BE-C503EB45ECBF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August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A726F0-C610-946E-56A2-031F3392F936}"/>
              </a:ext>
            </a:extLst>
          </p:cNvPr>
          <p:cNvSpPr txBox="1"/>
          <p:nvPr/>
        </p:nvSpPr>
        <p:spPr>
          <a:xfrm>
            <a:off x="1257300" y="2324100"/>
            <a:ext cx="15773400" cy="165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accurately classify seizure events into their respective subtypes from EEG signals for clinical applications using advanced deep learning methodologies.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/>
          <p:cNvSpPr txBox="1"/>
          <p:nvPr/>
        </p:nvSpPr>
        <p:spPr>
          <a:xfrm>
            <a:off x="508000" y="345984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7A7E6-0BB5-4562-B4D8-B2D95118667A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August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5053E2-D5C2-D123-A9D8-BE15FCE794E7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888C1-7810-2739-5CAC-34E1B6D1B1A3}"/>
              </a:ext>
            </a:extLst>
          </p:cNvPr>
          <p:cNvSpPr txBox="1"/>
          <p:nvPr/>
        </p:nvSpPr>
        <p:spPr>
          <a:xfrm>
            <a:off x="1257301" y="2324100"/>
            <a:ext cx="15773399" cy="497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acquire and preprocess EEG datasets through signal cleaning, filtering,      normalization, and segmentation.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hierarchical deep learning framework for seizure detection and subsequent seizure subtype classification using transfer learning.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hybrid model and evaluate an automated multi-class seizure subtype classification system using subject-wise validation metrics.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1ADE3A-A6E4-A7EF-C734-C8F656BDF3F6}"/>
              </a:ext>
            </a:extLst>
          </p:cNvPr>
          <p:cNvGraphicFramePr>
            <a:graphicFrameLocks noGrp="1"/>
          </p:cNvGraphicFramePr>
          <p:nvPr/>
        </p:nvGraphicFramePr>
        <p:xfrm>
          <a:off x="1225486" y="0"/>
          <a:ext cx="15700343" cy="1032895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92471">
                  <a:extLst>
                    <a:ext uri="{9D8B030D-6E8A-4147-A177-3AD203B41FA5}">
                      <a16:colId xmlns:a16="http://schemas.microsoft.com/office/drawing/2014/main" val="651827391"/>
                    </a:ext>
                  </a:extLst>
                </a:gridCol>
                <a:gridCol w="4654031">
                  <a:extLst>
                    <a:ext uri="{9D8B030D-6E8A-4147-A177-3AD203B41FA5}">
                      <a16:colId xmlns:a16="http://schemas.microsoft.com/office/drawing/2014/main" val="1924237251"/>
                    </a:ext>
                  </a:extLst>
                </a:gridCol>
                <a:gridCol w="5102610">
                  <a:extLst>
                    <a:ext uri="{9D8B030D-6E8A-4147-A177-3AD203B41FA5}">
                      <a16:colId xmlns:a16="http://schemas.microsoft.com/office/drawing/2014/main" val="2840725733"/>
                    </a:ext>
                  </a:extLst>
                </a:gridCol>
                <a:gridCol w="4551231">
                  <a:extLst>
                    <a:ext uri="{9D8B030D-6E8A-4147-A177-3AD203B41FA5}">
                      <a16:colId xmlns:a16="http://schemas.microsoft.com/office/drawing/2014/main" val="2793465331"/>
                    </a:ext>
                  </a:extLst>
                </a:gridCol>
              </a:tblGrid>
              <a:tr h="42872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Sl. No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Reference Paper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Advantages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Limitations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78363"/>
                  </a:ext>
                </a:extLst>
              </a:tr>
              <a:tr h="279129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1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N. </a:t>
                      </a:r>
                      <a:r>
                        <a:rPr lang="en-IN" sz="2100" dirty="0" err="1">
                          <a:effectLst/>
                        </a:rPr>
                        <a:t>Ilakiyaselvan</a:t>
                      </a:r>
                      <a:r>
                        <a:rPr lang="en-IN" sz="2100" dirty="0">
                          <a:effectLst/>
                        </a:rPr>
                        <a:t>, A. </a:t>
                      </a:r>
                      <a:r>
                        <a:rPr lang="en-IN" sz="2100" dirty="0" err="1">
                          <a:effectLst/>
                        </a:rPr>
                        <a:t>Nayeemulla</a:t>
                      </a:r>
                      <a:r>
                        <a:rPr lang="en-IN" sz="2100" dirty="0">
                          <a:effectLst/>
                        </a:rPr>
                        <a:t> Khan, and A. Shahina - Deep learning approach to detect seizure using reconstructed phase space images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Effectively captures nonlinear EEG dynamics and achieves high accuracy (~98.5%). The use of RPS with CNN improves representation of complex patterns.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Requires conversion of signals into images, increasing preprocessing steps. This adds computational overhead and complexity to the pipeline.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553568"/>
                  </a:ext>
                </a:extLst>
              </a:tr>
              <a:tr h="37891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S. Srinivasan, </a:t>
                      </a:r>
                      <a:r>
                        <a:rPr lang="en-IN" sz="2100" dirty="0" err="1">
                          <a:effectLst/>
                        </a:rPr>
                        <a:t>Sundaranarayana</a:t>
                      </a:r>
                      <a:r>
                        <a:rPr lang="en-IN" sz="2100" dirty="0">
                          <a:effectLst/>
                        </a:rPr>
                        <a:t> </a:t>
                      </a:r>
                      <a:r>
                        <a:rPr lang="en-IN" sz="2100" dirty="0" err="1">
                          <a:effectLst/>
                        </a:rPr>
                        <a:t>Dayalane</a:t>
                      </a:r>
                      <a:r>
                        <a:rPr lang="en-IN" sz="2100" dirty="0">
                          <a:effectLst/>
                        </a:rPr>
                        <a:t>, Sandeep Kumar Mathivanan, Hariharan Rajadurai, Prabhu Jayagopal, and </a:t>
                      </a:r>
                      <a:r>
                        <a:rPr lang="en-IN" sz="2100" dirty="0" err="1">
                          <a:effectLst/>
                        </a:rPr>
                        <a:t>Gemmachis</a:t>
                      </a:r>
                      <a:r>
                        <a:rPr lang="en-IN" sz="2100" dirty="0">
                          <a:effectLst/>
                        </a:rPr>
                        <a:t> </a:t>
                      </a:r>
                      <a:r>
                        <a:rPr lang="en-IN" sz="2100" dirty="0" err="1">
                          <a:effectLst/>
                        </a:rPr>
                        <a:t>Teshite</a:t>
                      </a:r>
                      <a:r>
                        <a:rPr lang="en-IN" sz="2100" dirty="0">
                          <a:effectLst/>
                        </a:rPr>
                        <a:t> Dalu - Detection and classification of adult epilepsy using hybrid deep learning approach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3D-DCAE + Bi-LSTM achieved very high performance (≈99.08% accuracy, 99.16% F1) on CHB-MIT paediatric EEG. The end-to-end supervised autoencoder is trained once, reducing parameters via convolutional layers and compressing EEG into a low-dimensional latent space for a compact, high-precision classifier.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Evaluated only on the CHB-MIT dataset (23 paediatric patients), so its performance on adult or larger cohorts is untested. It performs only binary (ictal vs. interictal) classification, ignoring multiple seizure types and pre-ictal states, which may limit clinical applicability.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495397"/>
                  </a:ext>
                </a:extLst>
              </a:tr>
              <a:tr h="331973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Hezam Albaqami, G. M. Hassan, and A. Datta - Wavelet-Based Multi-Class Seizure Type Classification System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Using TUH EEG Seizure Corpus (TUSZ v1.5.2) (3050 seizures, 300+ patients), the method classifies seven seizure types with ~96.0% accuracy and 99.1% weighted F1 (seizure-wise). DTCWT features with </a:t>
                      </a:r>
                      <a:r>
                        <a:rPr lang="en-IN" sz="2100" dirty="0" err="1">
                          <a:effectLst/>
                        </a:rPr>
                        <a:t>LightGBM</a:t>
                      </a:r>
                      <a:r>
                        <a:rPr lang="en-IN" sz="2100" dirty="0">
                          <a:effectLst/>
                        </a:rPr>
                        <a:t> set a new benchmark, outperforming prior methods.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Patient-wise evaluation drops to 74.7% F1, indicating poor cross-subject generalization. The method uses fixed wavelet features with </a:t>
                      </a:r>
                      <a:r>
                        <a:rPr lang="en-IN" sz="2100" dirty="0" err="1">
                          <a:effectLst/>
                        </a:rPr>
                        <a:t>LightGBM</a:t>
                      </a:r>
                      <a:r>
                        <a:rPr lang="en-IN" sz="2100" dirty="0">
                          <a:effectLst/>
                        </a:rPr>
                        <a:t>, lacks end-to-end learning, and is not validated on independent or noisy datasets.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3284" marR="1032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16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693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29CA77-0030-3C0B-0DB9-D9F194AEEA55}"/>
              </a:ext>
            </a:extLst>
          </p:cNvPr>
          <p:cNvGraphicFramePr>
            <a:graphicFrameLocks noGrp="1"/>
          </p:cNvGraphicFramePr>
          <p:nvPr/>
        </p:nvGraphicFramePr>
        <p:xfrm>
          <a:off x="1126503" y="-76963"/>
          <a:ext cx="16034995" cy="10441019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919301">
                  <a:extLst>
                    <a:ext uri="{9D8B030D-6E8A-4147-A177-3AD203B41FA5}">
                      <a16:colId xmlns:a16="http://schemas.microsoft.com/office/drawing/2014/main" val="1546369819"/>
                    </a:ext>
                  </a:extLst>
                </a:gridCol>
                <a:gridCol w="5217552">
                  <a:extLst>
                    <a:ext uri="{9D8B030D-6E8A-4147-A177-3AD203B41FA5}">
                      <a16:colId xmlns:a16="http://schemas.microsoft.com/office/drawing/2014/main" val="3742099705"/>
                    </a:ext>
                  </a:extLst>
                </a:gridCol>
                <a:gridCol w="5217737">
                  <a:extLst>
                    <a:ext uri="{9D8B030D-6E8A-4147-A177-3AD203B41FA5}">
                      <a16:colId xmlns:a16="http://schemas.microsoft.com/office/drawing/2014/main" val="1073700293"/>
                    </a:ext>
                  </a:extLst>
                </a:gridCol>
                <a:gridCol w="4680405">
                  <a:extLst>
                    <a:ext uri="{9D8B030D-6E8A-4147-A177-3AD203B41FA5}">
                      <a16:colId xmlns:a16="http://schemas.microsoft.com/office/drawing/2014/main" val="3777468159"/>
                    </a:ext>
                  </a:extLst>
                </a:gridCol>
              </a:tblGrid>
              <a:tr h="17670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b="0" dirty="0">
                          <a:effectLst/>
                        </a:rPr>
                        <a:t>4</a:t>
                      </a:r>
                      <a:endParaRPr lang="en-IN" sz="21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b="0" dirty="0">
                          <a:effectLst/>
                        </a:rPr>
                        <a:t>A. </a:t>
                      </a:r>
                      <a:r>
                        <a:rPr lang="en-IN" sz="2100" b="0" dirty="0" err="1">
                          <a:effectLst/>
                        </a:rPr>
                        <a:t>Abdelhameed</a:t>
                      </a:r>
                      <a:r>
                        <a:rPr lang="en-IN" sz="2100" b="0" dirty="0">
                          <a:effectLst/>
                        </a:rPr>
                        <a:t> and M. Bayoumi - A Deep Learning Approach for Automatic Seizure Detection in Children With Epilepsy</a:t>
                      </a:r>
                      <a:endParaRPr lang="en-IN" sz="21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b="0" dirty="0">
                          <a:effectLst/>
                        </a:rPr>
                        <a:t>Achieves high accuracy (~98.8%) with automatic feature learning. Requires minimal preprocessing using deep learning models.</a:t>
                      </a:r>
                      <a:endParaRPr lang="en-IN" sz="21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b="0" dirty="0">
                          <a:effectLst/>
                        </a:rPr>
                        <a:t>Performance is dataset-specific and may not generalize well. High computational cost limits practical deployment.</a:t>
                      </a:r>
                      <a:endParaRPr lang="en-IN" sz="2100" b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73710"/>
                  </a:ext>
                </a:extLst>
              </a:tr>
              <a:tr h="2829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5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M. </a:t>
                      </a:r>
                      <a:r>
                        <a:rPr lang="en-IN" sz="2100" dirty="0" err="1">
                          <a:effectLst/>
                        </a:rPr>
                        <a:t>Guendelman</a:t>
                      </a:r>
                      <a:r>
                        <a:rPr lang="en-IN" sz="2100" dirty="0">
                          <a:effectLst/>
                        </a:rPr>
                        <a:t>, R. </a:t>
                      </a:r>
                      <a:r>
                        <a:rPr lang="en-IN" sz="2100" dirty="0" err="1">
                          <a:effectLst/>
                        </a:rPr>
                        <a:t>Vekslar</a:t>
                      </a:r>
                      <a:r>
                        <a:rPr lang="en-IN" sz="2100" dirty="0">
                          <a:effectLst/>
                        </a:rPr>
                        <a:t>, and O. Shriki - A New Perspective in Epileptic Seizure Classification: Applying the Taxonomy of Seizure Dynamo types to Non-invasive EEG and Examining Dynamical Changes across Sleep Stages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Provides interpretable seizure dynamics and links them with sleep stages. Offers a scalable and explainable </a:t>
                      </a:r>
                      <a:r>
                        <a:rPr lang="en-IN" sz="2100" dirty="0" err="1">
                          <a:effectLst/>
                        </a:rPr>
                        <a:t>modeling</a:t>
                      </a:r>
                      <a:r>
                        <a:rPr lang="en-IN" sz="2100" dirty="0">
                          <a:effectLst/>
                        </a:rPr>
                        <a:t> approach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Depends on manual </a:t>
                      </a:r>
                      <a:r>
                        <a:rPr lang="en-IN" sz="2100" dirty="0" err="1">
                          <a:effectLst/>
                        </a:rPr>
                        <a:t>labeling</a:t>
                      </a:r>
                      <a:r>
                        <a:rPr lang="en-IN" sz="2100" dirty="0">
                          <a:effectLst/>
                        </a:rPr>
                        <a:t> which increases effort. Performance is sensitive to noise in EEG signals.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681452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6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M. K. Siddiqui, R. Morales-Menendez, X. Huang, and N. Hussain - A review of epileptic seizure detection using machine learning classifiers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Gives a comprehensive comparison of classifiers and identifies strong models. Helps understand effectiveness of traditional ML techniques.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Lacks experimental validation to support conclusions. Limited focus on deep learning approaches.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058147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7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Y. Yuan et al. - A Transformer‐Based Framework With Data Augmentation for Robust Seizure Detection Across Invasive and Non-invasive Neural Recordings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Provides high generalization and eliminates need for manual feature extraction. Uses attention mechanisms effectively with augmented data.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Sensitive to noise in EEG signals. High computational cost makes it resource intensive.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742411"/>
                  </a:ext>
                </a:extLst>
              </a:tr>
              <a:tr h="210703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8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P. A. Akor, G. Enemali, U. Muhammad, R. R. Singh, and H. Larijani - An Attention-Residual Convolutional Network for Real-Time Seizure Classification on Edge Devices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Achieves very high accuracy and supports real-time edge deployment. Combines attention and residual learning for efficient performance.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Relies on handcrafted features which limits automation. Feature dependency may affect scalability.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955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80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37639B-F502-81FD-3F08-8FF591537F38}"/>
              </a:ext>
            </a:extLst>
          </p:cNvPr>
          <p:cNvGraphicFramePr>
            <a:graphicFrameLocks noGrp="1"/>
          </p:cNvGraphicFramePr>
          <p:nvPr/>
        </p:nvGraphicFramePr>
        <p:xfrm>
          <a:off x="1484721" y="153601"/>
          <a:ext cx="15115886" cy="9833295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919115">
                  <a:extLst>
                    <a:ext uri="{9D8B030D-6E8A-4147-A177-3AD203B41FA5}">
                      <a16:colId xmlns:a16="http://schemas.microsoft.com/office/drawing/2014/main" val="2913860750"/>
                    </a:ext>
                  </a:extLst>
                </a:gridCol>
                <a:gridCol w="5019773">
                  <a:extLst>
                    <a:ext uri="{9D8B030D-6E8A-4147-A177-3AD203B41FA5}">
                      <a16:colId xmlns:a16="http://schemas.microsoft.com/office/drawing/2014/main" val="2873695081"/>
                    </a:ext>
                  </a:extLst>
                </a:gridCol>
                <a:gridCol w="4553147">
                  <a:extLst>
                    <a:ext uri="{9D8B030D-6E8A-4147-A177-3AD203B41FA5}">
                      <a16:colId xmlns:a16="http://schemas.microsoft.com/office/drawing/2014/main" val="1812397582"/>
                    </a:ext>
                  </a:extLst>
                </a:gridCol>
                <a:gridCol w="4623851">
                  <a:extLst>
                    <a:ext uri="{9D8B030D-6E8A-4147-A177-3AD203B41FA5}">
                      <a16:colId xmlns:a16="http://schemas.microsoft.com/office/drawing/2014/main" val="4197723038"/>
                    </a:ext>
                  </a:extLst>
                </a:gridCol>
              </a:tblGrid>
              <a:tr h="23506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+mn-lt"/>
                        </a:rPr>
                        <a:t>10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A. Ulate-Campos, F. Coughlin, M. Gaínza-Lein, I. S. Fernández, P. L. Pearl, and T. Loddenkemper - Automated seizure detection systems and their effectiveness for each type of seizure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Offers practical insights using multi-sensor systems like EEG and ECG. Helps in selecting suitable devices for detection.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+mn-lt"/>
                        </a:rPr>
                        <a:t>Does not provide a unified detection framework. Integration across systems remains unclear.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extLst>
                  <a:ext uri="{0D108BD9-81ED-4DB2-BD59-A6C34878D82A}">
                    <a16:rowId xmlns:a16="http://schemas.microsoft.com/office/drawing/2014/main" val="312081524"/>
                  </a:ext>
                </a:extLst>
              </a:tr>
              <a:tr h="139055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11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U. R. Acharya, Y. Hagiwara, and H. Adeli - Automated seizure prediction	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Covers advanced prediction techniques using ML models. Explores feature engineering for improved forecasting.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+mn-lt"/>
                        </a:rPr>
                        <a:t>Reliability is lower compared to detection systems. Prediction accuracy is still a major challenge.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extLst>
                  <a:ext uri="{0D108BD9-81ED-4DB2-BD59-A6C34878D82A}">
                    <a16:rowId xmlns:a16="http://schemas.microsoft.com/office/drawing/2014/main" val="2712003409"/>
                  </a:ext>
                </a:extLst>
              </a:tr>
              <a:tr h="18706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12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X. Wei, L. Zhou, Z. Chen, L. Zhang, and Y. Zhou  - Automatic seizure detection using three-dimensional CNN based on multi-channel EEG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Captures spatial and temporal EEG features effectively. Improves detection using multi-channel modeling.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+mn-lt"/>
                        </a:rPr>
                        <a:t>Requires complex data representation and processing. Increases computational burden significantly.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extLst>
                  <a:ext uri="{0D108BD9-81ED-4DB2-BD59-A6C34878D82A}">
                    <a16:rowId xmlns:a16="http://schemas.microsoft.com/office/drawing/2014/main" val="1889760409"/>
                  </a:ext>
                </a:extLst>
              </a:tr>
              <a:tr h="235067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13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R. San-Segundo, M. Gil-Martín, L. F. D’Haro-Enríquez, and J. M. Pardo - Classification of epileptic EEG recordings using signal transforms and convolutional neural networks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Achieves very high accuracy (~99.5%) using hybrid techniques. Combines signal transforms with deep learning effectively.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+mn-lt"/>
                        </a:rPr>
                        <a:t>Strong dependence on preprocessing techniques. Performance varies based on transform quality.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extLst>
                  <a:ext uri="{0D108BD9-81ED-4DB2-BD59-A6C34878D82A}">
                    <a16:rowId xmlns:a16="http://schemas.microsoft.com/office/drawing/2014/main" val="3733505504"/>
                  </a:ext>
                </a:extLst>
              </a:tr>
              <a:tr h="18706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14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Y. Wang, Y. Shi, Z. He, Z. Chen, and Y. Zhou - Combining temporal and spatial attention for seizure prediction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  <a:latin typeface="+mn-lt"/>
                        </a:rPr>
                        <a:t>Captures both spatial and temporal dependencies in EEG data. Achieves high accuracy (98.25%) with very low false positives.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  <a:latin typeface="+mn-lt"/>
                        </a:rPr>
                        <a:t>Model complexity is high due to combined architectures. Requires structured multi-channel EEG data.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6248" marR="76248" marT="0" marB="0"/>
                </a:tc>
                <a:extLst>
                  <a:ext uri="{0D108BD9-81ED-4DB2-BD59-A6C34878D82A}">
                    <a16:rowId xmlns:a16="http://schemas.microsoft.com/office/drawing/2014/main" val="223680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6126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CC03ED9-2537-1182-5E26-AA25E53C2930}"/>
              </a:ext>
            </a:extLst>
          </p:cNvPr>
          <p:cNvGraphicFramePr>
            <a:graphicFrameLocks noGrp="1"/>
          </p:cNvGraphicFramePr>
          <p:nvPr/>
        </p:nvGraphicFramePr>
        <p:xfrm>
          <a:off x="1480009" y="33714"/>
          <a:ext cx="15327984" cy="10253472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947394">
                  <a:extLst>
                    <a:ext uri="{9D8B030D-6E8A-4147-A177-3AD203B41FA5}">
                      <a16:colId xmlns:a16="http://schemas.microsoft.com/office/drawing/2014/main" val="3861301479"/>
                    </a:ext>
                  </a:extLst>
                </a:gridCol>
                <a:gridCol w="5161175">
                  <a:extLst>
                    <a:ext uri="{9D8B030D-6E8A-4147-A177-3AD203B41FA5}">
                      <a16:colId xmlns:a16="http://schemas.microsoft.com/office/drawing/2014/main" val="127158098"/>
                    </a:ext>
                  </a:extLst>
                </a:gridCol>
                <a:gridCol w="4666268">
                  <a:extLst>
                    <a:ext uri="{9D8B030D-6E8A-4147-A177-3AD203B41FA5}">
                      <a16:colId xmlns:a16="http://schemas.microsoft.com/office/drawing/2014/main" val="2549330279"/>
                    </a:ext>
                  </a:extLst>
                </a:gridCol>
                <a:gridCol w="4553147">
                  <a:extLst>
                    <a:ext uri="{9D8B030D-6E8A-4147-A177-3AD203B41FA5}">
                      <a16:colId xmlns:a16="http://schemas.microsoft.com/office/drawing/2014/main" val="2105090220"/>
                    </a:ext>
                  </a:extLst>
                </a:gridCol>
              </a:tblGrid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15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L. Bai, G. Litscher, and X. Li - Epileptic Seizure Detection Using Machine Learning: A Systematic Review and Meta-Analysis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Improves performance through model fusion techniques. Achieves good accuracy (~96.17%).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Ensemble increases model complexity. Generalization analysis is limited.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extLst>
                  <a:ext uri="{0D108BD9-81ED-4DB2-BD59-A6C34878D82A}">
                    <a16:rowId xmlns:a16="http://schemas.microsoft.com/office/drawing/2014/main" val="593183952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16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I. Jemal, L. Abou-Abbas, Khadidja Henni, Amar </a:t>
                      </a:r>
                      <a:r>
                        <a:rPr lang="en-IN" sz="2100" dirty="0" err="1">
                          <a:effectLst/>
                        </a:rPr>
                        <a:t>Mitiche</a:t>
                      </a:r>
                      <a:r>
                        <a:rPr lang="en-IN" sz="2100" dirty="0">
                          <a:effectLst/>
                        </a:rPr>
                        <a:t>, and Neila </a:t>
                      </a:r>
                      <a:r>
                        <a:rPr lang="en-IN" sz="2100" dirty="0" err="1">
                          <a:effectLst/>
                        </a:rPr>
                        <a:t>Mezghani</a:t>
                      </a:r>
                      <a:r>
                        <a:rPr lang="en-IN" sz="2100" dirty="0">
                          <a:effectLst/>
                        </a:rPr>
                        <a:t> - Domain adaptation for EEG-based, cross-subject epileptic seizure prediction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Improves generalization across different patients. Achieves ~10% accuracy improvement.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Still affected by domain shift issues. Requires large multi-patient datasets.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extLst>
                  <a:ext uri="{0D108BD9-81ED-4DB2-BD59-A6C34878D82A}">
                    <a16:rowId xmlns:a16="http://schemas.microsoft.com/office/drawing/2014/main" val="4090872616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17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B. Priya </a:t>
                      </a:r>
                      <a:r>
                        <a:rPr lang="en-IN" sz="2100" dirty="0" err="1">
                          <a:effectLst/>
                        </a:rPr>
                        <a:t>Prathaban</a:t>
                      </a:r>
                      <a:r>
                        <a:rPr lang="en-IN" sz="2100" dirty="0">
                          <a:effectLst/>
                        </a:rPr>
                        <a:t> and R. Balasubramanian - Dynamic learning framework for epileptic seizure prediction using sparsity based EEG Reconstruction with Optimized CNN classifier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Provides high performance (~98% accuracy) and early prediction (~1.1 hr prior). Reduces false positives significantly.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Pipeline is complex with multiple stages. Computational cost is high due to processing steps.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extLst>
                  <a:ext uri="{0D108BD9-81ED-4DB2-BD59-A6C34878D82A}">
                    <a16:rowId xmlns:a16="http://schemas.microsoft.com/office/drawing/2014/main" val="3081873428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18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S. Raghu, N. Sriraam, Y. Temel, S. V. Rao, and P. L. Kubben - EEG based multi-class seizure type classification using convolutional neural network and transfer learning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Enables effective multi-class classification using pretrained models like </a:t>
                      </a:r>
                      <a:r>
                        <a:rPr lang="en-IN" sz="2100" dirty="0" err="1">
                          <a:effectLst/>
                        </a:rPr>
                        <a:t>AlexNet</a:t>
                      </a:r>
                      <a:r>
                        <a:rPr lang="en-IN" sz="2100" dirty="0">
                          <a:effectLst/>
                        </a:rPr>
                        <a:t> and InceptionV3. Improves learning efficiency through transfer learning techniques.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Achieves only moderate accuracy (~88%) compared to advanced models. Requires spectrogram conversion which adds preprocessing complexity.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extLst>
                  <a:ext uri="{0D108BD9-81ED-4DB2-BD59-A6C34878D82A}">
                    <a16:rowId xmlns:a16="http://schemas.microsoft.com/office/drawing/2014/main" val="3194480942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19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S. Wong et al. - EEG datasets for seizure detection and prediction— A review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Improves dataset selection and enhances reproducibility in research. Provides useful insights into ML pipeline design.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Does not include experimental validation of methods. Relies entirely on existing studies and datasets.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2090" marR="62090" marT="0" marB="0"/>
                </a:tc>
                <a:extLst>
                  <a:ext uri="{0D108BD9-81ED-4DB2-BD59-A6C34878D82A}">
                    <a16:rowId xmlns:a16="http://schemas.microsoft.com/office/drawing/2014/main" val="943579653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10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solidFill>
                            <a:srgbClr val="000000"/>
                          </a:solidFill>
                          <a:effectLst/>
                        </a:rPr>
                        <a:t>A. A. Ein Shoka, M. M. Dessouky, A. El-Sayed, and E. E.-D. Hemdan - EEG seizure detection: concepts, techniques, challenges, and future trends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solidFill>
                            <a:srgbClr val="000000"/>
                          </a:solidFill>
                          <a:effectLst/>
                        </a:rPr>
                        <a:t>Offers a comprehensive overview of detection pipelines and techniques. Identifies key challenges and future research directions.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</a:rPr>
                        <a:t>Lacks quantitative benchmarking for comparison. Does not provide experimental performance results.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extLst>
                  <a:ext uri="{0D108BD9-81ED-4DB2-BD59-A6C34878D82A}">
                    <a16:rowId xmlns:a16="http://schemas.microsoft.com/office/drawing/2014/main" val="3442230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482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EA6F27-4AF7-BCC3-3EC9-3D960F192318}"/>
              </a:ext>
            </a:extLst>
          </p:cNvPr>
          <p:cNvGraphicFramePr>
            <a:graphicFrameLocks noGrp="1"/>
          </p:cNvGraphicFramePr>
          <p:nvPr/>
        </p:nvGraphicFramePr>
        <p:xfrm>
          <a:off x="1515359" y="496917"/>
          <a:ext cx="15257283" cy="9293352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933254">
                  <a:extLst>
                    <a:ext uri="{9D8B030D-6E8A-4147-A177-3AD203B41FA5}">
                      <a16:colId xmlns:a16="http://schemas.microsoft.com/office/drawing/2014/main" val="822271968"/>
                    </a:ext>
                  </a:extLst>
                </a:gridCol>
                <a:gridCol w="5302577">
                  <a:extLst>
                    <a:ext uri="{9D8B030D-6E8A-4147-A177-3AD203B41FA5}">
                      <a16:colId xmlns:a16="http://schemas.microsoft.com/office/drawing/2014/main" val="1437616785"/>
                    </a:ext>
                  </a:extLst>
                </a:gridCol>
                <a:gridCol w="4723865">
                  <a:extLst>
                    <a:ext uri="{9D8B030D-6E8A-4147-A177-3AD203B41FA5}">
                      <a16:colId xmlns:a16="http://schemas.microsoft.com/office/drawing/2014/main" val="2750511826"/>
                    </a:ext>
                  </a:extLst>
                </a:gridCol>
                <a:gridCol w="4297587">
                  <a:extLst>
                    <a:ext uri="{9D8B030D-6E8A-4147-A177-3AD203B41FA5}">
                      <a16:colId xmlns:a16="http://schemas.microsoft.com/office/drawing/2014/main" val="3673034174"/>
                    </a:ext>
                  </a:extLst>
                </a:gridCol>
              </a:tblGrid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21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W. Cao, Q. Li, A. Zhang, and T. Wang - Efficient and Accurate Epilepsy Seizure Prediction and Detection Based on Multi-Teacher Knowledge Distillation RGF-Model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Achieves very high accuracy (99%+) with lightweight and real-time capability. Efficiently transfers knowledge across models.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Architecture is complex and difficult to design. Implementation may require careful tuning and optimization.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extLst>
                  <a:ext uri="{0D108BD9-81ED-4DB2-BD59-A6C34878D82A}">
                    <a16:rowId xmlns:a16="http://schemas.microsoft.com/office/drawing/2014/main" val="2233087765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22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N. McCallan et al. - Epileptic multi-seizure type classification using electroencephalogram signals from the Temple University Hospital Seizure Corpus: A review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Highlights best-performing deep learning models for seizure classification. Provides comparative insights across multiple approaches.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Lacks standardization across studies and datasets. Results may not be directly comparable.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extLst>
                  <a:ext uri="{0D108BD9-81ED-4DB2-BD59-A6C34878D82A}">
                    <a16:rowId xmlns:a16="http://schemas.microsoft.com/office/drawing/2014/main" val="305500094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23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M. Zhou et al. - Epileptic Seizure Detection Based on EEG Signals and CNN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Achieves high accuracy (~97%) without manual feature extraction. Learns features directly from raw EEG signals.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Performance depends heavily on signal representation. Different domains may affect accuracy.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extLst>
                  <a:ext uri="{0D108BD9-81ED-4DB2-BD59-A6C34878D82A}">
                    <a16:rowId xmlns:a16="http://schemas.microsoft.com/office/drawing/2014/main" val="1263144592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24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A. T. Tzallas, M. G. Tsipouras, and D. I. Fotiadis - Epileptic Seizure Detection in EEGs Using Time–Frequency Analysis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Effectively handles non-stationary EEG signals using time-frequency methods. Improves feature representation quality.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Feature extraction pipeline is complex and time-consuming. Requires multiple transformation steps.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extLst>
                  <a:ext uri="{0D108BD9-81ED-4DB2-BD59-A6C34878D82A}">
                    <a16:rowId xmlns:a16="http://schemas.microsoft.com/office/drawing/2014/main" val="2324173715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25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A. Subasi, J. Kevric, and M. Abdullah Canbaz - Epileptic seizure detection using hybrid machine learning methods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Achieves very high accuracy (~99.38%) with optimized parameters. Combines DWT and SVM effectively.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Requires handcrafted features which limit automation. Model performance depends on feature quality.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88680" marR="88680" marT="0" marB="0"/>
                </a:tc>
                <a:extLst>
                  <a:ext uri="{0D108BD9-81ED-4DB2-BD59-A6C34878D82A}">
                    <a16:rowId xmlns:a16="http://schemas.microsoft.com/office/drawing/2014/main" val="1442621700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</a:rPr>
                        <a:t>M. S. Farooq, A. Zulfiqar, and S. Riaz - Epileptic Seizure Detection Using Machine Learning: Taxonomy, Opportunities, and Challenges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solidFill>
                            <a:srgbClr val="000000"/>
                          </a:solidFill>
                          <a:effectLst/>
                        </a:rPr>
                        <a:t>Provides a comprehensive taxonomy and identifies research gaps. Helps guide future work in seizure detection.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solidFill>
                            <a:srgbClr val="000000"/>
                          </a:solidFill>
                          <a:effectLst/>
                        </a:rPr>
                        <a:t>Does not include experimental validation. Focus remains theoretical and descriptive.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extLst>
                  <a:ext uri="{0D108BD9-81ED-4DB2-BD59-A6C34878D82A}">
                    <a16:rowId xmlns:a16="http://schemas.microsoft.com/office/drawing/2014/main" val="1918707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946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BF4022-8D1A-F566-8E3E-DDFB7F3AA85A}"/>
              </a:ext>
            </a:extLst>
          </p:cNvPr>
          <p:cNvGraphicFramePr>
            <a:graphicFrameLocks noGrp="1"/>
          </p:cNvGraphicFramePr>
          <p:nvPr/>
        </p:nvGraphicFramePr>
        <p:xfrm>
          <a:off x="1557779" y="33714"/>
          <a:ext cx="15172442" cy="10253472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876693">
                  <a:extLst>
                    <a:ext uri="{9D8B030D-6E8A-4147-A177-3AD203B41FA5}">
                      <a16:colId xmlns:a16="http://schemas.microsoft.com/office/drawing/2014/main" val="3268345557"/>
                    </a:ext>
                  </a:extLst>
                </a:gridCol>
                <a:gridCol w="4920792">
                  <a:extLst>
                    <a:ext uri="{9D8B030D-6E8A-4147-A177-3AD203B41FA5}">
                      <a16:colId xmlns:a16="http://schemas.microsoft.com/office/drawing/2014/main" val="2519892921"/>
                    </a:ext>
                  </a:extLst>
                </a:gridCol>
                <a:gridCol w="5048054">
                  <a:extLst>
                    <a:ext uri="{9D8B030D-6E8A-4147-A177-3AD203B41FA5}">
                      <a16:colId xmlns:a16="http://schemas.microsoft.com/office/drawing/2014/main" val="3882108872"/>
                    </a:ext>
                  </a:extLst>
                </a:gridCol>
                <a:gridCol w="4326903">
                  <a:extLst>
                    <a:ext uri="{9D8B030D-6E8A-4147-A177-3AD203B41FA5}">
                      <a16:colId xmlns:a16="http://schemas.microsoft.com/office/drawing/2014/main" val="3553521671"/>
                    </a:ext>
                  </a:extLst>
                </a:gridCol>
              </a:tblGrid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27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E. Ali, M. Angelova, and Chandan Karmakar - Epileptic seizure detection using CHB-MIT dataset: The overlooked perspectives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Performs real-world evaluation handling imbalance and variability. Provides practical insights using Random Forest.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Shows moderate sensitivity (~75%) in detection. Pipeline is relatively complex.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4067831345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28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A. Shoeibi et al. - Epileptic Seizures Detection Using Deep Learning Techniques: A Review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Provides a comprehensive overview of deep learning models. Identifies best-performing architectures for seizure detection.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No experimental validation is included. Analysis remains high-level and descriptive.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1119273680"/>
                  </a:ext>
                </a:extLst>
              </a:tr>
              <a:tr h="23489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29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T. K. Murugan and A. Kameswaran - Employing convolutional neural networks and explainable artificial intelligence for the detection of seizures from electroencephalogram signal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Improves interpretability and clinical trust using XAI techniques. Maintains good accuracy in detection.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Adds extra complexity due to explainability methods. Performance depends on feature quality.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1667418406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30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S. Cuyckens, R. Antonio, C. Fang, and M. Verhelst - iEEG Seizure Detection with a Sparse Hyperdimensional Computing Accelerator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Offers very low energy consumption and supports real-time detection. Suitable for hardware-efficient implementations.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Implementation is complex and hardware-dependent. Validation scope is limited.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3959743774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31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P. Thodoroff, J. Pineau, and A. Lim - Learning Robust Features using Deep Learning for Automatic Seizure Detection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Learns robust cross-patient features without manual extraction. Improves generalization across datasets.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Computationally intensive and resource-demanding. Performance depends on data quality.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2558847949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32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Th. Sverrisson and S. Gudmundsson - LookAroundNet: Extending Temporal Context with Transformers for Clinically Viable EEG Seizure Detection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Captures long-range dependencies and improves generalization. Provides strong performance using temporal context modeling.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High computational cost due to transformer models. Requires large-scale datasets.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1841410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5681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AE1AED-D3B3-C06B-9998-4A003E098FC5}"/>
              </a:ext>
            </a:extLst>
          </p:cNvPr>
          <p:cNvGraphicFramePr>
            <a:graphicFrameLocks noGrp="1"/>
          </p:cNvGraphicFramePr>
          <p:nvPr/>
        </p:nvGraphicFramePr>
        <p:xfrm>
          <a:off x="1557779" y="231218"/>
          <a:ext cx="15172442" cy="9824720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749432">
                  <a:extLst>
                    <a:ext uri="{9D8B030D-6E8A-4147-A177-3AD203B41FA5}">
                      <a16:colId xmlns:a16="http://schemas.microsoft.com/office/drawing/2014/main" val="2154354433"/>
                    </a:ext>
                  </a:extLst>
                </a:gridCol>
                <a:gridCol w="4807671">
                  <a:extLst>
                    <a:ext uri="{9D8B030D-6E8A-4147-A177-3AD203B41FA5}">
                      <a16:colId xmlns:a16="http://schemas.microsoft.com/office/drawing/2014/main" val="4173672146"/>
                    </a:ext>
                  </a:extLst>
                </a:gridCol>
                <a:gridCol w="5104614">
                  <a:extLst>
                    <a:ext uri="{9D8B030D-6E8A-4147-A177-3AD203B41FA5}">
                      <a16:colId xmlns:a16="http://schemas.microsoft.com/office/drawing/2014/main" val="1233841521"/>
                    </a:ext>
                  </a:extLst>
                </a:gridCol>
                <a:gridCol w="4510725">
                  <a:extLst>
                    <a:ext uri="{9D8B030D-6E8A-4147-A177-3AD203B41FA5}">
                      <a16:colId xmlns:a16="http://schemas.microsoft.com/office/drawing/2014/main" val="3497072982"/>
                    </a:ext>
                  </a:extLst>
                </a:gridCol>
              </a:tblGrid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33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Giorgos Giannakakis, Vangelis </a:t>
                      </a:r>
                      <a:r>
                        <a:rPr lang="en-IN" sz="2100" dirty="0" err="1">
                          <a:effectLst/>
                        </a:rPr>
                        <a:t>Sakkalis</a:t>
                      </a:r>
                      <a:r>
                        <a:rPr lang="en-IN" sz="2100" dirty="0">
                          <a:effectLst/>
                        </a:rPr>
                        <a:t>, M. </a:t>
                      </a:r>
                      <a:r>
                        <a:rPr lang="en-IN" sz="2100" dirty="0" err="1">
                          <a:effectLst/>
                        </a:rPr>
                        <a:t>Pediaditis</a:t>
                      </a:r>
                      <a:r>
                        <a:rPr lang="en-IN" sz="2100" dirty="0">
                          <a:effectLst/>
                        </a:rPr>
                        <a:t>, and Manolis </a:t>
                      </a:r>
                      <a:r>
                        <a:rPr lang="en-IN" sz="2100" dirty="0" err="1">
                          <a:effectLst/>
                        </a:rPr>
                        <a:t>Tsiknakis</a:t>
                      </a:r>
                      <a:r>
                        <a:rPr lang="en-IN" sz="2100" dirty="0">
                          <a:effectLst/>
                        </a:rPr>
                        <a:t> - Methods for Seizure Detection and Prediction: An Overview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Provides a comprehensive comparison of detection methods. Achieves high accuracy using engineered features.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Relies on handcrafted features rather than deep learning. Limited modern DL-based insights.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4170778303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34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Y. Yang, K. Guo, Z. Fang, H. Lin, M. Grosser, and J. Lu - Multi-model Transfer Learning and Genotypic Analysis for Seizure Type Classification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Improves accuracy by 13–16% and handles data scarcity. Combines multiple models for better performance.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Architecture is complex and difficult to manage. Requires multi-source data integration.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3888843141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35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D. </a:t>
                      </a:r>
                      <a:r>
                        <a:rPr lang="en-IN" sz="2100" dirty="0" err="1">
                          <a:effectLst/>
                        </a:rPr>
                        <a:t>Ahmedt</a:t>
                      </a:r>
                      <a:r>
                        <a:rPr lang="en-IN" sz="2100" dirty="0">
                          <a:effectLst/>
                        </a:rPr>
                        <a:t>-Aristizabal, T. Fernando, S. Denman, L. Petersson, M. J. </a:t>
                      </a:r>
                      <a:r>
                        <a:rPr lang="en-IN" sz="2100" dirty="0" err="1">
                          <a:effectLst/>
                        </a:rPr>
                        <a:t>Aburn</a:t>
                      </a:r>
                      <a:r>
                        <a:rPr lang="en-IN" sz="2100" dirty="0">
                          <a:effectLst/>
                        </a:rPr>
                        <a:t>, and C. Fookes - Neural Memory Networks for Seizure Type Classification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Captures long-term dependencies and achieves high F1-score (~0.945). Enhances sequence </a:t>
                      </a:r>
                      <a:r>
                        <a:rPr lang="en-IN" sz="2100" dirty="0" err="1">
                          <a:effectLst/>
                        </a:rPr>
                        <a:t>modeling</a:t>
                      </a:r>
                      <a:r>
                        <a:rPr lang="en-IN" sz="2100" dirty="0">
                          <a:effectLst/>
                        </a:rPr>
                        <a:t> capability.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High model complexity increases computation. Limited dataset availability affects training.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1975005661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36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S. Ghosh, V. Singh, and O. S. Powar - Seizure detection using EEG on the CHB-MIT dataset via multi-domain feature engineering and classical machine learning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Provides interpretable results with low latency. Supports patient-independent evaluation.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Lower accuracy compared to deep learning models. Performance may be limited.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992603648"/>
                  </a:ext>
                </a:extLst>
              </a:tr>
              <a:tr h="234896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37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M. L. Scheuer, S. B. Wilson, A. Antony, G. </a:t>
                      </a:r>
                      <a:r>
                        <a:rPr lang="en-IN" sz="2100" dirty="0" err="1">
                          <a:effectLst/>
                        </a:rPr>
                        <a:t>Ghearing</a:t>
                      </a:r>
                      <a:r>
                        <a:rPr lang="en-IN" sz="2100" dirty="0">
                          <a:effectLst/>
                        </a:rPr>
                        <a:t>, A. Urban, and A. I. </a:t>
                      </a:r>
                      <a:r>
                        <a:rPr lang="en-IN" sz="2100" dirty="0" err="1">
                          <a:effectLst/>
                        </a:rPr>
                        <a:t>Bagić</a:t>
                      </a:r>
                      <a:r>
                        <a:rPr lang="en-IN" sz="2100" dirty="0">
                          <a:effectLst/>
                        </a:rPr>
                        <a:t> - Seizure Detection: </a:t>
                      </a:r>
                      <a:r>
                        <a:rPr lang="en-IN" sz="2100" dirty="0" err="1">
                          <a:effectLst/>
                        </a:rPr>
                        <a:t>Interreader</a:t>
                      </a:r>
                      <a:r>
                        <a:rPr lang="en-IN" sz="2100" dirty="0">
                          <a:effectLst/>
                        </a:rPr>
                        <a:t> Agreement and Detection Algorithm Assessments Using a Large Dataset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Demonstrates expert-level algorithm performance. Compares human and algorithm outputs effectively.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Highlights variability and lack of perfect ground truth. Evaluation uncertainty remains.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64545" marR="64545" marT="0" marB="0"/>
                </a:tc>
                <a:extLst>
                  <a:ext uri="{0D108BD9-81ED-4DB2-BD59-A6C34878D82A}">
                    <a16:rowId xmlns:a16="http://schemas.microsoft.com/office/drawing/2014/main" val="1474047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6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247C19-D228-3700-02A8-20A5A4227103}"/>
              </a:ext>
            </a:extLst>
          </p:cNvPr>
          <p:cNvGraphicFramePr>
            <a:graphicFrameLocks noGrp="1"/>
          </p:cNvGraphicFramePr>
          <p:nvPr/>
        </p:nvGraphicFramePr>
        <p:xfrm>
          <a:off x="1414021" y="401667"/>
          <a:ext cx="15257286" cy="9483821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989816">
                  <a:extLst>
                    <a:ext uri="{9D8B030D-6E8A-4147-A177-3AD203B41FA5}">
                      <a16:colId xmlns:a16="http://schemas.microsoft.com/office/drawing/2014/main" val="3983595451"/>
                    </a:ext>
                  </a:extLst>
                </a:gridCol>
                <a:gridCol w="4652129">
                  <a:extLst>
                    <a:ext uri="{9D8B030D-6E8A-4147-A177-3AD203B41FA5}">
                      <a16:colId xmlns:a16="http://schemas.microsoft.com/office/drawing/2014/main" val="2552264966"/>
                    </a:ext>
                  </a:extLst>
                </a:gridCol>
                <a:gridCol w="4894077">
                  <a:extLst>
                    <a:ext uri="{9D8B030D-6E8A-4147-A177-3AD203B41FA5}">
                      <a16:colId xmlns:a16="http://schemas.microsoft.com/office/drawing/2014/main" val="3628587205"/>
                    </a:ext>
                  </a:extLst>
                </a:gridCol>
                <a:gridCol w="4721264">
                  <a:extLst>
                    <a:ext uri="{9D8B030D-6E8A-4147-A177-3AD203B41FA5}">
                      <a16:colId xmlns:a16="http://schemas.microsoft.com/office/drawing/2014/main" val="2181490471"/>
                    </a:ext>
                  </a:extLst>
                </a:gridCol>
              </a:tblGrid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38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S. Roy, U. Asif, J. Tang, and S. Harrer - Seizure Type Classification Using EEG Signals and Machine Learning: Setting a Benchmark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Provides benchmark study for multi-class classification. Uses multiple ML models for comparison.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Poor generalization in patient-wise validation. Performance varies across datasets.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extLst>
                  <a:ext uri="{0D108BD9-81ED-4DB2-BD59-A6C34878D82A}">
                    <a16:rowId xmlns:a16="http://schemas.microsoft.com/office/drawing/2014/main" val="2870234805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39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C. Baumgartner and J. P. Koren - Seizure detection using scalp-EEG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Provides clinical insights and performance ranges. Useful for understanding real-world applications.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Not a specific model and lacks implementation details. Limited practical usability.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extLst>
                  <a:ext uri="{0D108BD9-81ED-4DB2-BD59-A6C34878D82A}">
                    <a16:rowId xmlns:a16="http://schemas.microsoft.com/office/drawing/2014/main" val="850131471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40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U. Asif, S. Roy, J. Tang, and S. Harrer - SeizureNet: Multi-Spectral Deep Feature Learning for Seizure Type Classification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Achieves high F1-score (~0.94) with strong feature representation. Uses multi-spectral features effectively.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Shows moderate generalization performance. Patient-wise F1-score is relatively low (~0.59).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extLst>
                  <a:ext uri="{0D108BD9-81ED-4DB2-BD59-A6C34878D82A}">
                    <a16:rowId xmlns:a16="http://schemas.microsoft.com/office/drawing/2014/main" val="2219939120"/>
                  </a:ext>
                </a:extLst>
              </a:tr>
              <a:tr h="20594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41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SeizureTransformer: Scaling U-Net with Transformer for Simultaneous Time-Step Level Seizure Detection from Long EEG Recordings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Captures long-range dependencies and achieves state-of-the-art performance. Combines CNN and transformer effectively.</a:t>
                      </a:r>
                    </a:p>
                    <a:p>
                      <a:pPr marL="0" marR="0" indent="45720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 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High computational cost and complex architecture. Requires significant resources.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extLst>
                  <a:ext uri="{0D108BD9-81ED-4DB2-BD59-A6C34878D82A}">
                    <a16:rowId xmlns:a16="http://schemas.microsoft.com/office/drawing/2014/main" val="514812474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42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W. Weng et al. - Self-supervised Learning for Electroencephalogram: A Systematic Survey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Reduces dependency on labeled data and improves generalization. Explores multiple SSL strategies.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Requires careful design of pretext tasks. Training process is complex.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extLst>
                  <a:ext uri="{0D108BD9-81ED-4DB2-BD59-A6C34878D82A}">
                    <a16:rowId xmlns:a16="http://schemas.microsoft.com/office/drawing/2014/main" val="2534149213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43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J. J. Falco-Walter, I. E. Scheffer, and R. S. Fisher - The new definition and classification of seizures and epilepsy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Provides standardized labels improving dataset consistency. Supports better machine learning applications.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Not a predictive model or algorithm. Lacks computational framework.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75045" marR="75045" marT="0" marB="0"/>
                </a:tc>
                <a:extLst>
                  <a:ext uri="{0D108BD9-81ED-4DB2-BD59-A6C34878D82A}">
                    <a16:rowId xmlns:a16="http://schemas.microsoft.com/office/drawing/2014/main" val="3123028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101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D05AAB-EAC3-8936-6381-BA7EB00A0453}"/>
              </a:ext>
            </a:extLst>
          </p:cNvPr>
          <p:cNvGraphicFramePr>
            <a:graphicFrameLocks noGrp="1"/>
          </p:cNvGraphicFramePr>
          <p:nvPr/>
        </p:nvGraphicFramePr>
        <p:xfrm>
          <a:off x="1257300" y="2580179"/>
          <a:ext cx="15773402" cy="4646676"/>
        </p:xfrm>
        <a:graphic>
          <a:graphicData uri="http://schemas.openxmlformats.org/drawingml/2006/table">
            <a:tbl>
              <a:tblPr bandRow="1">
                <a:tableStyleId>{616DA210-FB5B-4158-B5E0-FEB733F419BA}</a:tableStyleId>
              </a:tblPr>
              <a:tblGrid>
                <a:gridCol w="1089974">
                  <a:extLst>
                    <a:ext uri="{9D8B030D-6E8A-4147-A177-3AD203B41FA5}">
                      <a16:colId xmlns:a16="http://schemas.microsoft.com/office/drawing/2014/main" val="220222169"/>
                    </a:ext>
                  </a:extLst>
                </a:gridCol>
                <a:gridCol w="6150683">
                  <a:extLst>
                    <a:ext uri="{9D8B030D-6E8A-4147-A177-3AD203B41FA5}">
                      <a16:colId xmlns:a16="http://schemas.microsoft.com/office/drawing/2014/main" val="3792208409"/>
                    </a:ext>
                  </a:extLst>
                </a:gridCol>
                <a:gridCol w="4174436">
                  <a:extLst>
                    <a:ext uri="{9D8B030D-6E8A-4147-A177-3AD203B41FA5}">
                      <a16:colId xmlns:a16="http://schemas.microsoft.com/office/drawing/2014/main" val="4034676966"/>
                    </a:ext>
                  </a:extLst>
                </a:gridCol>
                <a:gridCol w="4358309">
                  <a:extLst>
                    <a:ext uri="{9D8B030D-6E8A-4147-A177-3AD203B41FA5}">
                      <a16:colId xmlns:a16="http://schemas.microsoft.com/office/drawing/2014/main" val="325097602"/>
                    </a:ext>
                  </a:extLst>
                </a:gridCol>
              </a:tblGrid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44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L. Wei and C. Mooney - Transfer Learning-based Seizure Detection on Multiple Channels of Paediatric EEGs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Achieves good accuracy (~85%) with reduced training cost. Supports multi-channel data fusion.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Depends on spectrogram transformation. Scalability is moderate.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extLst>
                  <a:ext uri="{0D108BD9-81ED-4DB2-BD59-A6C34878D82A}">
                    <a16:rowId xmlns:a16="http://schemas.microsoft.com/office/drawing/2014/main" val="3994745246"/>
                  </a:ext>
                </a:extLst>
              </a:tr>
              <a:tr h="138884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45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H. Banville, O. Chehab, A. Hyvärinen, D.-A. Engemann, and A. Gramfort - Uncovering the structure of clinical EEG signals with self-supervised learning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Works effectively with unlabeled data and learns robust features. Provides strong generalization.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Training is complex and requires careful task design. Computational effort is high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extLst>
                  <a:ext uri="{0D108BD9-81ED-4DB2-BD59-A6C34878D82A}">
                    <a16:rowId xmlns:a16="http://schemas.microsoft.com/office/drawing/2014/main" val="3613530914"/>
                  </a:ext>
                </a:extLst>
              </a:tr>
              <a:tr h="18689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46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A. Shoeibi et al. - Automatic Diagnosis of Schizophrenia in EEG Signals Using CNN-LSTM Models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>
                          <a:effectLst/>
                        </a:rPr>
                        <a:t>Achieves very high accuracy (~99.25%) with strong spatial-temporal learning. Reduces need for manual feature extraction.</a:t>
                      </a:r>
                      <a:endParaRPr lang="en-IN" sz="2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100" dirty="0">
                          <a:effectLst/>
                        </a:rPr>
                        <a:t>Dataset is small (28 subjects) limiting generalization. Focuses only on binary classification.	</a:t>
                      </a:r>
                      <a:endParaRPr lang="en-IN" sz="2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unga" panose="020B0502040204020203" pitchFamily="34" charset="0"/>
                      </a:endParaRPr>
                    </a:p>
                  </a:txBody>
                  <a:tcPr marL="102870" marR="102870" marT="0" marB="0"/>
                </a:tc>
                <a:extLst>
                  <a:ext uri="{0D108BD9-81ED-4DB2-BD59-A6C34878D82A}">
                    <a16:rowId xmlns:a16="http://schemas.microsoft.com/office/drawing/2014/main" val="2451375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189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73678-5276-A8C2-F2A5-C8359924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297E-87B1-45DD-85FA-F98211548008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1FE82B-55EA-D696-3B9A-4CF2CC9C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4715A-7998-8486-4413-2F1C80BA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297FA6E-3B33-5745-A03A-9D9392B283B5}"/>
              </a:ext>
            </a:extLst>
          </p:cNvPr>
          <p:cNvSpPr txBox="1">
            <a:spLocks/>
          </p:cNvSpPr>
          <p:nvPr/>
        </p:nvSpPr>
        <p:spPr>
          <a:xfrm>
            <a:off x="995947" y="34946"/>
            <a:ext cx="161290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9FE5-9D4E-5FDD-3AB0-3BCBF7879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2" b="4331"/>
          <a:stretch>
            <a:fillRect/>
          </a:stretch>
        </p:blipFill>
        <p:spPr>
          <a:xfrm>
            <a:off x="4953000" y="1257300"/>
            <a:ext cx="8192433" cy="841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48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25798-EDB8-B707-7C57-82D9BB7E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>
            <a:extLst>
              <a:ext uri="{FF2B5EF4-FFF2-40B4-BE49-F238E27FC236}">
                <a16:creationId xmlns:a16="http://schemas.microsoft.com/office/drawing/2014/main" id="{18B7466B-C9DC-4257-060D-705ECDD41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803406"/>
            <a:ext cx="13373099" cy="1295400"/>
          </a:xfrm>
        </p:spPr>
        <p:txBody>
          <a:bodyPr>
            <a:normAutofit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  <a:endParaRPr lang="en-IN" sz="8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8469E-4869-3963-35B1-A4CB05700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A0061-5C20-4BFA-8D13-4B871A15E322}" type="datetime3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August 2026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F03182-9E6C-3B06-981A-94ED2CB1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CSE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BD49B1-1739-5A2C-1307-31D78C86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169561-7000-AAFD-69E4-A77662C88D57}"/>
              </a:ext>
            </a:extLst>
          </p:cNvPr>
          <p:cNvSpPr txBox="1"/>
          <p:nvPr/>
        </p:nvSpPr>
        <p:spPr>
          <a:xfrm>
            <a:off x="1257300" y="2247900"/>
            <a:ext cx="15773400" cy="6845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100330" indent="-5715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standardized and pre-processed EEG dataset with cleaned, filtered, normalized, and segmented seizure recordings suitable for deep learning analysis. </a:t>
            </a:r>
          </a:p>
          <a:p>
            <a:pPr marL="571500" marR="100330" indent="-5715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functional hierarchical deep learning framework capable of performing seizure detection followed by seizure subtype classification using transfer learning. </a:t>
            </a:r>
          </a:p>
          <a:p>
            <a:pPr marL="571500" marR="100330" indent="-5715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evaluated automated multi-class seizure classification system with validated performance metrics (e.g., accuracy, precision, recall, F1-score) using subject wise cross validation. </a:t>
            </a:r>
          </a:p>
        </p:txBody>
      </p:sp>
    </p:spTree>
    <p:extLst>
      <p:ext uri="{BB962C8B-B14F-4D97-AF65-F5344CB8AC3E}">
        <p14:creationId xmlns:p14="http://schemas.microsoft.com/office/powerpoint/2010/main" val="4276864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844232" y="3736063"/>
            <a:ext cx="16599535" cy="1407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42DFB-37A0-44C9-B8EE-93596F90C7A6}" type="datetime3">
              <a:rPr lang="en-US" smtClean="0"/>
              <a:t>10 August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 of CSE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17</a:t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9554</TotalTime>
  <Words>3094</Words>
  <Application>Microsoft Office PowerPoint</Application>
  <PresentationFormat>Custom</PresentationFormat>
  <Paragraphs>247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Vivekananda College of Engineering &amp; Technology</vt:lpstr>
      <vt:lpstr>Contents</vt:lpstr>
      <vt:lpstr>PowerPoint Presentation</vt:lpstr>
      <vt:lpstr>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Seminar Presentation</dc:title>
  <dc:creator>Devadatta Bhat</dc:creator>
  <cp:keywords>DAFfHv8tBnY,BAEw4UIMEh0</cp:keywords>
  <cp:lastModifiedBy>Adithya .</cp:lastModifiedBy>
  <cp:revision>248</cp:revision>
  <dcterms:created xsi:type="dcterms:W3CDTF">2023-04-19T04:19:00Z</dcterms:created>
  <dcterms:modified xsi:type="dcterms:W3CDTF">2026-08-10T09:43:25Z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2023-04-05T11:00:00Z</vt:filetime>
  </property>
  <property fmtid="{D5CDD505-2E9C-101B-9397-08002B2CF9AE}" pid="3" name="Creator">
    <vt:lpwstr>Canva</vt:lpwstr>
  </property>
  <property fmtid="{D5CDD505-2E9C-101B-9397-08002B2CF9AE}" pid="4" name="LastSaved">
    <vt:filetime>2023-04-05T11:00:00Z</vt:filetime>
  </property>
  <property fmtid="{D5CDD505-2E9C-101B-9397-08002B2CF9AE}" pid="5" name="ContentTypeId">
    <vt:lpwstr>0x0101008301C2465860E646B06EEF43E40A17DD</vt:lpwstr>
  </property>
  <property fmtid="{D5CDD505-2E9C-101B-9397-08002B2CF9AE}" pid="6" name="ICV">
    <vt:lpwstr>51D16898E5F34F01B2EC78FD561D3C06</vt:lpwstr>
  </property>
  <property fmtid="{D5CDD505-2E9C-101B-9397-08002B2CF9AE}" pid="7" name="KSOProductBuildVer">
    <vt:lpwstr>1033-11.2.0.11225</vt:lpwstr>
  </property>
</Properties>
</file>