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20"/>
  </p:notesMasterIdLst>
  <p:sldIdLst>
    <p:sldId id="256" r:id="rId3"/>
    <p:sldId id="257" r:id="rId4"/>
    <p:sldId id="298" r:id="rId5"/>
    <p:sldId id="259" r:id="rId6"/>
    <p:sldId id="260" r:id="rId7"/>
    <p:sldId id="334" r:id="rId8"/>
    <p:sldId id="258" r:id="rId9"/>
    <p:sldId id="335" r:id="rId10"/>
    <p:sldId id="336" r:id="rId11"/>
    <p:sldId id="261" r:id="rId12"/>
    <p:sldId id="262" r:id="rId13"/>
    <p:sldId id="263" r:id="rId14"/>
    <p:sldId id="264" r:id="rId15"/>
    <p:sldId id="265" r:id="rId16"/>
    <p:sldId id="331" r:id="rId17"/>
    <p:sldId id="332" r:id="rId18"/>
    <p:sldId id="337" r:id="rId25"/>
    <p:sldId id="338" r:id="rId26"/>
    <p:sldId id="339" r:id="rId27"/>
    <p:sldId id="340" r:id="rId28"/>
    <p:sldId id="341" r:id="rId29"/>
    <p:sldId id="342" r:id="rId30"/>
    <p:sldId id="343" r:id="rId31"/>
    <p:sldId id="344" r:id="rId32"/>
    <p:sldId id="345" r:id="rId33"/>
    <p:sldId id="346" r:id="rId34"/>
    <p:sldId id="347" r:id="rId35"/>
    <p:sldId id="348" r:id="rId36"/>
    <p:sldId id="349" r:id="rId37"/>
    <p:sldId id="350" r:id="rId38"/>
    <p:sldId id="351" r:id="rId39"/>
    <p:sldId id="352" r:id="rId40"/>
    <p:sldId id="353" r:id="rId41"/>
    <p:sldId id="354" r:id="rId42"/>
    <p:sldId id="355" r:id="rId43"/>
    <p:sldId id="356" r:id="rId44"/>
    <p:sldId id="357" r:id="rId45"/>
    <p:sldId id="358" r:id="rId46"/>
    <p:sldId id="359" r:id="rId47"/>
    <p:sldId id="360" r:id="rId48"/>
    <p:sldId id="361" r:id="rId49"/>
    <p:sldId id="362" r:id="rId50"/>
    <p:sldId id="363" r:id="rId51"/>
    <p:sldId id="364" r:id="rId52"/>
    <p:sldId id="365" r:id="rId53"/>
    <p:sldId id="366" r:id="rId54"/>
    <p:sldId id="367" r:id="rId55"/>
    <p:sldId id="368" r:id="rId56"/>
    <p:sldId id="273" r:id="rId19"/>
  </p:sldIdLst>
  <p:sldSz cx="18288000" cy="10287000"/>
  <p:notesSz cx="18288000" cy="10287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58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1" autoAdjust="0"/>
    <p:restoredTop sz="94660"/>
  </p:normalViewPr>
  <p:slideViewPr>
    <p:cSldViewPr>
      <p:cViewPr varScale="1">
        <p:scale>
          <a:sx n="54" d="100"/>
          <a:sy n="54" d="100"/>
        </p:scale>
        <p:origin x="710" y="72"/>
      </p:cViewPr>
      <p:guideLst>
        <p:guide orient="horz" pos="2858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1D-CNN (LOSO)</c:v>
                </c:pt>
              </c:strCache>
            </c:strRef>
          </c:tx>
          <c:spPr>
            <a:solidFill>
              <a:srgbClr val="7F7F7F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Focal Aware</c:v>
                </c:pt>
                <c:pt idx="1">
                  <c:v>Focal Impaired Awareness</c:v>
                </c:pt>
                <c:pt idx="2">
                  <c:v>FBTC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0.989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 CRNN (v2)</c:v>
                </c:pt>
              </c:strCache>
            </c:strRef>
          </c:tx>
          <c:spPr>
            <a:solidFill>
              <a:srgbClr val="404040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Focal Aware</c:v>
                </c:pt>
                <c:pt idx="1">
                  <c:v>Focal Impaired Awareness</c:v>
                </c:pt>
                <c:pt idx="2">
                  <c:v>FBTC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0.97</c:v>
                </c:pt>
                <c:pt idx="2">
                  <c:v>0.459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EEG-HDC v4</c:v>
                </c:pt>
              </c:strCache>
            </c:strRef>
          </c:tx>
          <c:spPr>
            <a:solidFill>
              <a:srgbClr val="C00000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Focal Aware</c:v>
                </c:pt>
                <c:pt idx="1">
                  <c:v>Focal Impaired Awareness</c:v>
                </c:pt>
                <c:pt idx="2">
                  <c:v>FBTC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0.962</c:v>
                </c:pt>
                <c:pt idx="2">
                  <c:v>0.514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2000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24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"/>
          <c:min val="0.0"/>
        </c:scaling>
        <c:delete val="0"/>
        <c:axPos val="l"/>
        <c:majorGridlines>
          <c:spPr>
            <a:ln>
              <a:solidFill>
                <a:srgbClr val="D0D0D0"/>
              </a:solidFill>
            </a:ln>
          </c:spPr>
        </c:majorGridlines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24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24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2400"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Focal Aware</c:v>
                </c:pt>
              </c:strCache>
            </c:strRef>
          </c:tx>
          <c:spPr>
            <a:solidFill>
              <a:srgbClr val="7F7F7F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MLP</c:v>
                </c:pt>
                <c:pt idx="1">
                  <c:v>Random Forest</c:v>
                </c:pt>
                <c:pt idx="2">
                  <c:v>HistGB (v4)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-0.489</c:v>
                </c:pt>
                <c:pt idx="2">
                  <c:v>0.117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 FBTC</c:v>
                </c:pt>
              </c:strCache>
            </c:strRef>
          </c:tx>
          <c:spPr>
            <a:solidFill>
              <a:srgbClr val="C00000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MLP</c:v>
                </c:pt>
                <c:pt idx="1">
                  <c:v>Random Forest</c:v>
                </c:pt>
                <c:pt idx="2">
                  <c:v>HistGB (v4)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0.131</c:v>
                </c:pt>
                <c:pt idx="1">
                  <c:v>-0.199</c:v>
                </c:pt>
                <c:pt idx="2">
                  <c:v>0.069</c:v>
                </c:pt>
              </c:numCache>
            </c:numRef>
          </c:val>
        </c:ser>
        <c:dLbls>
          <c:numFmt formatCode="+0.00;-0.00;0.00" sourceLinked="0"/>
          <c:txPr>
            <a:bodyPr/>
            <a:lstStyle/>
            <a:p>
              <a:pPr>
                <a:defRPr sz="2000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24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"/>
          <c:min val="-0.7"/>
        </c:scaling>
        <c:delete val="0"/>
        <c:axPos val="l"/>
        <c:majorGridlines>
          <c:spPr>
            <a:ln>
              <a:solidFill>
                <a:srgbClr val="D0D0D0"/>
              </a:solidFill>
            </a:ln>
          </c:spPr>
        </c:majorGridlines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24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24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2400">
          <a:latin typeface="Times New Roman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7F7F7F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LOSO 1D-CNN</c:v>
                </c:pt>
                <c:pt idx="1">
                  <c:v>v1 Synthesis</c:v>
                </c:pt>
                <c:pt idx="2">
                  <c:v>v2 Fine-tuned</c:v>
                </c:pt>
                <c:pt idx="3">
                  <c:v>v3 Frozen sweep</c:v>
                </c:pt>
                <c:pt idx="4">
                  <c:v>v4 Dual-embedding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0.897</c:v>
                </c:pt>
                <c:pt idx="1">
                  <c:v>0.933</c:v>
                </c:pt>
                <c:pt idx="2">
                  <c:v>0.907</c:v>
                </c:pt>
                <c:pt idx="3">
                  <c:v>0.573</c:v>
                </c:pt>
                <c:pt idx="4">
                  <c:v>0.911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Macro-F1</c:v>
                </c:pt>
              </c:strCache>
            </c:strRef>
          </c:tx>
          <c:spPr>
            <a:solidFill>
              <a:srgbClr val="C0000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LOSO 1D-CNN</c:v>
                </c:pt>
                <c:pt idx="1">
                  <c:v>v1 Synthesis</c:v>
                </c:pt>
                <c:pt idx="2">
                  <c:v>v2 Fine-tuned</c:v>
                </c:pt>
                <c:pt idx="3">
                  <c:v>v3 Frozen sweep</c:v>
                </c:pt>
                <c:pt idx="4">
                  <c:v>v4 Dual-embedding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0.315</c:v>
                </c:pt>
                <c:pt idx="1">
                  <c:v>0.45</c:v>
                </c:pt>
                <c:pt idx="2">
                  <c:v>0.526</c:v>
                </c:pt>
                <c:pt idx="3">
                  <c:v>0.374</c:v>
                </c:pt>
                <c:pt idx="4">
                  <c:v>0.612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2000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24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"/>
          <c:min val="0.0"/>
        </c:scaling>
        <c:delete val="0"/>
        <c:axPos val="l"/>
        <c:majorGridlines>
          <c:spPr>
            <a:ln>
              <a:solidFill>
                <a:srgbClr val="D0D0D0"/>
              </a:solidFill>
            </a:ln>
          </c:spPr>
        </c:majorGridlines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24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24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2400">
          <a:latin typeface="Times New Roman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2D96E9-8FC2-4761-8B0F-732A022FE3D0}" type="datetimeFigureOut">
              <a:rPr lang="en-IN" smtClean="0"/>
              <a:pPr/>
              <a:t>10-08-2026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1B559A-E338-4F75-A573-9861E0BAC220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BDC1C6"/>
                </a:solidFill>
                <a:effectLst/>
                <a:highlight>
                  <a:srgbClr val="1F1F1F"/>
                </a:highlight>
                <a:latin typeface="arial" panose="020B0604020202020204" pitchFamily="34" charset="0"/>
              </a:rPr>
              <a:t> 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1B559A-E338-4F75-A573-9861E0BAC220}" type="slidenum">
              <a:rPr lang="en-IN" smtClean="0"/>
              <a:pPr/>
              <a:t>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14921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1686C-7A71-3CEC-2C10-2FA499D70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EBF7C2-FCD8-0A67-B8A5-B547830BDC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7762C0-E27A-1E9B-0EBC-2FF1DCE99D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BDC1C6"/>
                </a:solidFill>
                <a:effectLst/>
                <a:highlight>
                  <a:srgbClr val="1F1F1F"/>
                </a:highlight>
                <a:latin typeface="arial" panose="020B0604020202020204" pitchFamily="34" charset="0"/>
              </a:rPr>
              <a:t> 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895A32-7A02-3549-F799-7F83289EBC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1B559A-E338-4F75-A573-9861E0BAC220}" type="slidenum">
              <a:rPr lang="en-IN" smtClean="0"/>
              <a:pPr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11805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16489-D712-42FD-A5CE-C6172C8BA296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 of AI 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6002D-46B2-464C-84A5-D232A4E74A4F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 of AI 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8F8AF-8985-4F65-B349-6C141653713C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 of AI 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9EED-9FD4-4385-9E08-A4A9DD895483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 of AI </a:t>
            </a:r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80E91-64E4-45E6-9423-9C321850AA40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 of AI </a:t>
            </a:r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17C59-F215-49B6-BB5E-D29A2E5E5132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 of AI </a:t>
            </a:r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EA1C9-1125-4D1C-AFA8-2DD04CC465F7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 of AI 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1C455-CAEA-4C73-997E-A67663698C56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 of AI </a:t>
            </a:r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endParaRPr lang="en-IN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1E071-8CD4-432A-9114-2008217081A4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 of AI </a:t>
            </a:r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194F1-0AB8-4BE9-A439-7E46A5759AB1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 of AI 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CEAA3-BB41-4C03-BC4D-15B9C422D377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 of AI 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92398-1DF7-4A72-9249-49FFF57890A2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Dept. of AI &amp; ML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02257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3536B-0AF0-43FC-9687-A3A6CCFB2121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Dept. of AI &amp; ML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82256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EF65B-1CD3-4C27-85C4-98B625C36928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Dept. of AI &amp; ML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382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E16DC-6745-42F5-9E6E-F85302676B44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Dept. of AI &amp; ML</a:t>
            </a:r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402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6EC28-665F-4900-92F2-570BE0AB62F1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Dept. of AI &amp; ML</a:t>
            </a:r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14019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607A8-E8D3-43FC-A598-1EA1EA9E84C3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Dept. of AI &amp; ML</a:t>
            </a:r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387729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297E-87B1-45DD-85FA-F98211548008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Dept. of AI &amp; ML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7024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FE95E9-EC26-4467-80D4-1B9C86B4C053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Dept. of AI &amp; ML</a:t>
            </a:r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9342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endParaRPr lang="en-IN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73728-DFB1-4D64-9358-D87D7108B63C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Dept. of AI &amp; ML</a:t>
            </a:r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08583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8F4A-D1DD-4E46-B569-6CCF79D28816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Dept. of AI &amp; ML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95467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733EF-CC8A-4780-B318-8862E19F0355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Dept. of AI &amp; ML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47713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E69BA7-71E3-4D1F-8F91-3683761D03CA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Dept of AI 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155EB5-80B1-423B-B8A7-6502C7E46C6A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Dept. of AI &amp; ML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6978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3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2896" y="311608"/>
            <a:ext cx="3009122" cy="198389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946374" y="64610"/>
            <a:ext cx="2428874" cy="2419349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3617076" y="184638"/>
            <a:ext cx="11316970" cy="6419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4050" b="1" spc="-75" dirty="0">
                <a:solidFill>
                  <a:srgbClr val="FF57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Vivekananda</a:t>
            </a:r>
            <a:r>
              <a:rPr sz="4050" b="1" spc="-105" dirty="0">
                <a:solidFill>
                  <a:srgbClr val="FF57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50" b="1" spc="-60" dirty="0">
                <a:solidFill>
                  <a:srgbClr val="FF57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</a:t>
            </a:r>
            <a:r>
              <a:rPr sz="4050" b="1" spc="-105" dirty="0">
                <a:solidFill>
                  <a:srgbClr val="FF57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50" b="1" spc="90" dirty="0">
                <a:solidFill>
                  <a:srgbClr val="FF57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4050" b="1" spc="-100" dirty="0">
                <a:solidFill>
                  <a:srgbClr val="FF57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50" b="1" spc="-60" dirty="0">
                <a:solidFill>
                  <a:srgbClr val="FF57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  <a:r>
              <a:rPr sz="4050" b="1" spc="-105" dirty="0">
                <a:solidFill>
                  <a:srgbClr val="FF57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50" b="1" spc="20" dirty="0">
                <a:solidFill>
                  <a:srgbClr val="FF57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sz="4050" b="1" spc="-105" dirty="0">
                <a:solidFill>
                  <a:srgbClr val="FF57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50" b="1" spc="-55" dirty="0">
                <a:solidFill>
                  <a:srgbClr val="FF57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Technology</a:t>
            </a:r>
            <a:endParaRPr sz="405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Date Placeholder 17"/>
          <p:cNvSpPr>
            <a:spLocks noGrp="1"/>
          </p:cNvSpPr>
          <p:nvPr>
            <p:ph type="dt" sz="half" idx="10"/>
          </p:nvPr>
        </p:nvSpPr>
        <p:spPr>
          <a:xfrm>
            <a:off x="304800" y="9562895"/>
            <a:ext cx="4114800" cy="547688"/>
          </a:xfrm>
        </p:spPr>
        <p:txBody>
          <a:bodyPr/>
          <a:lstStyle/>
          <a:p>
            <a:fld id="{95CC48DC-4FB6-40C3-8F10-00DED7216493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lide Number Placeholder 1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658152" y="817764"/>
            <a:ext cx="11235055" cy="1335405"/>
          </a:xfrm>
          <a:prstGeom prst="rect">
            <a:avLst/>
          </a:prstGeom>
        </p:spPr>
        <p:txBody>
          <a:bodyPr vert="horz" wrap="square" lIns="0" tIns="62230" rIns="0" bIns="0" rtlCol="0">
            <a:spAutoFit/>
          </a:bodyPr>
          <a:lstStyle/>
          <a:p>
            <a:pPr marL="920115" marR="912495" algn="ctr">
              <a:lnSpc>
                <a:spcPts val="3300"/>
              </a:lnSpc>
              <a:spcBef>
                <a:spcPts val="490"/>
              </a:spcBef>
            </a:pPr>
            <a:r>
              <a:rPr sz="3000" spc="30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[A</a:t>
            </a:r>
            <a:r>
              <a:rPr sz="3000" spc="-70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40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Unit</a:t>
            </a:r>
            <a:r>
              <a:rPr sz="3000" spc="-65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80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3000" spc="-65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-35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Vivekananda</a:t>
            </a:r>
            <a:r>
              <a:rPr sz="3000" spc="-70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-20" dirty="0" err="1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Vidyavardhaka</a:t>
            </a:r>
            <a:r>
              <a:rPr sz="3000" spc="-65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-120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Sangha</a:t>
            </a:r>
            <a:r>
              <a:rPr lang="en-IN" sz="3000" spc="-120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sz="3000" spc="-65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100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Puttur®] </a:t>
            </a:r>
            <a:r>
              <a:rPr sz="3000" spc="-819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5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Affiliated</a:t>
            </a:r>
            <a:r>
              <a:rPr sz="3000" spc="-70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100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sz="3000" spc="-6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-70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Visvesvaraya</a:t>
            </a:r>
            <a:r>
              <a:rPr sz="3000" spc="-6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-1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Technological</a:t>
            </a:r>
            <a:r>
              <a:rPr sz="3000" spc="-6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University</a:t>
            </a:r>
            <a:r>
              <a:rPr lang="en-IN" sz="3000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Belagavi</a:t>
            </a: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ts val="3315"/>
              </a:lnSpc>
            </a:pPr>
            <a:r>
              <a:rPr sz="3000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Approved</a:t>
            </a:r>
            <a:r>
              <a:rPr sz="3000" spc="-70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r>
              <a:rPr sz="3000" spc="-6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-5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AICTE</a:t>
            </a:r>
            <a:r>
              <a:rPr sz="3000" spc="-70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New</a:t>
            </a:r>
            <a:r>
              <a:rPr sz="3000" spc="-6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Delhi</a:t>
            </a:r>
            <a:r>
              <a:rPr sz="3000" spc="-70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40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sz="3000" spc="-6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-8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Recognised</a:t>
            </a:r>
            <a:r>
              <a:rPr sz="3000" spc="-70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r>
              <a:rPr sz="3000" spc="-6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10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Govt</a:t>
            </a:r>
            <a:r>
              <a:rPr sz="3000" spc="-70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80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3000" spc="-6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15" dirty="0">
                <a:solidFill>
                  <a:srgbClr val="527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Karnataka</a:t>
            </a: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666683" y="3437487"/>
            <a:ext cx="12954635" cy="5080"/>
          </a:xfrm>
          <a:custGeom>
            <a:avLst/>
            <a:gdLst/>
            <a:ahLst/>
            <a:cxnLst/>
            <a:rect l="l" t="t" r="r" b="b"/>
            <a:pathLst>
              <a:path w="12954635" h="5079">
                <a:moveTo>
                  <a:pt x="0" y="0"/>
                </a:moveTo>
                <a:lnTo>
                  <a:pt x="12954080" y="4756"/>
                </a:lnTo>
              </a:path>
            </a:pathLst>
          </a:custGeom>
          <a:ln w="9524">
            <a:solidFill>
              <a:srgbClr val="2B2B2B"/>
            </a:solidFill>
          </a:ln>
        </p:spPr>
        <p:txBody>
          <a:bodyPr wrap="square" lIns="0" tIns="0" rIns="0" bIns="0" rtlCol="0"/>
          <a:lstStyle/>
          <a:p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981200" y="3739664"/>
            <a:ext cx="15049500" cy="1808187"/>
          </a:xfrm>
          <a:prstGeom prst="rect">
            <a:avLst/>
          </a:prstGeom>
        </p:spPr>
        <p:txBody>
          <a:bodyPr vert="horz" wrap="square" lIns="0" tIns="144780" rIns="0" bIns="0" rtlCol="0">
            <a:spAutoFit/>
          </a:bodyPr>
          <a:lstStyle/>
          <a:p>
            <a:pPr marL="12065" marR="5080" algn="ctr">
              <a:spcBef>
                <a:spcPts val="1140"/>
              </a:spcBef>
            </a:pPr>
            <a:r>
              <a:rPr lang="en-US" sz="5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“EEG-HDC” – EEG Based Hierarchical Detection &amp; Classification of Seizures. </a:t>
            </a:r>
            <a:endParaRPr lang="en-US" sz="5400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743200" y="6286500"/>
            <a:ext cx="12954635" cy="0"/>
          </a:xfrm>
          <a:custGeom>
            <a:avLst/>
            <a:gdLst/>
            <a:ahLst/>
            <a:cxnLst/>
            <a:rect l="l" t="t" r="r" b="b"/>
            <a:pathLst>
              <a:path w="12954635">
                <a:moveTo>
                  <a:pt x="0" y="0"/>
                </a:moveTo>
                <a:lnTo>
                  <a:pt x="12954083" y="0"/>
                </a:lnTo>
              </a:path>
            </a:pathLst>
          </a:custGeom>
          <a:ln w="9524">
            <a:solidFill>
              <a:srgbClr val="2B2B2B"/>
            </a:solidFill>
          </a:ln>
        </p:spPr>
        <p:txBody>
          <a:bodyPr wrap="square" lIns="0" tIns="0" rIns="0" bIns="0" rtlCol="0"/>
          <a:lstStyle/>
          <a:p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257800" y="2781300"/>
            <a:ext cx="7772400" cy="569387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0"/>
              </a:spcBef>
            </a:pPr>
            <a:r>
              <a:rPr lang="en-US" sz="3600" b="1" spc="-4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Major </a:t>
            </a:r>
            <a:r>
              <a:rPr lang="en-US" sz="3600" b="1" spc="-15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r>
              <a:rPr sz="3600" b="1" spc="-85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spc="-35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</a:t>
            </a:r>
            <a:r>
              <a:rPr sz="3600" b="1" dirty="0">
                <a:solidFill>
                  <a:srgbClr val="2B2B2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418580" y="9240944"/>
            <a:ext cx="11450839" cy="5074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222115" marR="5080" indent="-4210050">
              <a:lnSpc>
                <a:spcPct val="117000"/>
              </a:lnSpc>
              <a:spcBef>
                <a:spcPts val="95"/>
              </a:spcBef>
            </a:pPr>
            <a:r>
              <a:rPr sz="3000" b="1" spc="-12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z="3000" b="1" spc="-75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b="1" spc="-7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r>
              <a:rPr lang="en-IN" sz="3000" b="1" spc="-135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COMPUTER SCIENCE &amp; ENGINEERING </a:t>
            </a:r>
            <a:r>
              <a:rPr sz="3000" b="1" spc="8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</a:t>
            </a:r>
            <a:r>
              <a:rPr lang="en-GB" sz="3000" b="1" spc="8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sz="3000" b="1" spc="8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-2</a:t>
            </a:r>
            <a:r>
              <a:rPr lang="en-GB" sz="3000" b="1" spc="8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sz="3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1341289" y="6602778"/>
            <a:ext cx="5719228" cy="2302553"/>
          </a:xfrm>
          <a:prstGeom prst="rect">
            <a:avLst/>
          </a:prstGeom>
        </p:spPr>
        <p:txBody>
          <a:bodyPr vert="horz" wrap="square" lIns="0" tIns="6540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515"/>
              </a:spcBef>
            </a:pPr>
            <a:r>
              <a:rPr sz="25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</a:t>
            </a:r>
            <a:r>
              <a:rPr sz="25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5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endParaRPr lang="en-IN" sz="2500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515"/>
              </a:spcBef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Aashitha Prabhu B (4VP23CS001) Abhayraj Bhat N (4VP23CS002) Adithya (4VP23CS004) </a:t>
            </a:r>
          </a:p>
          <a:p>
            <a:pPr algn="ctr">
              <a:spcBef>
                <a:spcPts val="515"/>
              </a:spcBef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Ashwini (4VP23CS017)</a:t>
            </a:r>
            <a:endParaRPr lang="en-US" sz="2800" b="1" spc="-170" dirty="0">
              <a:solidFill>
                <a:srgbClr val="2B2B2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362200" y="6694113"/>
            <a:ext cx="5486400" cy="1461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500" dirty="0">
                <a:latin typeface="Times New Roman" panose="02020603050405020304" pitchFamily="18" charset="0"/>
                <a:cs typeface="Times New Roman" pitchFamily="18" charset="0"/>
              </a:rPr>
              <a:t>Guided by</a:t>
            </a:r>
          </a:p>
          <a:p>
            <a:pPr algn="ctr"/>
            <a:r>
              <a:rPr lang="en-IN" sz="36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Prof. Pradeep Kumar K G</a:t>
            </a:r>
          </a:p>
          <a:p>
            <a:pPr algn="ctr"/>
            <a:r>
              <a:rPr lang="en-IN" sz="2800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HoD</a:t>
            </a:r>
            <a:r>
              <a:rPr lang="en-US" sz="28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CSE</a:t>
            </a:r>
            <a:endParaRPr lang="en-IN" sz="2800" dirty="0">
              <a:latin typeface="Times New Roman" panose="02020603050405020304" pitchFamily="18" charset="0"/>
              <a:cs typeface="Times New Roman" pitchFamily="18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7146E2D-4D84-5024-865F-808CFE68D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7900" y="9715500"/>
            <a:ext cx="6172200" cy="649323"/>
          </a:xfrm>
        </p:spPr>
        <p:txBody>
          <a:bodyPr/>
          <a:lstStyle/>
          <a:p>
            <a:r>
              <a:rPr lang="en-IN" dirty="0"/>
              <a:t>Dept of CSE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648200" y="-17505"/>
            <a:ext cx="7899400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80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B55A0-882F-4DF6-AC3D-AF8B081A5704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43000" y="1790700"/>
            <a:ext cx="15429230" cy="57302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 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Diagram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 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1591310" y="47847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ubtitle 12"/>
          <p:cNvSpPr>
            <a:spLocks noGrp="1"/>
          </p:cNvSpPr>
          <p:nvPr>
            <p:ph type="subTitle" idx="1"/>
          </p:nvPr>
        </p:nvSpPr>
        <p:spPr>
          <a:xfrm>
            <a:off x="2057400" y="803406"/>
            <a:ext cx="13373099" cy="1295400"/>
          </a:xfrm>
        </p:spPr>
        <p:txBody>
          <a:bodyPr>
            <a:normAutofit/>
          </a:bodyPr>
          <a:lstStyle/>
          <a:p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8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A0061-5C20-4BFA-8D13-4B871A15E322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3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A1E02C-1914-30FE-57D8-DE0A13822058}"/>
              </a:ext>
            </a:extLst>
          </p:cNvPr>
          <p:cNvSpPr txBox="1"/>
          <p:nvPr/>
        </p:nvSpPr>
        <p:spPr>
          <a:xfrm>
            <a:off x="2057400" y="2705100"/>
            <a:ext cx="14249399" cy="4978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seizure is a sudden abnormal electrical activity in the brain, analyzed using EEG signals that record multi-channel brain activity. This project proposes a hierarchical deep learning framework that first detects seizure segments and then classifies them into Focal, Focal to Bilateral Tonic-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Clonic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Generalized Tonic-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Clonic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types using transfer learning to improve classification.</a:t>
            </a:r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995947" y="34946"/>
            <a:ext cx="16129000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80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BC7E-AFED-4CBD-97BE-C503EB45ECBF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4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A726F0-C610-946E-56A2-031F3392F936}"/>
              </a:ext>
            </a:extLst>
          </p:cNvPr>
          <p:cNvSpPr txBox="1"/>
          <p:nvPr/>
        </p:nvSpPr>
        <p:spPr>
          <a:xfrm>
            <a:off x="1257300" y="2324100"/>
            <a:ext cx="15773400" cy="16547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detect and accurately classify seizure events into their respective subtypes from EEG signals for clinical applications using advanced deep learning methodologies.</a:t>
            </a:r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5"/>
          <p:cNvSpPr txBox="1"/>
          <p:nvPr/>
        </p:nvSpPr>
        <p:spPr>
          <a:xfrm>
            <a:off x="508000" y="345984"/>
            <a:ext cx="17272000" cy="124393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>
            <a:lvl1pPr algn="l" defTabSz="685800" rtl="0" eaLnBrk="1" latinLnBrk="0" hangingPunct="1">
              <a:spcBef>
                <a:spcPct val="0"/>
              </a:spcBef>
              <a:buNone/>
              <a:defRPr sz="54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12700" algn="ctr">
              <a:spcBef>
                <a:spcPts val="100"/>
              </a:spcBef>
            </a:pPr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US" sz="7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053E2-D5C2-D123-A9D8-BE15FCE794E7}"/>
              </a:ext>
            </a:extLst>
          </p:cNvPr>
          <p:cNvSpPr txBox="1"/>
          <p:nvPr/>
        </p:nvSpPr>
        <p:spPr>
          <a:xfrm>
            <a:off x="1257300" y="2324100"/>
            <a:ext cx="157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B888C1-7810-2739-5CAC-34E1B6D1B1A3}"/>
              </a:ext>
            </a:extLst>
          </p:cNvPr>
          <p:cNvSpPr txBox="1"/>
          <p:nvPr/>
        </p:nvSpPr>
        <p:spPr>
          <a:xfrm>
            <a:off x="1257301" y="2324100"/>
            <a:ext cx="15773399" cy="4978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acquire and preprocess EEG datasets through signal cleaning, filtering,      normalization, and segmentation. </a:t>
            </a:r>
          </a:p>
          <a:p>
            <a:pPr marL="571500" indent="-5715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hierarchical deep learning framework for seizure detection and subsequent seizure subtype classification using transfer learning. </a:t>
            </a:r>
          </a:p>
          <a:p>
            <a:pPr marL="571500" indent="-5715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hybrid model and evaluate an automated multi-class seizure subtype classification system using subject-wise validation metrics.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1ADE3A-A6E4-A7EF-C734-C8F656BDF3F6}"/>
              </a:ext>
            </a:extLst>
          </p:cNvPr>
          <p:cNvGraphicFramePr>
            <a:graphicFrameLocks noGrp="1"/>
          </p:cNvGraphicFramePr>
          <p:nvPr/>
        </p:nvGraphicFramePr>
        <p:xfrm>
          <a:off x="1225486" y="0"/>
          <a:ext cx="15700343" cy="10328955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92471">
                  <a:extLst>
                    <a:ext uri="{9D8B030D-6E8A-4147-A177-3AD203B41FA5}">
                      <a16:colId xmlns:a16="http://schemas.microsoft.com/office/drawing/2014/main" val="651827391"/>
                    </a:ext>
                  </a:extLst>
                </a:gridCol>
                <a:gridCol w="4654031">
                  <a:extLst>
                    <a:ext uri="{9D8B030D-6E8A-4147-A177-3AD203B41FA5}">
                      <a16:colId xmlns:a16="http://schemas.microsoft.com/office/drawing/2014/main" val="1924237251"/>
                    </a:ext>
                  </a:extLst>
                </a:gridCol>
                <a:gridCol w="5102610">
                  <a:extLst>
                    <a:ext uri="{9D8B030D-6E8A-4147-A177-3AD203B41FA5}">
                      <a16:colId xmlns:a16="http://schemas.microsoft.com/office/drawing/2014/main" val="2840725733"/>
                    </a:ext>
                  </a:extLst>
                </a:gridCol>
                <a:gridCol w="4551231">
                  <a:extLst>
                    <a:ext uri="{9D8B030D-6E8A-4147-A177-3AD203B41FA5}">
                      <a16:colId xmlns:a16="http://schemas.microsoft.com/office/drawing/2014/main" val="2793465331"/>
                    </a:ext>
                  </a:extLst>
                </a:gridCol>
              </a:tblGrid>
              <a:tr h="42872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Sl. No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Reference Paper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Advantages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Limitations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078363"/>
                  </a:ext>
                </a:extLst>
              </a:tr>
              <a:tr h="2791295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1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N. </a:t>
                      </a:r>
                      <a:r>
                        <a:rPr lang="en-IN" sz="2100" dirty="0" err="1">
                          <a:effectLst/>
                        </a:rPr>
                        <a:t>Ilakiyaselvan</a:t>
                      </a:r>
                      <a:r>
                        <a:rPr lang="en-IN" sz="2100" dirty="0">
                          <a:effectLst/>
                        </a:rPr>
                        <a:t>, A. </a:t>
                      </a:r>
                      <a:r>
                        <a:rPr lang="en-IN" sz="2100" dirty="0" err="1">
                          <a:effectLst/>
                        </a:rPr>
                        <a:t>Nayeemulla</a:t>
                      </a:r>
                      <a:r>
                        <a:rPr lang="en-IN" sz="2100" dirty="0">
                          <a:effectLst/>
                        </a:rPr>
                        <a:t> Khan, and A. Shahina - Deep learning approach to detect seizure using reconstructed phase space images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Effectively captures nonlinear EEG dynamics and achieves high accuracy (~98.5%). The use of RPS with CNN improves representation of complex patterns.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Requires conversion of signals into images, increasing preprocessing steps. This adds computational overhead and complexity to the pipeline.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9553568"/>
                  </a:ext>
                </a:extLst>
              </a:tr>
              <a:tr h="37891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2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S. Srinivasan, </a:t>
                      </a:r>
                      <a:r>
                        <a:rPr lang="en-IN" sz="2100" dirty="0" err="1">
                          <a:effectLst/>
                        </a:rPr>
                        <a:t>Sundaranarayana</a:t>
                      </a:r>
                      <a:r>
                        <a:rPr lang="en-IN" sz="2100" dirty="0">
                          <a:effectLst/>
                        </a:rPr>
                        <a:t> </a:t>
                      </a:r>
                      <a:r>
                        <a:rPr lang="en-IN" sz="2100" dirty="0" err="1">
                          <a:effectLst/>
                        </a:rPr>
                        <a:t>Dayalane</a:t>
                      </a:r>
                      <a:r>
                        <a:rPr lang="en-IN" sz="2100" dirty="0">
                          <a:effectLst/>
                        </a:rPr>
                        <a:t>, Sandeep Kumar Mathivanan, Hariharan Rajadurai, Prabhu Jayagopal, and </a:t>
                      </a:r>
                      <a:r>
                        <a:rPr lang="en-IN" sz="2100" dirty="0" err="1">
                          <a:effectLst/>
                        </a:rPr>
                        <a:t>Gemmachis</a:t>
                      </a:r>
                      <a:r>
                        <a:rPr lang="en-IN" sz="2100" dirty="0">
                          <a:effectLst/>
                        </a:rPr>
                        <a:t> </a:t>
                      </a:r>
                      <a:r>
                        <a:rPr lang="en-IN" sz="2100" dirty="0" err="1">
                          <a:effectLst/>
                        </a:rPr>
                        <a:t>Teshite</a:t>
                      </a:r>
                      <a:r>
                        <a:rPr lang="en-IN" sz="2100" dirty="0">
                          <a:effectLst/>
                        </a:rPr>
                        <a:t> Dalu - Detection and classification of adult epilepsy using hybrid deep learning approach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3D-DCAE + Bi-LSTM achieved very high performance (≈99.08% accuracy, 99.16% F1) on CHB-MIT paediatric EEG. The end-to-end supervised autoencoder is trained once, reducing parameters via convolutional layers and compressing EEG into a low-dimensional latent space for a compact, high-precision classifier.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Evaluated only on the CHB-MIT dataset (23 paediatric patients), so its performance on adult or larger cohorts is untested. It performs only binary (ictal vs. interictal) classification, ignoring multiple seizure types and pre-ictal states, which may limit clinical applicability.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495397"/>
                  </a:ext>
                </a:extLst>
              </a:tr>
              <a:tr h="331973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3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Hezam Albaqami, G. M. Hassan, and A. Datta - Wavelet-Based Multi-Class Seizure Type Classification System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Using TUH EEG Seizure Corpus (TUSZ v1.5.2) (3050 seizures, 300+ patients), the method classifies seven seizure types with ~96.0% accuracy and 99.1% weighted F1 (seizure-wise). DTCWT features with </a:t>
                      </a:r>
                      <a:r>
                        <a:rPr lang="en-IN" sz="2100" dirty="0" err="1">
                          <a:effectLst/>
                        </a:rPr>
                        <a:t>LightGBM</a:t>
                      </a:r>
                      <a:r>
                        <a:rPr lang="en-IN" sz="2100" dirty="0">
                          <a:effectLst/>
                        </a:rPr>
                        <a:t> set a new benchmark, outperforming prior methods.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Patient-wise evaluation drops to 74.7% F1, indicating poor cross-subject generalization. The method uses fixed wavelet features with </a:t>
                      </a:r>
                      <a:r>
                        <a:rPr lang="en-IN" sz="2100" dirty="0" err="1">
                          <a:effectLst/>
                        </a:rPr>
                        <a:t>LightGBM</a:t>
                      </a:r>
                      <a:r>
                        <a:rPr lang="en-IN" sz="2100" dirty="0">
                          <a:effectLst/>
                        </a:rPr>
                        <a:t>, lacks end-to-end learning, and is not validated on independent or noisy datasets.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3284" marR="10328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4160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8693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C29CA77-0030-3C0B-0DB9-D9F194AEEA55}"/>
              </a:ext>
            </a:extLst>
          </p:cNvPr>
          <p:cNvGraphicFramePr>
            <a:graphicFrameLocks noGrp="1"/>
          </p:cNvGraphicFramePr>
          <p:nvPr/>
        </p:nvGraphicFramePr>
        <p:xfrm>
          <a:off x="1126503" y="-76963"/>
          <a:ext cx="16034995" cy="10441019"/>
        </p:xfrm>
        <a:graphic>
          <a:graphicData uri="http://schemas.openxmlformats.org/drawingml/2006/table">
            <a:tbl>
              <a:tblPr bandRow="1">
                <a:tableStyleId>{9D7B26C5-4107-4FEC-AEDC-1716B250A1EF}</a:tableStyleId>
              </a:tblPr>
              <a:tblGrid>
                <a:gridCol w="919301">
                  <a:extLst>
                    <a:ext uri="{9D8B030D-6E8A-4147-A177-3AD203B41FA5}">
                      <a16:colId xmlns:a16="http://schemas.microsoft.com/office/drawing/2014/main" val="1546369819"/>
                    </a:ext>
                  </a:extLst>
                </a:gridCol>
                <a:gridCol w="5217552">
                  <a:extLst>
                    <a:ext uri="{9D8B030D-6E8A-4147-A177-3AD203B41FA5}">
                      <a16:colId xmlns:a16="http://schemas.microsoft.com/office/drawing/2014/main" val="3742099705"/>
                    </a:ext>
                  </a:extLst>
                </a:gridCol>
                <a:gridCol w="5217737">
                  <a:extLst>
                    <a:ext uri="{9D8B030D-6E8A-4147-A177-3AD203B41FA5}">
                      <a16:colId xmlns:a16="http://schemas.microsoft.com/office/drawing/2014/main" val="1073700293"/>
                    </a:ext>
                  </a:extLst>
                </a:gridCol>
                <a:gridCol w="4680405">
                  <a:extLst>
                    <a:ext uri="{9D8B030D-6E8A-4147-A177-3AD203B41FA5}">
                      <a16:colId xmlns:a16="http://schemas.microsoft.com/office/drawing/2014/main" val="3777468159"/>
                    </a:ext>
                  </a:extLst>
                </a:gridCol>
              </a:tblGrid>
              <a:tr h="1767072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b="0" dirty="0">
                          <a:effectLst/>
                        </a:rPr>
                        <a:t>4</a:t>
                      </a:r>
                      <a:endParaRPr lang="en-IN" sz="2100" b="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b="0" dirty="0">
                          <a:effectLst/>
                        </a:rPr>
                        <a:t>A. </a:t>
                      </a:r>
                      <a:r>
                        <a:rPr lang="en-IN" sz="2100" b="0" dirty="0" err="1">
                          <a:effectLst/>
                        </a:rPr>
                        <a:t>Abdelhameed</a:t>
                      </a:r>
                      <a:r>
                        <a:rPr lang="en-IN" sz="2100" b="0" dirty="0">
                          <a:effectLst/>
                        </a:rPr>
                        <a:t> and M. Bayoumi - A Deep Learning Approach for Automatic Seizure Detection in Children With Epilepsy</a:t>
                      </a:r>
                      <a:endParaRPr lang="en-IN" sz="2100" b="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b="0" dirty="0">
                          <a:effectLst/>
                        </a:rPr>
                        <a:t>Achieves high accuracy (~98.8%) with automatic feature learning. Requires minimal preprocessing using deep learning models.</a:t>
                      </a:r>
                      <a:endParaRPr lang="en-IN" sz="2100" b="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b="0" dirty="0">
                          <a:effectLst/>
                        </a:rPr>
                        <a:t>Performance is dataset-specific and may not generalize well. High computational cost limits practical deployment.</a:t>
                      </a:r>
                      <a:endParaRPr lang="en-IN" sz="2100" b="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473710"/>
                  </a:ext>
                </a:extLst>
              </a:tr>
              <a:tr h="2829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5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M. </a:t>
                      </a:r>
                      <a:r>
                        <a:rPr lang="en-IN" sz="2100" dirty="0" err="1">
                          <a:effectLst/>
                        </a:rPr>
                        <a:t>Guendelman</a:t>
                      </a:r>
                      <a:r>
                        <a:rPr lang="en-IN" sz="2100" dirty="0">
                          <a:effectLst/>
                        </a:rPr>
                        <a:t>, R. </a:t>
                      </a:r>
                      <a:r>
                        <a:rPr lang="en-IN" sz="2100" dirty="0" err="1">
                          <a:effectLst/>
                        </a:rPr>
                        <a:t>Vekslar</a:t>
                      </a:r>
                      <a:r>
                        <a:rPr lang="en-IN" sz="2100" dirty="0">
                          <a:effectLst/>
                        </a:rPr>
                        <a:t>, and O. Shriki - A New Perspective in Epileptic Seizure Classification: Applying the Taxonomy of Seizure Dynamo types to Non-invasive EEG and Examining Dynamical Changes across Sleep Stages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Provides interpretable seizure dynamics and links them with sleep stages. Offers a scalable and explainable </a:t>
                      </a:r>
                      <a:r>
                        <a:rPr lang="en-IN" sz="2100" dirty="0" err="1">
                          <a:effectLst/>
                        </a:rPr>
                        <a:t>modeling</a:t>
                      </a:r>
                      <a:r>
                        <a:rPr lang="en-IN" sz="2100" dirty="0">
                          <a:effectLst/>
                        </a:rPr>
                        <a:t> approach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Depends on manual </a:t>
                      </a:r>
                      <a:r>
                        <a:rPr lang="en-IN" sz="2100" dirty="0" err="1">
                          <a:effectLst/>
                        </a:rPr>
                        <a:t>labeling</a:t>
                      </a:r>
                      <a:r>
                        <a:rPr lang="en-IN" sz="2100" dirty="0">
                          <a:effectLst/>
                        </a:rPr>
                        <a:t> which increases effort. Performance is sensitive to noise in EEG signals.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7681452"/>
                  </a:ext>
                </a:extLst>
              </a:tr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6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M. K. Siddiqui, R. Morales-Menendez, X. Huang, and N. Hussain - A review of epileptic seizure detection using machine learning classifiers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Gives a comprehensive comparison of classifiers and identifies strong models. Helps understand effectiveness of traditional ML techniques.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Lacks experimental validation to support conclusions. Limited focus on deep learning approaches.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3058147"/>
                  </a:ext>
                </a:extLst>
              </a:tr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7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Y. Yuan et al. - A Transformer‐Based Framework With Data Augmentation for Robust Seizure Detection Across Invasive and Non-invasive Neural Recordings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Provides high generalization and eliminates need for manual feature extraction. Uses attention mechanisms effectively with augmented data.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Sensitive to noise in EEG signals. High computational cost makes it resource intensive.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0742411"/>
                  </a:ext>
                </a:extLst>
              </a:tr>
              <a:tr h="210703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8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P. A. Akor, G. Enemali, U. Muhammad, R. R. Singh, and H. Larijani - An Attention-Residual Convolutional Network for Real-Time Seizure Classification on Edge Devices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Achieves very high accuracy and supports real-time edge deployment. Combines attention and residual learning for efficient performance.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Relies on handcrafted features which limits automation. Feature dependency may affect scalability.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29558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1809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037639B-F502-81FD-3F08-8FF591537F38}"/>
              </a:ext>
            </a:extLst>
          </p:cNvPr>
          <p:cNvGraphicFramePr>
            <a:graphicFrameLocks noGrp="1"/>
          </p:cNvGraphicFramePr>
          <p:nvPr/>
        </p:nvGraphicFramePr>
        <p:xfrm>
          <a:off x="1484721" y="153601"/>
          <a:ext cx="15115886" cy="9833295"/>
        </p:xfrm>
        <a:graphic>
          <a:graphicData uri="http://schemas.openxmlformats.org/drawingml/2006/table">
            <a:tbl>
              <a:tblPr bandRow="1">
                <a:tableStyleId>{616DA210-FB5B-4158-B5E0-FEB733F419BA}</a:tableStyleId>
              </a:tblPr>
              <a:tblGrid>
                <a:gridCol w="919115">
                  <a:extLst>
                    <a:ext uri="{9D8B030D-6E8A-4147-A177-3AD203B41FA5}">
                      <a16:colId xmlns:a16="http://schemas.microsoft.com/office/drawing/2014/main" val="2913860750"/>
                    </a:ext>
                  </a:extLst>
                </a:gridCol>
                <a:gridCol w="5019773">
                  <a:extLst>
                    <a:ext uri="{9D8B030D-6E8A-4147-A177-3AD203B41FA5}">
                      <a16:colId xmlns:a16="http://schemas.microsoft.com/office/drawing/2014/main" val="2873695081"/>
                    </a:ext>
                  </a:extLst>
                </a:gridCol>
                <a:gridCol w="4553147">
                  <a:extLst>
                    <a:ext uri="{9D8B030D-6E8A-4147-A177-3AD203B41FA5}">
                      <a16:colId xmlns:a16="http://schemas.microsoft.com/office/drawing/2014/main" val="1812397582"/>
                    </a:ext>
                  </a:extLst>
                </a:gridCol>
                <a:gridCol w="4623851">
                  <a:extLst>
                    <a:ext uri="{9D8B030D-6E8A-4147-A177-3AD203B41FA5}">
                      <a16:colId xmlns:a16="http://schemas.microsoft.com/office/drawing/2014/main" val="4197723038"/>
                    </a:ext>
                  </a:extLst>
                </a:gridCol>
              </a:tblGrid>
              <a:tr h="235067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  <a:latin typeface="+mn-lt"/>
                        </a:rPr>
                        <a:t>10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  <a:latin typeface="+mn-lt"/>
                        </a:rPr>
                        <a:t>A. Ulate-Campos, F. Coughlin, M. Gaínza-Lein, I. S. Fernández, P. L. Pearl, and T. Loddenkemper - Automated seizure detection systems and their effectiveness for each type of seizure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  <a:latin typeface="+mn-lt"/>
                        </a:rPr>
                        <a:t>Offers practical insights using multi-sensor systems like EEG and ECG. Helps in selecting suitable devices for detection.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  <a:latin typeface="+mn-lt"/>
                        </a:rPr>
                        <a:t>Does not provide a unified detection framework. Integration across systems remains unclear.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extLst>
                  <a:ext uri="{0D108BD9-81ED-4DB2-BD59-A6C34878D82A}">
                    <a16:rowId xmlns:a16="http://schemas.microsoft.com/office/drawing/2014/main" val="312081524"/>
                  </a:ext>
                </a:extLst>
              </a:tr>
              <a:tr h="139055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  <a:latin typeface="+mn-lt"/>
                        </a:rPr>
                        <a:t>11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  <a:latin typeface="+mn-lt"/>
                        </a:rPr>
                        <a:t>U. R. Acharya, Y. Hagiwara, and H. Adeli - Automated seizure prediction	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  <a:latin typeface="+mn-lt"/>
                        </a:rPr>
                        <a:t>Covers advanced prediction techniques using ML models. Explores feature engineering for improved forecasting.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  <a:latin typeface="+mn-lt"/>
                        </a:rPr>
                        <a:t>Reliability is lower compared to detection systems. Prediction accuracy is still a major challenge.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extLst>
                  <a:ext uri="{0D108BD9-81ED-4DB2-BD59-A6C34878D82A}">
                    <a16:rowId xmlns:a16="http://schemas.microsoft.com/office/drawing/2014/main" val="2712003409"/>
                  </a:ext>
                </a:extLst>
              </a:tr>
              <a:tr h="187061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  <a:latin typeface="+mn-lt"/>
                        </a:rPr>
                        <a:t>12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  <a:latin typeface="+mn-lt"/>
                        </a:rPr>
                        <a:t>X. Wei, L. Zhou, Z. Chen, L. Zhang, and Y. Zhou  - Automatic seizure detection using three-dimensional CNN based on multi-channel EEG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  <a:latin typeface="+mn-lt"/>
                        </a:rPr>
                        <a:t>Captures spatial and temporal EEG features effectively. Improves detection using multi-channel modeling.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  <a:latin typeface="+mn-lt"/>
                        </a:rPr>
                        <a:t>Requires complex data representation and processing. Increases computational burden significantly.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extLst>
                  <a:ext uri="{0D108BD9-81ED-4DB2-BD59-A6C34878D82A}">
                    <a16:rowId xmlns:a16="http://schemas.microsoft.com/office/drawing/2014/main" val="1889760409"/>
                  </a:ext>
                </a:extLst>
              </a:tr>
              <a:tr h="235067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  <a:latin typeface="+mn-lt"/>
                        </a:rPr>
                        <a:t>13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  <a:latin typeface="+mn-lt"/>
                        </a:rPr>
                        <a:t>R. San-Segundo, M. Gil-Martín, L. F. D’Haro-Enríquez, and J. M. Pardo - Classification of epileptic EEG recordings using signal transforms and convolutional neural networks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  <a:latin typeface="+mn-lt"/>
                        </a:rPr>
                        <a:t>Achieves very high accuracy (~99.5%) using hybrid techniques. Combines signal transforms with deep learning effectively.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  <a:latin typeface="+mn-lt"/>
                        </a:rPr>
                        <a:t>Strong dependence on preprocessing techniques. Performance varies based on transform quality.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extLst>
                  <a:ext uri="{0D108BD9-81ED-4DB2-BD59-A6C34878D82A}">
                    <a16:rowId xmlns:a16="http://schemas.microsoft.com/office/drawing/2014/main" val="3733505504"/>
                  </a:ext>
                </a:extLst>
              </a:tr>
              <a:tr h="187061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  <a:latin typeface="+mn-lt"/>
                        </a:rPr>
                        <a:t>14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  <a:latin typeface="+mn-lt"/>
                        </a:rPr>
                        <a:t>Y. Wang, Y. Shi, Z. He, Z. Chen, and Y. Zhou - Combining temporal and spatial attention for seizure prediction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  <a:latin typeface="+mn-lt"/>
                        </a:rPr>
                        <a:t>Captures both spatial and temporal dependencies in EEG data. Achieves high accuracy (98.25%) with very low false positives.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  <a:latin typeface="+mn-lt"/>
                        </a:rPr>
                        <a:t>Model complexity is high due to combined architectures. Requires structured multi-channel EEG data.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6248" marR="76248" marT="0" marB="0"/>
                </a:tc>
                <a:extLst>
                  <a:ext uri="{0D108BD9-81ED-4DB2-BD59-A6C34878D82A}">
                    <a16:rowId xmlns:a16="http://schemas.microsoft.com/office/drawing/2014/main" val="2236805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61269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C03ED9-2537-1182-5E26-AA25E53C2930}"/>
              </a:ext>
            </a:extLst>
          </p:cNvPr>
          <p:cNvGraphicFramePr>
            <a:graphicFrameLocks noGrp="1"/>
          </p:cNvGraphicFramePr>
          <p:nvPr/>
        </p:nvGraphicFramePr>
        <p:xfrm>
          <a:off x="1480009" y="33714"/>
          <a:ext cx="15327984" cy="10253472"/>
        </p:xfrm>
        <a:graphic>
          <a:graphicData uri="http://schemas.openxmlformats.org/drawingml/2006/table">
            <a:tbl>
              <a:tblPr bandRow="1">
                <a:tableStyleId>{616DA210-FB5B-4158-B5E0-FEB733F419BA}</a:tableStyleId>
              </a:tblPr>
              <a:tblGrid>
                <a:gridCol w="947394">
                  <a:extLst>
                    <a:ext uri="{9D8B030D-6E8A-4147-A177-3AD203B41FA5}">
                      <a16:colId xmlns:a16="http://schemas.microsoft.com/office/drawing/2014/main" val="3861301479"/>
                    </a:ext>
                  </a:extLst>
                </a:gridCol>
                <a:gridCol w="5161175">
                  <a:extLst>
                    <a:ext uri="{9D8B030D-6E8A-4147-A177-3AD203B41FA5}">
                      <a16:colId xmlns:a16="http://schemas.microsoft.com/office/drawing/2014/main" val="127158098"/>
                    </a:ext>
                  </a:extLst>
                </a:gridCol>
                <a:gridCol w="4666268">
                  <a:extLst>
                    <a:ext uri="{9D8B030D-6E8A-4147-A177-3AD203B41FA5}">
                      <a16:colId xmlns:a16="http://schemas.microsoft.com/office/drawing/2014/main" val="2549330279"/>
                    </a:ext>
                  </a:extLst>
                </a:gridCol>
                <a:gridCol w="4553147">
                  <a:extLst>
                    <a:ext uri="{9D8B030D-6E8A-4147-A177-3AD203B41FA5}">
                      <a16:colId xmlns:a16="http://schemas.microsoft.com/office/drawing/2014/main" val="2105090220"/>
                    </a:ext>
                  </a:extLst>
                </a:gridCol>
              </a:tblGrid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15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L. Bai, G. Litscher, and X. Li - Epileptic Seizure Detection Using Machine Learning: A Systematic Review and Meta-Analysis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Improves performance through model fusion techniques. Achieves good accuracy (~96.17%).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Ensemble increases model complexity. Generalization analysis is limited.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extLst>
                  <a:ext uri="{0D108BD9-81ED-4DB2-BD59-A6C34878D82A}">
                    <a16:rowId xmlns:a16="http://schemas.microsoft.com/office/drawing/2014/main" val="593183952"/>
                  </a:ext>
                </a:extLst>
              </a:tr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16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I. Jemal, L. Abou-Abbas, Khadidja Henni, Amar </a:t>
                      </a:r>
                      <a:r>
                        <a:rPr lang="en-IN" sz="2100" dirty="0" err="1">
                          <a:effectLst/>
                        </a:rPr>
                        <a:t>Mitiche</a:t>
                      </a:r>
                      <a:r>
                        <a:rPr lang="en-IN" sz="2100" dirty="0">
                          <a:effectLst/>
                        </a:rPr>
                        <a:t>, and Neila </a:t>
                      </a:r>
                      <a:r>
                        <a:rPr lang="en-IN" sz="2100" dirty="0" err="1">
                          <a:effectLst/>
                        </a:rPr>
                        <a:t>Mezghani</a:t>
                      </a:r>
                      <a:r>
                        <a:rPr lang="en-IN" sz="2100" dirty="0">
                          <a:effectLst/>
                        </a:rPr>
                        <a:t> - Domain adaptation for EEG-based, cross-subject epileptic seizure prediction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Improves generalization across different patients. Achieves ~10% accuracy improvement.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Still affected by domain shift issues. Requires large multi-patient datasets.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extLst>
                  <a:ext uri="{0D108BD9-81ED-4DB2-BD59-A6C34878D82A}">
                    <a16:rowId xmlns:a16="http://schemas.microsoft.com/office/drawing/2014/main" val="4090872616"/>
                  </a:ext>
                </a:extLst>
              </a:tr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17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B. Priya </a:t>
                      </a:r>
                      <a:r>
                        <a:rPr lang="en-IN" sz="2100" dirty="0" err="1">
                          <a:effectLst/>
                        </a:rPr>
                        <a:t>Prathaban</a:t>
                      </a:r>
                      <a:r>
                        <a:rPr lang="en-IN" sz="2100" dirty="0">
                          <a:effectLst/>
                        </a:rPr>
                        <a:t> and R. Balasubramanian - Dynamic learning framework for epileptic seizure prediction using sparsity based EEG Reconstruction with Optimized CNN classifier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Provides high performance (~98% accuracy) and early prediction (~1.1 hr prior). Reduces false positives significantly.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Pipeline is complex with multiple stages. Computational cost is high due to processing steps.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extLst>
                  <a:ext uri="{0D108BD9-81ED-4DB2-BD59-A6C34878D82A}">
                    <a16:rowId xmlns:a16="http://schemas.microsoft.com/office/drawing/2014/main" val="3081873428"/>
                  </a:ext>
                </a:extLst>
              </a:tr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18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S. Raghu, N. Sriraam, Y. Temel, S. V. Rao, and P. L. Kubben - EEG based multi-class seizure type classification using convolutional neural network and transfer learning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Enables effective multi-class classification using pretrained models like </a:t>
                      </a:r>
                      <a:r>
                        <a:rPr lang="en-IN" sz="2100" dirty="0" err="1">
                          <a:effectLst/>
                        </a:rPr>
                        <a:t>AlexNet</a:t>
                      </a:r>
                      <a:r>
                        <a:rPr lang="en-IN" sz="2100" dirty="0">
                          <a:effectLst/>
                        </a:rPr>
                        <a:t> and InceptionV3. Improves learning efficiency through transfer learning techniques.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Achieves only moderate accuracy (~88%) compared to advanced models. Requires spectrogram conversion which adds preprocessing complexity.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extLst>
                  <a:ext uri="{0D108BD9-81ED-4DB2-BD59-A6C34878D82A}">
                    <a16:rowId xmlns:a16="http://schemas.microsoft.com/office/drawing/2014/main" val="3194480942"/>
                  </a:ext>
                </a:extLst>
              </a:tr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19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S. Wong et al. - EEG datasets for seizure detection and prediction— A review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Improves dataset selection and enhances reproducibility in research. Provides useful insights into ML pipeline design.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Does not include experimental validation of methods. Relies entirely on existing studies and datasets.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2090" marR="62090" marT="0" marB="0"/>
                </a:tc>
                <a:extLst>
                  <a:ext uri="{0D108BD9-81ED-4DB2-BD59-A6C34878D82A}">
                    <a16:rowId xmlns:a16="http://schemas.microsoft.com/office/drawing/2014/main" val="943579653"/>
                  </a:ext>
                </a:extLst>
              </a:tr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  <a:r>
                        <a:rPr lang="en-IN" sz="210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solidFill>
                            <a:srgbClr val="000000"/>
                          </a:solidFill>
                          <a:effectLst/>
                        </a:rPr>
                        <a:t>A. A. Ein Shoka, M. M. Dessouky, A. El-Sayed, and E. E.-D. Hemdan - EEG seizure detection: concepts, techniques, challenges, and future trends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solidFill>
                            <a:srgbClr val="000000"/>
                          </a:solidFill>
                          <a:effectLst/>
                        </a:rPr>
                        <a:t>Offers a comprehensive overview of detection pipelines and techniques. Identifies key challenges and future research directions.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solidFill>
                            <a:srgbClr val="000000"/>
                          </a:solidFill>
                          <a:effectLst/>
                        </a:rPr>
                        <a:t>Lacks quantitative benchmarking for comparison. Does not provide experimental performance results.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extLst>
                  <a:ext uri="{0D108BD9-81ED-4DB2-BD59-A6C34878D82A}">
                    <a16:rowId xmlns:a16="http://schemas.microsoft.com/office/drawing/2014/main" val="34422309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94821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0EA6F27-4AF7-BCC3-3EC9-3D960F192318}"/>
              </a:ext>
            </a:extLst>
          </p:cNvPr>
          <p:cNvGraphicFramePr>
            <a:graphicFrameLocks noGrp="1"/>
          </p:cNvGraphicFramePr>
          <p:nvPr/>
        </p:nvGraphicFramePr>
        <p:xfrm>
          <a:off x="1515359" y="496917"/>
          <a:ext cx="15257283" cy="9293352"/>
        </p:xfrm>
        <a:graphic>
          <a:graphicData uri="http://schemas.openxmlformats.org/drawingml/2006/table">
            <a:tbl>
              <a:tblPr bandRow="1">
                <a:tableStyleId>{616DA210-FB5B-4158-B5E0-FEB733F419BA}</a:tableStyleId>
              </a:tblPr>
              <a:tblGrid>
                <a:gridCol w="933254">
                  <a:extLst>
                    <a:ext uri="{9D8B030D-6E8A-4147-A177-3AD203B41FA5}">
                      <a16:colId xmlns:a16="http://schemas.microsoft.com/office/drawing/2014/main" val="822271968"/>
                    </a:ext>
                  </a:extLst>
                </a:gridCol>
                <a:gridCol w="5302577">
                  <a:extLst>
                    <a:ext uri="{9D8B030D-6E8A-4147-A177-3AD203B41FA5}">
                      <a16:colId xmlns:a16="http://schemas.microsoft.com/office/drawing/2014/main" val="1437616785"/>
                    </a:ext>
                  </a:extLst>
                </a:gridCol>
                <a:gridCol w="4723865">
                  <a:extLst>
                    <a:ext uri="{9D8B030D-6E8A-4147-A177-3AD203B41FA5}">
                      <a16:colId xmlns:a16="http://schemas.microsoft.com/office/drawing/2014/main" val="2750511826"/>
                    </a:ext>
                  </a:extLst>
                </a:gridCol>
                <a:gridCol w="4297587">
                  <a:extLst>
                    <a:ext uri="{9D8B030D-6E8A-4147-A177-3AD203B41FA5}">
                      <a16:colId xmlns:a16="http://schemas.microsoft.com/office/drawing/2014/main" val="3673034174"/>
                    </a:ext>
                  </a:extLst>
                </a:gridCol>
              </a:tblGrid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21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W. Cao, Q. Li, A. Zhang, and T. Wang - Efficient and Accurate Epilepsy Seizure Prediction and Detection Based on Multi-Teacher Knowledge Distillation RGF-Model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Achieves very high accuracy (99%+) with lightweight and real-time capability. Efficiently transfers knowledge across models.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Architecture is complex and difficult to design. Implementation may require careful tuning and optimization.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extLst>
                  <a:ext uri="{0D108BD9-81ED-4DB2-BD59-A6C34878D82A}">
                    <a16:rowId xmlns:a16="http://schemas.microsoft.com/office/drawing/2014/main" val="2233087765"/>
                  </a:ext>
                </a:extLst>
              </a:tr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22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N. McCallan et al. - Epileptic multi-seizure type classification using electroencephalogram signals from the Temple University Hospital Seizure Corpus: A review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Highlights best-performing deep learning models for seizure classification. Provides comparative insights across multiple approaches.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Lacks standardization across studies and datasets. Results may not be directly comparable.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extLst>
                  <a:ext uri="{0D108BD9-81ED-4DB2-BD59-A6C34878D82A}">
                    <a16:rowId xmlns:a16="http://schemas.microsoft.com/office/drawing/2014/main" val="305500094"/>
                  </a:ext>
                </a:extLst>
              </a:tr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23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M. Zhou et al. - Epileptic Seizure Detection Based on EEG Signals and CNN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Achieves high accuracy (~97%) without manual feature extraction. Learns features directly from raw EEG signals.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Performance depends heavily on signal representation. Different domains may affect accuracy.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extLst>
                  <a:ext uri="{0D108BD9-81ED-4DB2-BD59-A6C34878D82A}">
                    <a16:rowId xmlns:a16="http://schemas.microsoft.com/office/drawing/2014/main" val="1263144592"/>
                  </a:ext>
                </a:extLst>
              </a:tr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24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A. T. Tzallas, M. G. Tsipouras, and D. I. Fotiadis - Epileptic Seizure Detection in EEGs Using Time–Frequency Analysis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Effectively handles non-stationary EEG signals using time-frequency methods. Improves feature representation quality.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Feature extraction pipeline is complex and time-consuming. Requires multiple transformation steps.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extLst>
                  <a:ext uri="{0D108BD9-81ED-4DB2-BD59-A6C34878D82A}">
                    <a16:rowId xmlns:a16="http://schemas.microsoft.com/office/drawing/2014/main" val="2324173715"/>
                  </a:ext>
                </a:extLst>
              </a:tr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25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A. Subasi, J. Kevric, and M. Abdullah Canbaz - Epileptic seizure detection using hybrid machine learning methods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Achieves very high accuracy (~99.38%) with optimized parameters. Combines DWT and SVM effectively.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Requires handcrafted features which limit automation. Model performance depends on feature quality.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88680" marR="88680" marT="0" marB="0"/>
                </a:tc>
                <a:extLst>
                  <a:ext uri="{0D108BD9-81ED-4DB2-BD59-A6C34878D82A}">
                    <a16:rowId xmlns:a16="http://schemas.microsoft.com/office/drawing/2014/main" val="1442621700"/>
                  </a:ext>
                </a:extLst>
              </a:tr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solidFill>
                            <a:srgbClr val="000000"/>
                          </a:solidFill>
                          <a:effectLst/>
                        </a:rPr>
                        <a:t>26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solidFill>
                            <a:srgbClr val="000000"/>
                          </a:solidFill>
                          <a:effectLst/>
                        </a:rPr>
                        <a:t>M. S. Farooq, A. Zulfiqar, and S. Riaz - Epileptic Seizure Detection Using Machine Learning: Taxonomy, Opportunities, and Challenges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solidFill>
                            <a:srgbClr val="000000"/>
                          </a:solidFill>
                          <a:effectLst/>
                        </a:rPr>
                        <a:t>Provides a comprehensive taxonomy and identifies research gaps. Helps guide future work in seizure detection.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solidFill>
                            <a:srgbClr val="000000"/>
                          </a:solidFill>
                          <a:effectLst/>
                        </a:rPr>
                        <a:t>Does not include experimental validation. Focus remains theoretical and descriptive.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extLst>
                  <a:ext uri="{0D108BD9-81ED-4DB2-BD59-A6C34878D82A}">
                    <a16:rowId xmlns:a16="http://schemas.microsoft.com/office/drawing/2014/main" val="19187071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8946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BF4022-8D1A-F566-8E3E-DDFB7F3AA85A}"/>
              </a:ext>
            </a:extLst>
          </p:cNvPr>
          <p:cNvGraphicFramePr>
            <a:graphicFrameLocks noGrp="1"/>
          </p:cNvGraphicFramePr>
          <p:nvPr/>
        </p:nvGraphicFramePr>
        <p:xfrm>
          <a:off x="1557779" y="33714"/>
          <a:ext cx="15172442" cy="10253472"/>
        </p:xfrm>
        <a:graphic>
          <a:graphicData uri="http://schemas.openxmlformats.org/drawingml/2006/table">
            <a:tbl>
              <a:tblPr bandRow="1">
                <a:tableStyleId>{616DA210-FB5B-4158-B5E0-FEB733F419BA}</a:tableStyleId>
              </a:tblPr>
              <a:tblGrid>
                <a:gridCol w="876693">
                  <a:extLst>
                    <a:ext uri="{9D8B030D-6E8A-4147-A177-3AD203B41FA5}">
                      <a16:colId xmlns:a16="http://schemas.microsoft.com/office/drawing/2014/main" val="3268345557"/>
                    </a:ext>
                  </a:extLst>
                </a:gridCol>
                <a:gridCol w="4920792">
                  <a:extLst>
                    <a:ext uri="{9D8B030D-6E8A-4147-A177-3AD203B41FA5}">
                      <a16:colId xmlns:a16="http://schemas.microsoft.com/office/drawing/2014/main" val="2519892921"/>
                    </a:ext>
                  </a:extLst>
                </a:gridCol>
                <a:gridCol w="5048054">
                  <a:extLst>
                    <a:ext uri="{9D8B030D-6E8A-4147-A177-3AD203B41FA5}">
                      <a16:colId xmlns:a16="http://schemas.microsoft.com/office/drawing/2014/main" val="3882108872"/>
                    </a:ext>
                  </a:extLst>
                </a:gridCol>
                <a:gridCol w="4326903">
                  <a:extLst>
                    <a:ext uri="{9D8B030D-6E8A-4147-A177-3AD203B41FA5}">
                      <a16:colId xmlns:a16="http://schemas.microsoft.com/office/drawing/2014/main" val="3553521671"/>
                    </a:ext>
                  </a:extLst>
                </a:gridCol>
              </a:tblGrid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27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E. Ali, M. Angelova, and Chandan Karmakar - Epileptic seizure detection using CHB-MIT dataset: The overlooked perspectives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Performs real-world evaluation handling imbalance and variability. Provides practical insights using Random Forest.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Shows moderate sensitivity (~75%) in detection. Pipeline is relatively complex.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extLst>
                  <a:ext uri="{0D108BD9-81ED-4DB2-BD59-A6C34878D82A}">
                    <a16:rowId xmlns:a16="http://schemas.microsoft.com/office/drawing/2014/main" val="4067831345"/>
                  </a:ext>
                </a:extLst>
              </a:tr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28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A. Shoeibi et al. - Epileptic Seizures Detection Using Deep Learning Techniques: A Review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Provides a comprehensive overview of deep learning models. Identifies best-performing architectures for seizure detection.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No experimental validation is included. Analysis remains high-level and descriptive.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extLst>
                  <a:ext uri="{0D108BD9-81ED-4DB2-BD59-A6C34878D82A}">
                    <a16:rowId xmlns:a16="http://schemas.microsoft.com/office/drawing/2014/main" val="1119273680"/>
                  </a:ext>
                </a:extLst>
              </a:tr>
              <a:tr h="234896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29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T. K. Murugan and A. Kameswaran - Employing convolutional neural networks and explainable artificial intelligence for the detection of seizures from electroencephalogram signal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Improves interpretability and clinical trust using XAI techniques. Maintains good accuracy in detection.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Adds extra complexity due to explainability methods. Performance depends on feature quality.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extLst>
                  <a:ext uri="{0D108BD9-81ED-4DB2-BD59-A6C34878D82A}">
                    <a16:rowId xmlns:a16="http://schemas.microsoft.com/office/drawing/2014/main" val="1667418406"/>
                  </a:ext>
                </a:extLst>
              </a:tr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30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S. Cuyckens, R. Antonio, C. Fang, and M. Verhelst - iEEG Seizure Detection with a Sparse Hyperdimensional Computing Accelerator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Offers very low energy consumption and supports real-time detection. Suitable for hardware-efficient implementations.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Implementation is complex and hardware-dependent. Validation scope is limited.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extLst>
                  <a:ext uri="{0D108BD9-81ED-4DB2-BD59-A6C34878D82A}">
                    <a16:rowId xmlns:a16="http://schemas.microsoft.com/office/drawing/2014/main" val="3959743774"/>
                  </a:ext>
                </a:extLst>
              </a:tr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31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P. Thodoroff, J. Pineau, and A. Lim - Learning Robust Features using Deep Learning for Automatic Seizure Detection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Learns robust cross-patient features without manual extraction. Improves generalization across datasets.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Computationally intensive and resource-demanding. Performance depends on data quality.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extLst>
                  <a:ext uri="{0D108BD9-81ED-4DB2-BD59-A6C34878D82A}">
                    <a16:rowId xmlns:a16="http://schemas.microsoft.com/office/drawing/2014/main" val="2558847949"/>
                  </a:ext>
                </a:extLst>
              </a:tr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32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Th. Sverrisson and S. Gudmundsson - LookAroundNet: Extending Temporal Context with Transformers for Clinically Viable EEG Seizure Detection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Captures long-range dependencies and improves generalization. Provides strong performance using temporal context modeling.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High computational cost due to transformer models. Requires large-scale datasets.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extLst>
                  <a:ext uri="{0D108BD9-81ED-4DB2-BD59-A6C34878D82A}">
                    <a16:rowId xmlns:a16="http://schemas.microsoft.com/office/drawing/2014/main" val="1841410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5681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2AE1AED-D3B3-C06B-9998-4A003E098FC5}"/>
              </a:ext>
            </a:extLst>
          </p:cNvPr>
          <p:cNvGraphicFramePr>
            <a:graphicFrameLocks noGrp="1"/>
          </p:cNvGraphicFramePr>
          <p:nvPr/>
        </p:nvGraphicFramePr>
        <p:xfrm>
          <a:off x="1557779" y="231218"/>
          <a:ext cx="15172442" cy="9824720"/>
        </p:xfrm>
        <a:graphic>
          <a:graphicData uri="http://schemas.openxmlformats.org/drawingml/2006/table">
            <a:tbl>
              <a:tblPr bandRow="1">
                <a:tableStyleId>{616DA210-FB5B-4158-B5E0-FEB733F419BA}</a:tableStyleId>
              </a:tblPr>
              <a:tblGrid>
                <a:gridCol w="749432">
                  <a:extLst>
                    <a:ext uri="{9D8B030D-6E8A-4147-A177-3AD203B41FA5}">
                      <a16:colId xmlns:a16="http://schemas.microsoft.com/office/drawing/2014/main" val="2154354433"/>
                    </a:ext>
                  </a:extLst>
                </a:gridCol>
                <a:gridCol w="4807671">
                  <a:extLst>
                    <a:ext uri="{9D8B030D-6E8A-4147-A177-3AD203B41FA5}">
                      <a16:colId xmlns:a16="http://schemas.microsoft.com/office/drawing/2014/main" val="4173672146"/>
                    </a:ext>
                  </a:extLst>
                </a:gridCol>
                <a:gridCol w="5104614">
                  <a:extLst>
                    <a:ext uri="{9D8B030D-6E8A-4147-A177-3AD203B41FA5}">
                      <a16:colId xmlns:a16="http://schemas.microsoft.com/office/drawing/2014/main" val="1233841521"/>
                    </a:ext>
                  </a:extLst>
                </a:gridCol>
                <a:gridCol w="4510725">
                  <a:extLst>
                    <a:ext uri="{9D8B030D-6E8A-4147-A177-3AD203B41FA5}">
                      <a16:colId xmlns:a16="http://schemas.microsoft.com/office/drawing/2014/main" val="3497072982"/>
                    </a:ext>
                  </a:extLst>
                </a:gridCol>
              </a:tblGrid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33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Giorgos Giannakakis, Vangelis </a:t>
                      </a:r>
                      <a:r>
                        <a:rPr lang="en-IN" sz="2100" dirty="0" err="1">
                          <a:effectLst/>
                        </a:rPr>
                        <a:t>Sakkalis</a:t>
                      </a:r>
                      <a:r>
                        <a:rPr lang="en-IN" sz="2100" dirty="0">
                          <a:effectLst/>
                        </a:rPr>
                        <a:t>, M. </a:t>
                      </a:r>
                      <a:r>
                        <a:rPr lang="en-IN" sz="2100" dirty="0" err="1">
                          <a:effectLst/>
                        </a:rPr>
                        <a:t>Pediaditis</a:t>
                      </a:r>
                      <a:r>
                        <a:rPr lang="en-IN" sz="2100" dirty="0">
                          <a:effectLst/>
                        </a:rPr>
                        <a:t>, and Manolis </a:t>
                      </a:r>
                      <a:r>
                        <a:rPr lang="en-IN" sz="2100" dirty="0" err="1">
                          <a:effectLst/>
                        </a:rPr>
                        <a:t>Tsiknakis</a:t>
                      </a:r>
                      <a:r>
                        <a:rPr lang="en-IN" sz="2100" dirty="0">
                          <a:effectLst/>
                        </a:rPr>
                        <a:t> - Methods for Seizure Detection and Prediction: An Overview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Provides a comprehensive comparison of detection methods. Achieves high accuracy using engineered features.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Relies on handcrafted features rather than deep learning. Limited modern DL-based insights.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extLst>
                  <a:ext uri="{0D108BD9-81ED-4DB2-BD59-A6C34878D82A}">
                    <a16:rowId xmlns:a16="http://schemas.microsoft.com/office/drawing/2014/main" val="4170778303"/>
                  </a:ext>
                </a:extLst>
              </a:tr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34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Y. Yang, K. Guo, Z. Fang, H. Lin, M. Grosser, and J. Lu - Multi-model Transfer Learning and Genotypic Analysis for Seizure Type Classification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Improves accuracy by 13–16% and handles data scarcity. Combines multiple models for better performance.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Architecture is complex and difficult to manage. Requires multi-source data integration.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extLst>
                  <a:ext uri="{0D108BD9-81ED-4DB2-BD59-A6C34878D82A}">
                    <a16:rowId xmlns:a16="http://schemas.microsoft.com/office/drawing/2014/main" val="3888843141"/>
                  </a:ext>
                </a:extLst>
              </a:tr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35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D. </a:t>
                      </a:r>
                      <a:r>
                        <a:rPr lang="en-IN" sz="2100" dirty="0" err="1">
                          <a:effectLst/>
                        </a:rPr>
                        <a:t>Ahmedt</a:t>
                      </a:r>
                      <a:r>
                        <a:rPr lang="en-IN" sz="2100" dirty="0">
                          <a:effectLst/>
                        </a:rPr>
                        <a:t>-Aristizabal, T. Fernando, S. Denman, L. Petersson, M. J. </a:t>
                      </a:r>
                      <a:r>
                        <a:rPr lang="en-IN" sz="2100" dirty="0" err="1">
                          <a:effectLst/>
                        </a:rPr>
                        <a:t>Aburn</a:t>
                      </a:r>
                      <a:r>
                        <a:rPr lang="en-IN" sz="2100" dirty="0">
                          <a:effectLst/>
                        </a:rPr>
                        <a:t>, and C. Fookes - Neural Memory Networks for Seizure Type Classification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Captures long-term dependencies and achieves high F1-score (~0.945). Enhances sequence </a:t>
                      </a:r>
                      <a:r>
                        <a:rPr lang="en-IN" sz="2100" dirty="0" err="1">
                          <a:effectLst/>
                        </a:rPr>
                        <a:t>modeling</a:t>
                      </a:r>
                      <a:r>
                        <a:rPr lang="en-IN" sz="2100" dirty="0">
                          <a:effectLst/>
                        </a:rPr>
                        <a:t> capability.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High model complexity increases computation. Limited dataset availability affects training.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extLst>
                  <a:ext uri="{0D108BD9-81ED-4DB2-BD59-A6C34878D82A}">
                    <a16:rowId xmlns:a16="http://schemas.microsoft.com/office/drawing/2014/main" val="1975005661"/>
                  </a:ext>
                </a:extLst>
              </a:tr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36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S. Ghosh, V. Singh, and O. S. Powar - Seizure detection using EEG on the CHB-MIT dataset via multi-domain feature engineering and classical machine learning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Provides interpretable results with low latency. Supports patient-independent evaluation.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Lower accuracy compared to deep learning models. Performance may be limited.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extLst>
                  <a:ext uri="{0D108BD9-81ED-4DB2-BD59-A6C34878D82A}">
                    <a16:rowId xmlns:a16="http://schemas.microsoft.com/office/drawing/2014/main" val="992603648"/>
                  </a:ext>
                </a:extLst>
              </a:tr>
              <a:tr h="234896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37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M. L. Scheuer, S. B. Wilson, A. Antony, G. </a:t>
                      </a:r>
                      <a:r>
                        <a:rPr lang="en-IN" sz="2100" dirty="0" err="1">
                          <a:effectLst/>
                        </a:rPr>
                        <a:t>Ghearing</a:t>
                      </a:r>
                      <a:r>
                        <a:rPr lang="en-IN" sz="2100" dirty="0">
                          <a:effectLst/>
                        </a:rPr>
                        <a:t>, A. Urban, and A. I. </a:t>
                      </a:r>
                      <a:r>
                        <a:rPr lang="en-IN" sz="2100" dirty="0" err="1">
                          <a:effectLst/>
                        </a:rPr>
                        <a:t>Bagić</a:t>
                      </a:r>
                      <a:r>
                        <a:rPr lang="en-IN" sz="2100" dirty="0">
                          <a:effectLst/>
                        </a:rPr>
                        <a:t> - Seizure Detection: </a:t>
                      </a:r>
                      <a:r>
                        <a:rPr lang="en-IN" sz="2100" dirty="0" err="1">
                          <a:effectLst/>
                        </a:rPr>
                        <a:t>Interreader</a:t>
                      </a:r>
                      <a:r>
                        <a:rPr lang="en-IN" sz="2100" dirty="0">
                          <a:effectLst/>
                        </a:rPr>
                        <a:t> Agreement and Detection Algorithm Assessments Using a Large Dataset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Demonstrates expert-level algorithm performance. Compares human and algorithm outputs effectively.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Highlights variability and lack of perfect ground truth. Evaluation uncertainty remains.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64545" marR="64545" marT="0" marB="0"/>
                </a:tc>
                <a:extLst>
                  <a:ext uri="{0D108BD9-81ED-4DB2-BD59-A6C34878D82A}">
                    <a16:rowId xmlns:a16="http://schemas.microsoft.com/office/drawing/2014/main" val="14740476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6639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8247C19-D228-3700-02A8-20A5A4227103}"/>
              </a:ext>
            </a:extLst>
          </p:cNvPr>
          <p:cNvGraphicFramePr>
            <a:graphicFrameLocks noGrp="1"/>
          </p:cNvGraphicFramePr>
          <p:nvPr/>
        </p:nvGraphicFramePr>
        <p:xfrm>
          <a:off x="1414021" y="401667"/>
          <a:ext cx="15257286" cy="9483821"/>
        </p:xfrm>
        <a:graphic>
          <a:graphicData uri="http://schemas.openxmlformats.org/drawingml/2006/table">
            <a:tbl>
              <a:tblPr bandRow="1">
                <a:tableStyleId>{616DA210-FB5B-4158-B5E0-FEB733F419BA}</a:tableStyleId>
              </a:tblPr>
              <a:tblGrid>
                <a:gridCol w="989816">
                  <a:extLst>
                    <a:ext uri="{9D8B030D-6E8A-4147-A177-3AD203B41FA5}">
                      <a16:colId xmlns:a16="http://schemas.microsoft.com/office/drawing/2014/main" val="3983595451"/>
                    </a:ext>
                  </a:extLst>
                </a:gridCol>
                <a:gridCol w="4652129">
                  <a:extLst>
                    <a:ext uri="{9D8B030D-6E8A-4147-A177-3AD203B41FA5}">
                      <a16:colId xmlns:a16="http://schemas.microsoft.com/office/drawing/2014/main" val="2552264966"/>
                    </a:ext>
                  </a:extLst>
                </a:gridCol>
                <a:gridCol w="4894077">
                  <a:extLst>
                    <a:ext uri="{9D8B030D-6E8A-4147-A177-3AD203B41FA5}">
                      <a16:colId xmlns:a16="http://schemas.microsoft.com/office/drawing/2014/main" val="3628587205"/>
                    </a:ext>
                  </a:extLst>
                </a:gridCol>
                <a:gridCol w="4721264">
                  <a:extLst>
                    <a:ext uri="{9D8B030D-6E8A-4147-A177-3AD203B41FA5}">
                      <a16:colId xmlns:a16="http://schemas.microsoft.com/office/drawing/2014/main" val="2181490471"/>
                    </a:ext>
                  </a:extLst>
                </a:gridCol>
              </a:tblGrid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38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S. Roy, U. Asif, J. Tang, and S. Harrer - Seizure Type Classification Using EEG Signals and Machine Learning: Setting a Benchmark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Provides benchmark study for multi-class classification. Uses multiple ML models for comparison.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Poor generalization in patient-wise validation. Performance varies across datasets.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extLst>
                  <a:ext uri="{0D108BD9-81ED-4DB2-BD59-A6C34878D82A}">
                    <a16:rowId xmlns:a16="http://schemas.microsoft.com/office/drawing/2014/main" val="2870234805"/>
                  </a:ext>
                </a:extLst>
              </a:tr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39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C. Baumgartner and J. P. Koren - Seizure detection using scalp-EEG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Provides clinical insights and performance ranges. Useful for understanding real-world applications.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Not a specific model and lacks implementation details. Limited practical usability.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extLst>
                  <a:ext uri="{0D108BD9-81ED-4DB2-BD59-A6C34878D82A}">
                    <a16:rowId xmlns:a16="http://schemas.microsoft.com/office/drawing/2014/main" val="850131471"/>
                  </a:ext>
                </a:extLst>
              </a:tr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40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U. Asif, S. Roy, J. Tang, and S. Harrer - SeizureNet: Multi-Spectral Deep Feature Learning for Seizure Type Classification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Achieves high F1-score (~0.94) with strong feature representation. Uses multi-spectral features effectively.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Shows moderate generalization performance. Patient-wise F1-score is relatively low (~0.59).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extLst>
                  <a:ext uri="{0D108BD9-81ED-4DB2-BD59-A6C34878D82A}">
                    <a16:rowId xmlns:a16="http://schemas.microsoft.com/office/drawing/2014/main" val="2219939120"/>
                  </a:ext>
                </a:extLst>
              </a:tr>
              <a:tr h="20594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41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SeizureTransformer: Scaling U-Net with Transformer for Simultaneous Time-Step Level Seizure Detection from Long EEG Recordings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Captures long-range dependencies and achieves state-of-the-art performance. Combines CNN and transformer effectively.</a:t>
                      </a:r>
                    </a:p>
                    <a:p>
                      <a:pPr marL="0" marR="0" indent="45720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 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High computational cost and complex architecture. Requires significant resources.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extLst>
                  <a:ext uri="{0D108BD9-81ED-4DB2-BD59-A6C34878D82A}">
                    <a16:rowId xmlns:a16="http://schemas.microsoft.com/office/drawing/2014/main" val="514812474"/>
                  </a:ext>
                </a:extLst>
              </a:tr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42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W. Weng et al. - Self-supervised Learning for Electroencephalogram: A Systematic Survey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Reduces dependency on labeled data and improves generalization. Explores multiple SSL strategies.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Requires careful design of pretext tasks. Training process is complex.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extLst>
                  <a:ext uri="{0D108BD9-81ED-4DB2-BD59-A6C34878D82A}">
                    <a16:rowId xmlns:a16="http://schemas.microsoft.com/office/drawing/2014/main" val="2534149213"/>
                  </a:ext>
                </a:extLst>
              </a:tr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43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J. J. Falco-Walter, I. E. Scheffer, and R. S. Fisher - The new definition and classification of seizures and epilepsy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Provides standardized labels improving dataset consistency. Supports better machine learning applications.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Not a predictive model or algorithm. Lacks computational framework.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75045" marR="75045" marT="0" marB="0"/>
                </a:tc>
                <a:extLst>
                  <a:ext uri="{0D108BD9-81ED-4DB2-BD59-A6C34878D82A}">
                    <a16:rowId xmlns:a16="http://schemas.microsoft.com/office/drawing/2014/main" val="3123028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41016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D05AAB-EAC3-8936-6381-BA7EB00A0453}"/>
              </a:ext>
            </a:extLst>
          </p:cNvPr>
          <p:cNvGraphicFramePr>
            <a:graphicFrameLocks noGrp="1"/>
          </p:cNvGraphicFramePr>
          <p:nvPr/>
        </p:nvGraphicFramePr>
        <p:xfrm>
          <a:off x="1257300" y="2580179"/>
          <a:ext cx="15773402" cy="4646676"/>
        </p:xfrm>
        <a:graphic>
          <a:graphicData uri="http://schemas.openxmlformats.org/drawingml/2006/table">
            <a:tbl>
              <a:tblPr bandRow="1">
                <a:tableStyleId>{616DA210-FB5B-4158-B5E0-FEB733F419BA}</a:tableStyleId>
              </a:tblPr>
              <a:tblGrid>
                <a:gridCol w="1089974">
                  <a:extLst>
                    <a:ext uri="{9D8B030D-6E8A-4147-A177-3AD203B41FA5}">
                      <a16:colId xmlns:a16="http://schemas.microsoft.com/office/drawing/2014/main" val="220222169"/>
                    </a:ext>
                  </a:extLst>
                </a:gridCol>
                <a:gridCol w="6150683">
                  <a:extLst>
                    <a:ext uri="{9D8B030D-6E8A-4147-A177-3AD203B41FA5}">
                      <a16:colId xmlns:a16="http://schemas.microsoft.com/office/drawing/2014/main" val="3792208409"/>
                    </a:ext>
                  </a:extLst>
                </a:gridCol>
                <a:gridCol w="4174436">
                  <a:extLst>
                    <a:ext uri="{9D8B030D-6E8A-4147-A177-3AD203B41FA5}">
                      <a16:colId xmlns:a16="http://schemas.microsoft.com/office/drawing/2014/main" val="4034676966"/>
                    </a:ext>
                  </a:extLst>
                </a:gridCol>
                <a:gridCol w="4358309">
                  <a:extLst>
                    <a:ext uri="{9D8B030D-6E8A-4147-A177-3AD203B41FA5}">
                      <a16:colId xmlns:a16="http://schemas.microsoft.com/office/drawing/2014/main" val="325097602"/>
                    </a:ext>
                  </a:extLst>
                </a:gridCol>
              </a:tblGrid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44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L. Wei and C. Mooney - Transfer Learning-based Seizure Detection on Multiple Channels of Paediatric EEGs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Achieves good accuracy (~85%) with reduced training cost. Supports multi-channel data fusion.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Depends on spectrogram transformation. Scalability is moderate.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extLst>
                  <a:ext uri="{0D108BD9-81ED-4DB2-BD59-A6C34878D82A}">
                    <a16:rowId xmlns:a16="http://schemas.microsoft.com/office/drawing/2014/main" val="3994745246"/>
                  </a:ext>
                </a:extLst>
              </a:tr>
              <a:tr h="138884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45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H. Banville, O. Chehab, A. Hyvärinen, D.-A. Engemann, and A. Gramfort - Uncovering the structure of clinical EEG signals with self-supervised learning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Works effectively with unlabeled data and learns robust features. Provides strong generalization.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Training is complex and requires careful task design. Computational effort is high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extLst>
                  <a:ext uri="{0D108BD9-81ED-4DB2-BD59-A6C34878D82A}">
                    <a16:rowId xmlns:a16="http://schemas.microsoft.com/office/drawing/2014/main" val="3613530914"/>
                  </a:ext>
                </a:extLst>
              </a:tr>
              <a:tr h="18689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46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A. Shoeibi et al. - Automatic Diagnosis of Schizophrenia in EEG Signals Using CNN-LSTM Models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Achieves very high accuracy (~99.25%) with strong spatial-temporal learning. Reduces need for manual feature extraction.</a:t>
                      </a:r>
                      <a:endParaRPr lang="en-IN" sz="2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Dataset is small (28 subjects) limiting generalization. Focuses only on binary classification.	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unga" panose="020B0502040204020203" pitchFamily="34" charset="0"/>
                      </a:endParaRPr>
                    </a:p>
                  </a:txBody>
                  <a:tcPr marL="102870" marR="102870" marT="0" marB="0"/>
                </a:tc>
                <a:extLst>
                  <a:ext uri="{0D108BD9-81ED-4DB2-BD59-A6C34878D82A}">
                    <a16:rowId xmlns:a16="http://schemas.microsoft.com/office/drawing/2014/main" val="2451375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189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073678-5276-A8C2-F2A5-C8359924B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297E-87B1-45DD-85FA-F98211548008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1FE82B-55EA-D696-3B9A-4CF2CC9CF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Dept. of CSE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D4715A-7998-8486-4413-2F1C80BA8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15</a:t>
            </a:fld>
            <a:endParaRPr lang="en-IN" dirty="0"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C297FA6E-3B33-5745-A03A-9D9392B283B5}"/>
              </a:ext>
            </a:extLst>
          </p:cNvPr>
          <p:cNvSpPr txBox="1">
            <a:spLocks/>
          </p:cNvSpPr>
          <p:nvPr/>
        </p:nvSpPr>
        <p:spPr>
          <a:xfrm>
            <a:off x="995947" y="34946"/>
            <a:ext cx="16129000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80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diagram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399FE5-9D4E-5FDD-3AB0-3BCBF78790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2" b="4331"/>
          <a:stretch>
            <a:fillRect/>
          </a:stretch>
        </p:blipFill>
        <p:spPr>
          <a:xfrm>
            <a:off x="4953000" y="1257300"/>
            <a:ext cx="8192433" cy="8411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3489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25798-EDB8-B707-7C57-82D9BB7E3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ubtitle 12">
            <a:extLst>
              <a:ext uri="{FF2B5EF4-FFF2-40B4-BE49-F238E27FC236}">
                <a16:creationId xmlns:a16="http://schemas.microsoft.com/office/drawing/2014/main" id="{18B7466B-C9DC-4257-060D-705ECDD414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7400" y="803406"/>
            <a:ext cx="13373099" cy="1295400"/>
          </a:xfrm>
        </p:spPr>
        <p:txBody>
          <a:bodyPr>
            <a:normAutofit/>
          </a:bodyPr>
          <a:lstStyle/>
          <a:p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 </a:t>
            </a:r>
            <a:endParaRPr lang="en-IN" sz="8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08469E-4869-3963-35B1-A4CB05700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A0061-5C20-4BFA-8D13-4B871A15E322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9F03182-9E6C-3B06-981A-94ED2CB13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CBD49B1-1739-5A2C-1307-31D78C86E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16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169561-7000-AAFD-69E4-A77662C88D57}"/>
              </a:ext>
            </a:extLst>
          </p:cNvPr>
          <p:cNvSpPr txBox="1"/>
          <p:nvPr/>
        </p:nvSpPr>
        <p:spPr>
          <a:xfrm>
            <a:off x="1257300" y="2247900"/>
            <a:ext cx="15773400" cy="68459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marR="100330" indent="-571500" algn="just">
              <a:lnSpc>
                <a:spcPct val="15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standardized and pre-processed EEG dataset with cleaned, filtered, normalized, and segmented seizure recordings suitable for deep learning analysis. </a:t>
            </a:r>
          </a:p>
          <a:p>
            <a:pPr marL="571500" marR="100330" indent="-571500" algn="just">
              <a:lnSpc>
                <a:spcPct val="15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functional hierarchical deep learning framework capable of performing seizure detection followed by seizure subtype classification using transfer learning. </a:t>
            </a:r>
          </a:p>
          <a:p>
            <a:pPr marL="571500" marR="100330" indent="-571500" algn="just">
              <a:lnSpc>
                <a:spcPct val="15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evaluated automated multi-class seizure classification system with validated performance metrics (e.g., accuracy, precision, recall, F1-score) using subject wise cross validation. </a:t>
            </a:r>
          </a:p>
        </p:txBody>
      </p:sp>
    </p:spTree>
    <p:extLst>
      <p:ext uri="{BB962C8B-B14F-4D97-AF65-F5344CB8AC3E}">
        <p14:creationId xmlns:p14="http://schemas.microsoft.com/office/powerpoint/2010/main" val="42768649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/>
          <p:nvPr/>
        </p:nvSpPr>
        <p:spPr>
          <a:xfrm>
            <a:off x="844232" y="3736063"/>
            <a:ext cx="16599535" cy="140743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25000"/>
              </a:lnSpc>
              <a:spcBef>
                <a:spcPts val="100"/>
              </a:spcBef>
            </a:pPr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sz="8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42DFB-37A0-44C9-B8EE-93596F90C7A6}" type="datetime3">
              <a:rPr lang="en-US" smtClean="0"/>
              <a:t>10 August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pPr/>
              <a:t>17</a:t>
            </a:fld>
            <a:endParaRPr lang="en-IN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System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57000" y="1700000"/>
            <a:ext cx="4700000" cy="800000"/>
          </a:xfrm>
          <a:prstGeom prst="roundRect">
            <a:avLst>
              <a:gd name="adj" fmla="val 12000"/>
            </a:avLst>
          </a:prstGeom>
          <a:solidFill>
            <a:srgbClr val="E7E6E6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Data &amp; Preprocessing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57000" y="2900000"/>
            <a:ext cx="470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CHB-MIT + Siena</a:t>
            </a:r>
          </a:p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scalp EEG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07000" y="3950000"/>
            <a:ext cx="0" cy="45000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57000" y="4400000"/>
            <a:ext cx="470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18-channel bipolar</a:t>
            </a:r>
          </a:p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(double-banana) montage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7000" y="5450000"/>
            <a:ext cx="0" cy="45000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257000" y="5900000"/>
            <a:ext cx="470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Notch + 0.5–45 Hz bandpass</a:t>
            </a:r>
          </a:p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Resample to 256 Hz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07000" y="6950000"/>
            <a:ext cx="0" cy="45000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257000" y="7400000"/>
            <a:ext cx="470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Windowing +</a:t>
            </a:r>
          </a:p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artifact rejection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17000" y="2100000"/>
            <a:ext cx="7170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94000" y="1700000"/>
            <a:ext cx="4700000" cy="800000"/>
          </a:xfrm>
          <a:prstGeom prst="roundRect">
            <a:avLst>
              <a:gd name="adj" fmla="val 12000"/>
            </a:avLst>
          </a:prstGeom>
          <a:solidFill>
            <a:srgbClr val="E7E6E6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Stage 1: Detection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94000" y="2900000"/>
            <a:ext cx="470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4 s windows</a:t>
            </a:r>
          </a:p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18 × 1024 samples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0" y="3950000"/>
            <a:ext cx="0" cy="45000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794000" y="4400000"/>
            <a:ext cx="470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CRNN backbone</a:t>
            </a:r>
          </a:p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Conv → BiLSTM → Attention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0" y="5450000"/>
            <a:ext cx="0" cy="45000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794000" y="5900000"/>
            <a:ext cx="470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Focal loss training</a:t>
            </a:r>
          </a:p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Threshold = 0.65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0" y="6950000"/>
            <a:ext cx="0" cy="45000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94000" y="7400000"/>
            <a:ext cx="4700000" cy="105000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Seizure / Non-seizure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554000" y="2100000"/>
            <a:ext cx="7170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2331000" y="1700000"/>
            <a:ext cx="4700000" cy="800000"/>
          </a:xfrm>
          <a:prstGeom prst="roundRect">
            <a:avLst>
              <a:gd name="adj" fmla="val 12000"/>
            </a:avLst>
          </a:prstGeom>
          <a:solidFill>
            <a:srgbClr val="E7E6E6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Stage 2: Subtype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331000" y="2900000"/>
            <a:ext cx="470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Frozen + fine-tuned CRNN</a:t>
            </a:r>
          </a:p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128-D + 128-D = 256-D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4681000" y="3950000"/>
            <a:ext cx="0" cy="45000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2331000" y="4400000"/>
            <a:ext cx="470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Latent-space SMOTE</a:t>
            </a:r>
          </a:p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(training split only)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4681000" y="5450000"/>
            <a:ext cx="0" cy="45000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2331000" y="5900000"/>
            <a:ext cx="4700000" cy="1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HistGradientBoosting</a:t>
            </a:r>
          </a:p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classifier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4681000" y="6950000"/>
            <a:ext cx="0" cy="45000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2331000" y="7400000"/>
            <a:ext cx="4700000" cy="105000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Focal Aware · Focal Impaired</a:t>
            </a:r>
          </a:p>
          <a:p>
            <a:pPr algn="ctr"/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Awareness · FBTC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7300" y="8750000"/>
            <a:ext cx="157734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1">
                <a:solidFill>
                  <a:srgbClr val="1A1A1A"/>
                </a:solidFill>
                <a:latin typeface="Times New Roman"/>
                <a:cs typeface="Times New Roman"/>
              </a:rPr>
              <a:t>Only windows flagged as seizure by Stage 1 are passed to the subtype stage.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Datasets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257300" y="1650000"/>
          <a:ext cx="15773399" cy="360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43989"/>
                <a:gridCol w="5534526"/>
                <a:gridCol w="7194884"/>
              </a:tblGrid>
              <a:tr h="720000"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CHB-MIT Scalp EEG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Siena Scalp EEG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l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Subjects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24 (paediatric)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14 (adult); 13 with usable subtype labels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l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Native format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18-ch bipolar, 256 Hz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Monopolar 10–20 referential, 512 Hz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l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Labels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Seizure / non-seizure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ILAE seizure type per patient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l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Used for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Stage 1 detection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Stage 1 detection + Stage 2 subtype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257300" y="550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Stage 1: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928,154 four-second windows from both datasets (subject-level train / val / test split).</a:t>
            </a:r>
          </a:p>
          <a:p>
            <a:pPr marL="571500" indent="-57150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Stage 2: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1,824 ten-second seizure windows from Siena only.</a:t>
            </a:r>
          </a:p>
          <a:p>
            <a:pPr marL="571500" indent="-57150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Class imbalance: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Focal Impaired Awareness (11 patients) vs Focal Aware (1) and FBTC (1).</a:t>
            </a:r>
          </a:p>
          <a:p>
            <a:pPr marL="571500" indent="-57150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Test set (subtype):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550 windows – 16 FA, 497 FIA, 37 FBTC.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Preprocessing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75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Montage harmonization: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Both datasets mapped to an 18-channel longitudinal bipolar (double-banana) montage in a fixed anatomical order.</a:t>
            </a:r>
          </a:p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Filtering: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Notch filter (60 Hz CHB-MIT / 50 Hz Siena), then 0.5–45 Hz zero-phase FIR bandpass, so that seizure-onset timing is not shifted.</a:t>
            </a:r>
          </a:p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Resampling: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Siena (512 Hz) downsampled to 256 Hz, applied last.</a:t>
            </a:r>
          </a:p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Stage 1 windows: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4 s; background stride 4 s, seizure stride 1 s; label = seizure if ≥ 50 % overlap; ±5 min around seizures excluded from the normal class.</a:t>
            </a:r>
          </a:p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Stage 2 windows: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10 s with 2 s stride, Siena seizure events only.</a:t>
            </a:r>
          </a:p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Artifact rejection: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Peak-to-peak threshold calibrated on the data (a fixed 500 µV cutoff would have discarded real seizures).</a:t>
            </a:r>
          </a:p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Normalization: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Per-channel z-score at training time.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CRNN Backbone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257300" y="1650000"/>
          <a:ext cx="9599999" cy="490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71287"/>
                <a:gridCol w="5322772"/>
                <a:gridCol w="1805940"/>
              </a:tblGrid>
              <a:tr h="700000"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Layer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Configuration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Output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Conv Block 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Conv1d 18→32, k = 63, s = 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32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Conv Block 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Conv1d 32→64, k = 31, s = 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64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Conv Block 3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Conv1d 64→128, k = 15, s = 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128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Conv Block 4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Conv1d 128→128, k = 7, s = 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128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Bi-LSTM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1 layer, 64 hidden units per direction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128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Attention Pool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Linear → Tanh → Linear → softmax over time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128-D vector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1200000" y="1650000"/>
            <a:ext cx="59000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Each conv block: BatchNorm → ReLU → Dropout (0.1).</a:t>
            </a:r>
          </a:p>
          <a:p>
            <a:pPr marL="571500" indent="-571500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Time axis downsampled 16×.</a:t>
            </a:r>
          </a:p>
          <a:p>
            <a:pPr marL="571500" indent="-571500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445,697 parameters per backbone.</a:t>
            </a:r>
          </a:p>
          <a:p>
            <a:pPr marL="571500" indent="-571500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Attention pooling makes the backbone length-agnostic (1024-sample detection and 2560-sample subtype windows).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300" y="7000000"/>
            <a:ext cx="15773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1">
                <a:solidFill>
                  <a:srgbClr val="1A1A1A"/>
                </a:solidFill>
                <a:latin typeface="Times New Roman"/>
                <a:cs typeface="Times New Roman"/>
              </a:rPr>
              <a:t>Detection head: focal loss (γ = 2), balanced sampling, Adam with ReduceLROnPlateau, 25 epochs.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Hierarchical Training &amp; Dual-Embedding 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75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Phase A – Detection pretraining: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CRNN trained on all 928,154 windows (CHB-MIT + Siena) for seizure vs non-seizure.</a:t>
            </a:r>
          </a:p>
          <a:p>
            <a:pPr marL="571500" indent="-57150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Phase B – Subtype fine-tuning: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Copy of the Phase A backbone; Conv Blocks 1–2 frozen, Blocks 3–4 + Bi-LSTM + attention fine-tuned on Siena subtype windows (40 epochs).</a:t>
            </a:r>
          </a:p>
          <a:p>
            <a:pPr marL="571500" indent="-57150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Dual-embedding fusion: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Both backbones frozen; their 128-D context vectors are concatenated into a 256-D representation.</a:t>
            </a:r>
          </a:p>
          <a:p>
            <a:pPr marL="571500" indent="-57150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Why: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the detection backbone keeps low-amplitude Focal Aware patterns, while the fine-tuned backbone separates FBTC. Neither alone does both.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7300" y="7400000"/>
            <a:ext cx="9773400" cy="100000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 i="0">
                <a:solidFill>
                  <a:srgbClr val="1A1A1A"/>
                </a:solidFill>
                <a:latin typeface="Times New Roman"/>
                <a:cs typeface="Times New Roman"/>
              </a:rPr>
              <a:t>z  =  [ e_frozen  ‖  e_fine-tuned ]  ∈  R²⁵⁶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Proposed Model: EEG-HDC v4 Dataflow</a:t>
            </a:r>
          </a:p>
        </p:txBody>
      </p:sp>
      <p:pic>
        <p:nvPicPr>
          <p:cNvPr id="10" name="Picture 9" descr="crnn_smote_v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1546695"/>
            <a:ext cx="8200000" cy="77066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900000" y="2000000"/>
            <a:ext cx="73000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Input: harmonized 18-channel, 256 Hz Siena seizure window.</a:t>
            </a:r>
          </a:p>
          <a:p>
            <a:pPr marL="571500" indent="-57150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Two CRNN backbones (445,697 parameters each) give 128-D embeddings.</a:t>
            </a:r>
          </a:p>
          <a:p>
            <a:pPr marL="571500" indent="-57150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256-D concatenation; SMOTE on the training split only (test embeddings untouched).</a:t>
            </a:r>
          </a:p>
          <a:p>
            <a:pPr marL="571500" indent="-57150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HistGradientBoosting: 200 rounds, depth 4, learning rate 0.08, L2 = 0.5.</a:t>
            </a:r>
          </a:p>
          <a:p>
            <a:pPr marL="571500" indent="-57150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Output: argmax over 3 subtype probabilities.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Latent-Space SMOTE &amp; Model Selection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75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Why latent space: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interpolating raw EEG creates non-physiological phase and frequency artifacts; interpolating learned embeddings does not.</a:t>
            </a:r>
          </a:p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Class-adaptive ratios (k = 5 neighbours):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Focal Aware 29 → 87 (3×), FBTC 87 → 435 (5×); Focal Impaired Awareness (1,158) never oversampled.</a:t>
            </a:r>
          </a:p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Classifier sweep: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MLP, Random Forest and HistGradientBoosting × three SMOTE ratio settings (9 configurations).</a:t>
            </a:r>
          </a:p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Adversarial control: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150 interictal windows per patient, relabelled with that patient’s subtype, run through the same pipeline. Recall gap Δ = real − control.</a:t>
            </a:r>
          </a:p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3000" b="1" i="0">
                <a:solidFill>
                  <a:srgbClr val="1A1A1A"/>
                </a:solidFill>
                <a:latin typeface="Times New Roman"/>
                <a:cs typeface="Times New Roman"/>
              </a:rPr>
              <a:t>Selection rule (fixed before the sweep): </a:t>
            </a: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accuracy ≥ 0.90, positive Δ on both minority classes, then maximise the minimum class recall.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Models Compared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257300" y="1650000"/>
          <a:ext cx="15773400" cy="540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4114800"/>
                <a:gridCol w="4343400"/>
                <a:gridCol w="4572000"/>
              </a:tblGrid>
              <a:tr h="900000"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1D-CNN (LOSO)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Fine-tuned CRNN (v2)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EEG-HDC v4 (Proposed)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900000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Backbone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5-block 1D-CNN, from scratch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CRNN, Phase A weights fine-tuned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Two CRNN backbones (frozen + fine-tuned)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Features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Learned end-to-end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128-D embedding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256-D dual embedding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Imbalance handling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Class weights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Embedding SMOTE (3× / 5×)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Embedding SMOTE (3× / 5×)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Classifier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Softmax head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MLP head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HistGradientBoosting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Evaluation split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Leave-one-subject-out (13 folds)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Event-level stratified (70/30)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Event-level stratified (70/30)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257300" y="7500000"/>
            <a:ext cx="157734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1">
                <a:solidFill>
                  <a:srgbClr val="1A1A1A"/>
                </a:solidFill>
                <a:latin typeface="Times New Roman"/>
                <a:cs typeface="Times New Roman"/>
              </a:rPr>
              <a:t>The LOSO baseline is a stricter test (unseen patients); v2 and v4 share the same event-level split and are directly comparable.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Implementation &amp; Web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75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3400" b="1" i="0">
                <a:solidFill>
                  <a:srgbClr val="1A1A1A"/>
                </a:solidFill>
                <a:latin typeface="Times New Roman"/>
                <a:cs typeface="Times New Roman"/>
              </a:rPr>
              <a:t>Training: </a:t>
            </a:r>
            <a:r>
              <a:rPr sz="3400" b="0" i="0">
                <a:solidFill>
                  <a:srgbClr val="1A1A1A"/>
                </a:solidFill>
                <a:latin typeface="Times New Roman"/>
                <a:cs typeface="Times New Roman"/>
              </a:rPr>
              <a:t>PyTorch (CRNN backbones), scikit-learn (SMOTE-balanced classifiers), MNE / HDF5 for EEG preprocessing.</a:t>
            </a:r>
          </a:p>
          <a:p>
            <a:pPr marL="571500" indent="-57150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3400" b="1" i="0">
                <a:solidFill>
                  <a:srgbClr val="1A1A1A"/>
                </a:solidFill>
                <a:latin typeface="Times New Roman"/>
                <a:cs typeface="Times New Roman"/>
              </a:rPr>
              <a:t>Web application (NeuroScan): </a:t>
            </a:r>
            <a:r>
              <a:rPr sz="3400" b="0" i="0">
                <a:solidFill>
                  <a:srgbClr val="1A1A1A"/>
                </a:solidFill>
                <a:latin typeface="Times New Roman"/>
                <a:cs typeface="Times New Roman"/>
              </a:rPr>
              <a:t>upload a raw .edf file and receive an oscilloscope-style 18-channel trace with detected seizure regions highlighted.</a:t>
            </a:r>
          </a:p>
          <a:p>
            <a:pPr marL="571500" indent="-57150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3400" b="1" i="0">
                <a:solidFill>
                  <a:srgbClr val="1A1A1A"/>
                </a:solidFill>
                <a:latin typeface="Times New Roman"/>
                <a:cs typeface="Times New Roman"/>
              </a:rPr>
              <a:t>Inference path: </a:t>
            </a:r>
            <a:r>
              <a:rPr sz="3400" b="0" i="0">
                <a:solidFill>
                  <a:srgbClr val="1A1A1A"/>
                </a:solidFill>
                <a:latin typeface="Times New Roman"/>
                <a:cs typeface="Times New Roman"/>
              </a:rPr>
              <a:t>4 s windows → Stage 1 detector → threshold + minimum event duration → 10 s event windows → dual-embedding HistGB subtype with per-class probabilities.</a:t>
            </a:r>
          </a:p>
          <a:p>
            <a:pPr marL="571500" indent="-57150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3400" b="1" i="0">
                <a:solidFill>
                  <a:srgbClr val="1A1A1A"/>
                </a:solidFill>
                <a:latin typeface="Times New Roman"/>
                <a:cs typeface="Times New Roman"/>
              </a:rPr>
              <a:t>Stack: </a:t>
            </a:r>
            <a:r>
              <a:rPr sz="3400" b="0" i="0">
                <a:solidFill>
                  <a:srgbClr val="1A1A1A"/>
                </a:solidFill>
                <a:latin typeface="Times New Roman"/>
                <a:cs typeface="Times New Roman"/>
              </a:rPr>
              <a:t>Flask backend, Plotly.js interactive visualization (zoom / pan), per-event breakdown.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Results: Seizure Detection (Stage 1)</a:t>
            </a:r>
          </a:p>
        </p:txBody>
      </p:sp>
      <p:pic>
        <p:nvPicPr>
          <p:cNvPr id="10" name="Picture 9" descr="phase_a_threshold_roc (1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1462181"/>
            <a:ext cx="6900000" cy="7875638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700000" y="1800000"/>
          <a:ext cx="8299999" cy="408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12903"/>
                <a:gridCol w="2141935"/>
                <a:gridCol w="2945161"/>
              </a:tblGrid>
              <a:tr h="680000"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Metric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1D-CNN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CRNN (Phase A)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680000">
                <a:tc>
                  <a:txBody>
                    <a:bodyPr wrap="square"/>
                    <a:lstStyle/>
                    <a:p>
                      <a:pPr algn="l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Test AUROC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0.851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0.824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0000">
                <a:tc>
                  <a:txBody>
                    <a:bodyPr wrap="square"/>
                    <a:lstStyle/>
                    <a:p>
                      <a:pPr algn="l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Best threshold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0.73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0.65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0000">
                <a:tc>
                  <a:txBody>
                    <a:bodyPr wrap="square"/>
                    <a:lstStyle/>
                    <a:p>
                      <a:pPr algn="l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Sensitivity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0.525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0.605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0000">
                <a:tc>
                  <a:txBody>
                    <a:bodyPr wrap="square"/>
                    <a:lstStyle/>
                    <a:p>
                      <a:pPr algn="l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Specificity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0.920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0.852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0000">
                <a:tc>
                  <a:txBody>
                    <a:bodyPr wrap="square"/>
                    <a:lstStyle/>
                    <a:p>
                      <a:pPr algn="l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F1 score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0.526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0.487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700000" y="6150000"/>
            <a:ext cx="83000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sz="2600" b="0" i="0">
                <a:solidFill>
                  <a:srgbClr val="1A1A1A"/>
                </a:solidFill>
                <a:latin typeface="Times New Roman"/>
                <a:cs typeface="Times New Roman"/>
              </a:rPr>
              <a:t>Held-out test patients, never seen in training.</a:t>
            </a:r>
          </a:p>
          <a:p>
            <a:pPr marL="571500" indent="-571500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sz="2600" b="0" i="0">
                <a:solidFill>
                  <a:srgbClr val="1A1A1A"/>
                </a:solidFill>
                <a:latin typeface="Times New Roman"/>
                <a:cs typeface="Times New Roman"/>
              </a:rPr>
              <a:t>The two detectors are comparable (~0.82–0.85 AUROC); the CRNN trades specificity for higher sensitivity.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Results: Training Curves</a:t>
            </a:r>
          </a:p>
        </p:txBody>
      </p:sp>
      <p:pic>
        <p:nvPicPr>
          <p:cNvPr id="10" name="Picture 9" descr="phase_a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869" y="1450000"/>
            <a:ext cx="14142261" cy="345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57300" y="4900000"/>
            <a:ext cx="157734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1A1A1A"/>
                </a:solidFill>
                <a:latin typeface="Times New Roman"/>
                <a:cs typeface="Times New Roman"/>
              </a:rPr>
              <a:t>CRNN (Phase A): focal loss, validation AUROC (best 0.830) and sensitivity / specificity / F1</a:t>
            </a:r>
          </a:p>
        </p:txBody>
      </p:sp>
      <p:pic>
        <p:nvPicPr>
          <p:cNvPr id="12" name="Picture 11" descr="training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2869" y="5450000"/>
            <a:ext cx="14142261" cy="345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57300" y="8900000"/>
            <a:ext cx="157734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1A1A1A"/>
                </a:solidFill>
                <a:latin typeface="Times New Roman"/>
                <a:cs typeface="Times New Roman"/>
              </a:rPr>
              <a:t>1D-CNN (Stage 1): training curves for comparison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Results: Classifier &amp; SMOTE Sweep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7300" y="1650000"/>
          <a:ext cx="16173394" cy="600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860601"/>
                <a:gridCol w="2420508"/>
                <a:gridCol w="1210254"/>
                <a:gridCol w="1650346"/>
                <a:gridCol w="1540323"/>
                <a:gridCol w="1540323"/>
                <a:gridCol w="1760370"/>
                <a:gridCol w="1540323"/>
                <a:gridCol w="1650346"/>
              </a:tblGrid>
              <a:tr h="600000"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Classifier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SMOTE FA/FBTC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Acc.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Macro-F1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Rec. FA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Rec. FIA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Rec. FBTC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Δ FA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Δ FBTC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MLP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3× / 3×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0.905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0.534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0.000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0.966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0.486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0.000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+0.486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MLP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3× / 5×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0.907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0.535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0.000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0.968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0.486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0.000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+0.131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MLP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5× / 5×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0.905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0.534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0.000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0.966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0.486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0.000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+0.086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Random Forest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3× / 3×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0.891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0.497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0.000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0.958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0.378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−0.467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−0.199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Random Forest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3× / 5×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0.891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0.497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0.000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0.958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0.378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−0.489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−0.199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Random Forest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5× / 5×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0.896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0.507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0.000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0.962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0.405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−0.533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−0.172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HistGB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3× / 3×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0.905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0.529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0.062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0.970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0.405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−0.049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+0.028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HistGB (Winner)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3× / 5×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0.911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0.612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0.250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0.962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0.514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+0.117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+0.069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HistGB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5× / 5×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0.913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0.596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0.125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0.962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0.595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−0.008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+0.172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257300" y="790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600" b="0" i="0">
                <a:solidFill>
                  <a:srgbClr val="1A1A1A"/>
                </a:solidFill>
                <a:latin typeface="Times New Roman"/>
                <a:cs typeface="Times New Roman"/>
              </a:rPr>
              <a:t>MLP and Random Forest never recover Focal Aware; Random Forest shows negative control gaps (patient-identity shortcut).</a:t>
            </a:r>
          </a:p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600" b="0" i="0">
                <a:solidFill>
                  <a:srgbClr val="1A1A1A"/>
                </a:solidFill>
                <a:latin typeface="Times New Roman"/>
                <a:cs typeface="Times New Roman"/>
              </a:rPr>
              <a:t>HistGB 3×/5× is the only configuration meeting every selection criterion.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Times New Roman"/>
                <a:cs typeface="Times New Roman"/>
              </a:rPr>
              <a:t>Confusion Matrices: 1D-CNN Baseline (LOSO)</a:t>
            </a:r>
          </a:p>
        </p:txBody>
      </p:sp>
      <p:pic>
        <p:nvPicPr>
          <p:cNvPr id="10" name="Picture 9" descr="loso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429" y="1450000"/>
            <a:ext cx="12351142" cy="5299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57300" y="6800000"/>
            <a:ext cx="157734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1A1A1A"/>
                </a:solidFill>
                <a:latin typeface="Times New Roman"/>
                <a:cs typeface="Times New Roman"/>
              </a:rPr>
              <a:t>Left: real seizure windows     Right: adversarial interictal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300" y="735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Test windows: 1,824 across 13 held-out patients; accuracy 0.897, macro-F1 0.315.</a:t>
            </a:r>
          </a:p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Only the majority class is recognised: FA recall 0 / 45, FBTC recall 0 / 124.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Times New Roman"/>
                <a:cs typeface="Times New Roman"/>
              </a:rPr>
              <a:t>Confusion Matrices: Fine-tuned CRNN (v2)</a:t>
            </a:r>
          </a:p>
        </p:txBody>
      </p:sp>
      <p:pic>
        <p:nvPicPr>
          <p:cNvPr id="10" name="Picture 9" descr="v2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339" y="1450000"/>
            <a:ext cx="12593321" cy="5299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57300" y="6800000"/>
            <a:ext cx="157734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1A1A1A"/>
                </a:solidFill>
                <a:latin typeface="Times New Roman"/>
                <a:cs typeface="Times New Roman"/>
              </a:rPr>
              <a:t>Left: real seizure windows     Right: adversarial interictal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300" y="735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Test windows: 550; accuracy 0.907, macro-F1 0.526.</a:t>
            </a:r>
          </a:p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FBTC recall rises to 17 / 37 (45.9 %), but Focal Aware is still missed (0 / 16).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Times New Roman"/>
                <a:cs typeface="Times New Roman"/>
              </a:rPr>
              <a:t>Confusion Matrices: EEG-HDC v4 (Proposed)</a:t>
            </a:r>
          </a:p>
        </p:txBody>
      </p:sp>
      <p:pic>
        <p:nvPicPr>
          <p:cNvPr id="10" name="Picture 9" descr="v4_confusion_matrices (1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562" y="1450000"/>
            <a:ext cx="12340875" cy="53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57300" y="6800000"/>
            <a:ext cx="157734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1A1A1A"/>
                </a:solidFill>
                <a:latin typeface="Times New Roman"/>
                <a:cs typeface="Times New Roman"/>
              </a:rPr>
              <a:t>Left: real seizure windows     Right: adversarial interictal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300" y="735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Test windows: 550; accuracy 0.911, macro-F1 0.612.</a:t>
            </a:r>
          </a:p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Recall: FA 4 / 16 (25.0 %), FIA 478 / 497 (96.2 %), FBTC 19 / 37 (51.4 %) – the first model to recognise all three subtypes.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Comparison: Per-Class Recall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57300" y="1550000"/>
          <a:ext cx="15773400" cy="63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257300" y="800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v4 is the only model with non-zero recall on every subtype, at the same overall accuracy (~0.91).</a:t>
            </a:r>
          </a:p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Gains on minority classes cost under 3 points of FIA recall.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Comparison: Overall Metrics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257300" y="1750000"/>
          <a:ext cx="15773397" cy="360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056017"/>
                <a:gridCol w="1802674"/>
                <a:gridCol w="2253342"/>
                <a:gridCol w="2028008"/>
                <a:gridCol w="2478677"/>
                <a:gridCol w="1464672"/>
                <a:gridCol w="1690007"/>
              </a:tblGrid>
              <a:tr h="900000"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Model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Real Acc.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Real Macro-F1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Control Acc.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Control Macro-F1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Δ FA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Δ FBTC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900000">
                <a:tc>
                  <a:txBody>
                    <a:bodyPr wrap="square"/>
                    <a:lstStyle/>
                    <a:p>
                      <a:pPr algn="l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1D-CNN (LOSO)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0.897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0.315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0.816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0.300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0.000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0.000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 wrap="square"/>
                    <a:lstStyle/>
                    <a:p>
                      <a:pPr algn="l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Fine-tuned CRNN (v2)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0.907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0.526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0.841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0.387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0.000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+0.281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 wrap="square"/>
                    <a:lstStyle/>
                    <a:p>
                      <a:pPr algn="l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EEG-HDC v4 (Proposed)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0.911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0.612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0.790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0.475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+0.117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6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+0.069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BE4E4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257300" y="570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Macro-F1 doubles from the LOSO baseline (0.315) to v4 (0.612).</a:t>
            </a:r>
          </a:p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v2 has the larger FBTC gap but no Focal Aware signal; v4 is the only model with a positive gap on both minority classes.</a:t>
            </a:r>
          </a:p>
          <a:p>
            <a:pPr marL="571500" indent="-571500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Control = interictal windows relabelled with each patient’s subtype; a high control score means patient recognition rather than seizure recognition.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Adversarial Control: Recall Gap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57300" y="1550000"/>
          <a:ext cx="15773400" cy="6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257300" y="765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600" b="0" i="0">
                <a:solidFill>
                  <a:srgbClr val="1A1A1A"/>
                </a:solidFill>
                <a:latin typeface="Times New Roman"/>
                <a:cs typeface="Times New Roman"/>
              </a:rPr>
              <a:t>Gap = real recall minus control recall; a positive gap means the classifier responds to seizure dynamics, not to the patient’s background EEG.</a:t>
            </a:r>
          </a:p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600" b="0" i="0">
                <a:solidFill>
                  <a:srgbClr val="1A1A1A"/>
                </a:solidFill>
                <a:latin typeface="Times New Roman"/>
                <a:cs typeface="Times New Roman"/>
              </a:rPr>
              <a:t>Random Forest is strongly negative on both classes: its decisions are dominated by patient identity.</a:t>
            </a:r>
          </a:p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600" b="0" i="0">
                <a:solidFill>
                  <a:srgbClr val="1A1A1A"/>
                </a:solidFill>
                <a:latin typeface="Times New Roman"/>
                <a:cs typeface="Times New Roman"/>
              </a:rPr>
              <a:t>Configuration shown: SMOTE 3× FA / 5× FBTC.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Model Evolution Across Versions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57300" y="1550000"/>
          <a:ext cx="15773400" cy="53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257300" y="700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v1 (embedding SMOTE) recovers Focal Aware (13 / 16) but never FBTC (0 / 56); v2 (fine-tuned) recovers FBTC but loses FA.</a:t>
            </a:r>
          </a:p>
          <a:p>
            <a:pPr marL="571500" indent="-571500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v3 (frozen detection backbone only) recovers FA but accuracy drops to 0.573.</a:t>
            </a:r>
          </a:p>
          <a:p>
            <a:pPr marL="571500" indent="-571500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v4 fuses both views: highest macro-F1 (0.612) with accuracy above 0.91.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1A1A1A"/>
                </a:solidFill>
                <a:latin typeface="Times New Roman"/>
                <a:cs typeface="Times New Roman"/>
              </a:rPr>
              <a:t>Results: End-to-End Cascade (CNN Stage 1 + Stage 2)</a:t>
            </a:r>
          </a:p>
        </p:txBody>
      </p:sp>
      <p:pic>
        <p:nvPicPr>
          <p:cNvPr id="10" name="Picture 9" descr="cascade_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1894438"/>
            <a:ext cx="8500000" cy="5011123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000000" y="2300000"/>
          <a:ext cx="6999997" cy="210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31914"/>
                <a:gridCol w="968085"/>
                <a:gridCol w="1414893"/>
                <a:gridCol w="1489361"/>
                <a:gridCol w="595744"/>
              </a:tblGrid>
              <a:tr h="700000"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Sens.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Cond. Acc.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End-to-end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n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Strict (2 patients)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1.00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1.00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1.00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4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22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Broad (13 patients)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0.957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0.744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0.696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</a:rPr>
                        <a:t>46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08080"/>
                      </a:solidFill>
                      <a:prstDash val="soli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0000000" y="4700000"/>
            <a:ext cx="70000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Strict = patients unseen by both stages; broad is optimistic for Stage 1.</a:t>
            </a:r>
          </a:p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</a:rPr>
              <a:t>Strict result is only 4 events and is not statistically solid.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7300" y="695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05000"/>
              </a:lnSpc>
              <a:spcAft>
                <a:spcPts val="600"/>
              </a:spcAft>
              <a:buFont typeface="Arial"/>
              <a:buChar char="•"/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This cascade chains the earlier independent CNNs; it is the end-to-end reference for the hierarchy idea.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Limitations &amp; Future Enhancements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75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18000"/>
              </a:lnSpc>
              <a:spcAft>
                <a:spcPts val="600"/>
              </a:spcAft>
              <a:buFont typeface="Arial"/>
              <a:buChar char="•"/>
            </a:pP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Extreme data scarcity: Focal Aware and FBTC come from one Siena patient each; the FA test set has only 16 windows (4 correct).</a:t>
            </a:r>
          </a:p>
          <a:p>
            <a:pPr marL="571500" indent="-571500">
              <a:lnSpc>
                <a:spcPct val="118000"/>
              </a:lnSpc>
              <a:spcAft>
                <a:spcPts val="600"/>
              </a:spcAft>
              <a:buFont typeface="Arial"/>
              <a:buChar char="•"/>
            </a:pP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v2 / v4 use an event-level split, so the same patient appears in train and test; this is weaker than patient-independent generalization.</a:t>
            </a:r>
          </a:p>
          <a:p>
            <a:pPr marL="571500" indent="-571500">
              <a:lnSpc>
                <a:spcPct val="118000"/>
              </a:lnSpc>
              <a:spcAft>
                <a:spcPts val="600"/>
              </a:spcAft>
              <a:buFont typeface="Arial"/>
              <a:buChar char="•"/>
            </a:pP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Detection is moderate (AUROC 0.824, sensitivity 0.605 at the best-F1 threshold); window-level only, with no temporal smoothing.</a:t>
            </a:r>
          </a:p>
          <a:p>
            <a:pPr marL="571500" indent="-571500">
              <a:lnSpc>
                <a:spcPct val="118000"/>
              </a:lnSpc>
              <a:spcAft>
                <a:spcPts val="600"/>
              </a:spcAft>
              <a:buFont typeface="Arial"/>
              <a:buChar char="•"/>
            </a:pP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FA recall of 25 % and FBTC recall of 51 % are not yet clinically sufficient.</a:t>
            </a:r>
          </a:p>
          <a:p>
            <a:pPr marL="571500" indent="-571500">
              <a:lnSpc>
                <a:spcPct val="118000"/>
              </a:lnSpc>
              <a:spcAft>
                <a:spcPts val="600"/>
              </a:spcAft>
              <a:buFont typeface="Arial"/>
              <a:buChar char="•"/>
            </a:pP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Only the three focal subtypes are covered; no prospective or clinical validation.</a:t>
            </a:r>
          </a:p>
          <a:p>
            <a:pPr marL="571500" indent="-571500">
              <a:lnSpc>
                <a:spcPct val="118000"/>
              </a:lnSpc>
              <a:spcAft>
                <a:spcPts val="600"/>
              </a:spcAft>
              <a:buFont typeface="Arial"/>
              <a:buChar char="•"/>
            </a:pPr>
            <a:r>
              <a:rPr sz="3000" b="0" i="0">
                <a:solidFill>
                  <a:srgbClr val="1A1A1A"/>
                </a:solidFill>
                <a:latin typeface="Times New Roman"/>
                <a:cs typeface="Times New Roman"/>
              </a:rPr>
              <a:t>Future: more multi-patient subtype data (e.g. TUSZ), true patient-independent evaluation, rare generalized subtypes, event-level smoothing and real-time deployment.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750000"/>
            <a:ext cx="15773400" cy="7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25000"/>
              </a:lnSpc>
              <a:spcAft>
                <a:spcPts val="600"/>
              </a:spcAft>
              <a:buFont typeface="Arial"/>
              <a:buChar char="•"/>
            </a:pPr>
            <a:r>
              <a:rPr sz="3400" b="0" i="0">
                <a:solidFill>
                  <a:srgbClr val="1A1A1A"/>
                </a:solidFill>
                <a:latin typeface="Times New Roman"/>
                <a:cs typeface="Times New Roman"/>
              </a:rPr>
              <a:t>EEG-HDC v4 combines a standardized 18-channel preprocessing pipeline with a dual-embedding CRNN (128-D frozen + 128-D fine-tuned = 256-D).</a:t>
            </a:r>
          </a:p>
          <a:p>
            <a:pPr marL="571500" indent="-571500">
              <a:lnSpc>
                <a:spcPct val="125000"/>
              </a:lnSpc>
              <a:spcAft>
                <a:spcPts val="600"/>
              </a:spcAft>
              <a:buFont typeface="Arial"/>
              <a:buChar char="•"/>
            </a:pPr>
            <a:r>
              <a:rPr sz="3400" b="0" i="0">
                <a:solidFill>
                  <a:srgbClr val="1A1A1A"/>
                </a:solidFill>
                <a:latin typeface="Times New Roman"/>
                <a:cs typeface="Times New Roman"/>
              </a:rPr>
              <a:t>Latent-space SMOTE handles severe subtype imbalance without corrupting raw EEG.</a:t>
            </a:r>
          </a:p>
          <a:p>
            <a:pPr marL="571500" indent="-571500">
              <a:lnSpc>
                <a:spcPct val="125000"/>
              </a:lnSpc>
              <a:spcAft>
                <a:spcPts val="600"/>
              </a:spcAft>
              <a:buFont typeface="Arial"/>
              <a:buChar char="•"/>
            </a:pPr>
            <a:r>
              <a:rPr sz="3400" b="0" i="0">
                <a:solidFill>
                  <a:srgbClr val="1A1A1A"/>
                </a:solidFill>
                <a:latin typeface="Times New Roman"/>
                <a:cs typeface="Times New Roman"/>
              </a:rPr>
              <a:t>Best configuration (HistGB, 3× FA / 5× FBTC): accuracy 0.911, macro-F1 0.612, recall FA 25.0 %, FIA 96.2 %, FBTC 51.4 %.</a:t>
            </a:r>
          </a:p>
          <a:p>
            <a:pPr marL="571500" indent="-571500">
              <a:lnSpc>
                <a:spcPct val="125000"/>
              </a:lnSpc>
              <a:spcAft>
                <a:spcPts val="600"/>
              </a:spcAft>
              <a:buFont typeface="Arial"/>
              <a:buChar char="•"/>
            </a:pPr>
            <a:r>
              <a:rPr sz="3400" b="0" i="0">
                <a:solidFill>
                  <a:srgbClr val="1A1A1A"/>
                </a:solidFill>
                <a:latin typeface="Times New Roman"/>
                <a:cs typeface="Times New Roman"/>
              </a:rPr>
              <a:t>Positive control gaps on both minority classes (ΔFA = +0.117, ΔFBTC = +0.069) indicate the model is not merely recognising patients.</a:t>
            </a:r>
          </a:p>
          <a:p>
            <a:pPr marL="571500" indent="-571500">
              <a:lnSpc>
                <a:spcPct val="125000"/>
              </a:lnSpc>
              <a:spcAft>
                <a:spcPts val="600"/>
              </a:spcAft>
              <a:buFont typeface="Arial"/>
              <a:buChar char="•"/>
            </a:pPr>
            <a:r>
              <a:rPr sz="3400" b="0" i="0">
                <a:solidFill>
                  <a:srgbClr val="1A1A1A"/>
                </a:solidFill>
                <a:latin typeface="Times New Roman"/>
                <a:cs typeface="Times New Roman"/>
              </a:rPr>
              <a:t>Macro-F1 improves from 0.315 (1D-CNN baseline) to 0.612 and v4 is the only model that detects all three subtypes.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450000"/>
            <a:ext cx="15773400" cy="7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[1]	N. Ilakiyaselvan, A. N. Khan, and A. Shahina, “Deep learning approach to detect seizure using reconstructed phase space images,” J. Biomed. Res., vol. 34, no. 3, p. 240, 2020.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[2]	S. Srinivasan, S. Dayalane, S. K. Mathivanan, H. Rajadurai, P. Jayagopal, and G. T. Dalu, “Detection and classification of adult epilepsy using hybrid deep learning approach,” Sci. Rep., vol. 13, no. 1, Art. no. 17574, Oct. 2023.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[3]	H. Albaqami, G. M. Hassan, and A. Datta, “Wavelet-based multi-class seizure type classification system,” Appl. Sci., vol. 12, no. 11, Art. no. 5702, Jun. 2022.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[4]	A. Abdelhameed and M. Bayoumi, “A deep learning approach for automatic seizure detection in children with epilepsy,” Front. Comput. Neurosci., vol. 15, Art. no. 650050, Apr. 2021.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[5]	M. Guendelman, R. Vekslar, and O. Shriki, “A new perspective in epileptic seizure classification: Applying the taxonomy of seizure dynamotypes to non-invasive EEG and examining dynamical changes across sleep stages,” eNeuro, vol. 12, no. 1, Art. no. ENEURO.0157-24.2024, Jan. 2025.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450000"/>
            <a:ext cx="15773400" cy="7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[6]	M. K. Siddiqui, R. Morales-Menendez, X. Huang, and N. Hussain, “A review of epileptic seizure detection using machine learning classifiers,” Brain Inform., vol. 7, no. 1, p. 5, May 2020.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[7]	Y. Yuan et al., “A transformer-based framework with data augmentation for robust seizure detection across invasive and non-invasive neural recordings,” CNS Neurosci. Ther., vol. 31, no. 9, Art. no. e70584, Sep. 2025.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[8]	P. A. Akor, G. Enemali, U. Muhammad, R. R. Singh, and H. Larijani, “An attention-residual convolutional network for real-time seizure classification on edge devices,” Sensors, vol. 25, no. 22, Art. no. 6855, Nov. 2025.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[9]	A. Ulate-Campos, F. Coughlin, M. Gaínza-Lein, I. S. Fernández, P. L. Pearl, and T. Loddenkemper, “Automated seizure detection systems and their effectiveness for each type of seizure,” Seizure, vol. 40, pp. 88–101, Aug. 2016.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[10]	U. R. Acharya, Y. Hagiwara, and H. Adeli, “Automated seizure prediction,” Epilepsy Behav., vol. 88, pp. 251–261, Nov. 2018.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450000"/>
            <a:ext cx="15773400" cy="7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[11]	X. Wei, L. Zhou, Z. Chen, L. Zhang, and Y. Zhou, “Automatic seizure detection using three-dimensional CNN based on multi-channel EEG,” BMC Med. Inform. Decis. Mak., vol. 18, no. S5, Art. no. 111, Dec. 2018.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[12]	R. San-Segundo, M. Gil-Martín, L. F. D’Haro-Enríquez, and J. M. Pardo, “Classification of epileptic EEG recordings using signal transforms and convolutional neural networks,” Comput. Biol. Med., vol. 109, pp. 148–158, Jun. 2019.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[13]	Y. Wang, Y. Shi, Z. He, Z. Chen, and Y. Zhou, “Combining temporal and spatial attention for seizure prediction,” Health Inf. Sci. Syst., vol. 11, no. 1, Art. no. 38, Aug. 2023.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[14]	L. Bai, G. Litscher, and X. Li, “Epileptic seizure detection using machine learning: A systematic review and meta-analysis,” Brain Sci., vol. 15, no. 6, Art. no. 634, Jun. 2025.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[15]	I. Jemal, L. Abou-Abbas, K. Henni, A. Mitiche, and N. Mezghani, “Domain adaptation for EEG-based, cross-subject epileptic seizure prediction,” Front. Neuroinform., vol. 18, Art. no. 1303380, Feb. 2024.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450000"/>
            <a:ext cx="15773400" cy="7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[16]	B. P. Prathaban and R. Balasubramanian, “Dynamic learning framework for epileptic seizure prediction using sparsity based EEG reconstruction with optimized CNN classifier,” Expert Syst. Appl., vol. 170, Art. no. 114533, May 2021.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[17]	S. Raghu, N. Sriraam, Y. Temel, S. V. Rao, and P. L. Kubben, “EEG based multi-class seizure type classification using convolutional neural network and transfer learning,” Neural Netw., vol. 124, pp. 202–212, Apr. 2020.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[18]	S. Wong et al., “EEG datasets for seizure detection and prediction—A review,” Epilepsia Open, vol. 8, no. 2, pp. 252–267, Jun. 2023.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[19]	A. A. Ein Shoka, M. M. Dessouky, A. El-Sayed, and E. E.-D. Hemdan, “EEG seizure detection: Concepts, techniques, challenges, and future trends,” Multimed. Tools Appl., vol. 82, no. 27, pp. 42021–42051, 2023.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[20]	W. Cao, Q. Li, A. Zhang, and T. Wang, “Efficient and accurate epilepsy seizure prediction and detection based on multi-teacher knowledge distillation RGF-model,” Brain Sci., vol. 16, no. 1, Art. no. 83, Jan. 2026.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450000"/>
            <a:ext cx="15773400" cy="7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[21]	N. McCallan et al., “Epileptic multi-seizure type classification using electroencephalogram signals from the Temple University Hospital Seizure Corpus: A review,” Expert Syst. Appl., vol. 234, Art. no. 121040, Dec. 2023.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[22]	M. Zhou et al., “Epileptic seizure detection based on EEG signals and CNN,” Front. Neuroinform., vol. 12, Art. no. 95, Dec. 2018.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[23]	A. T. Tzallas, M. G. Tsipouras, and D. I. Fotiadis, “Epileptic seizure detection in EEGs using time–frequency analysis,” IEEE Trans. Inf. Technol. Biomed., vol. 13, no. 5, pp. 703–710, Sep. 2009.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[24]	A. Subasi, J. Kevric, and M. Abdullah Canbaz, “Epileptic seizure detection using hybrid machine learning methods,” Neural Comput. Appl., vol. 31, no. 1, pp. 317–325, 2019.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[25]	M. S. Farooq, A. Zulfiqar, and S. Riaz, “Epileptic seizure detection using machine learning: Taxonomy, opportunities, and challenges,” Diagnostics, vol. 13, no. 6, Art. no. 1058, Mar. 2023.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450000"/>
            <a:ext cx="15773400" cy="7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[26]	E. Ali, M. Angelova, and C. Karmakar, “Epileptic seizure detection using CHB-MIT dataset: The overlooked perspectives,” R. Soc. Open Sci., vol. 11, no. 3, 2024.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[27]	A. Shoeibi et al., “Epileptic seizures detection using deep learning techniques: A review,” Int. J. Environ. Res. Public Health, vol. 18, no. 11, Art. no. 5780, May 2021.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[28]	T. K. Murugan and A. Kameswaran, “Employing convolutional neural networks and explainable artificial intelligence for the detection of seizures from electroencephalogram signal,” Results Eng., vol. 24, Art. no. 103378, Dec. 2024.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[29]	S. Cuyckens, R. Antonio, C. Fang, and M. Verhelst, “iEEG seizure detection with a sparse hyperdimensional computing accelerator,” in Proc. IEEE Int. Symp. Circuits Syst. (ISCAS), 2023.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[30]	P. Thodoroff, J. Pineau, and A. Lim, “Learning robust features using deep learning for automatic seizure detection,” in Proc. Mach. Learn. Healthcare Conf. (MLHC), vol. 56, 2016, pp. 178–190.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450000"/>
            <a:ext cx="15773400" cy="7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[31]	T. Sverrisson and S. Gudmundsson, “LookAroundNet: Extending temporal context with transformers for clinically viable EEG seizure detection,” arXiv preprint, 2025.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[32]	G. Giannakakis, V. Sakkalis, M. Pediaditis, and M. Tsiknakis, “Methods for seizure detection and prediction: An overview,” in Modern Electroencephalographic Assessment Techniques (Neuromethods, vol. 91). New York, NY, USA: Springer, 2015, pp. 131–157.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[33]	Y. Yang, K. Guo, Z. Fang, H. Lin, M. Grosser, and J. Lu, “Multi-model transfer learning and genotypic analysis for seizure type classification,” in Lecture Notes in Computer Science. Springer, 2023, pp. 223–234.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[34]	D. Ahmedt-Aristizabal, T. Fernando, S. Denman, L. Petersson, M. J. Aburn, and C. Fookes, “Neural memory networks for seizure type classification,” in Proc. 42nd Annu. Int. Conf. IEEE Eng. Med. Biol. Soc. (EMBC), Jul. 2020, pp. 569–575.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[35]	S. Ghosh, V. Singh, and O. S. Powar, “Seizure detection using EEG on the CHB-MIT dataset via multi-domain feature engineering and classical machine learning,” Discov. Appl. Sci., vol. 8, no. 3, Art. no. 312, 2026.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450000"/>
            <a:ext cx="15773400" cy="7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[36]	M. L. Scheuer, S. B. Wilson, A. Antony, G. Ghearing, A. Urban, and A. I. Bagić, “Seizure detection: Interreader agreement and detection algorithm assessments using a large dataset,” J. Clin. Neurophysiol., vol. 38, no. 5, pp. 439–447, Sep. 2021.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[37]	S. Roy, U. Asif, J. Tang, and S. Harrer, “Seizure type classification using EEG signals and machine learning: Setting a benchmark,” in Proc. IEEE Signal Process. Med. Biol. Symp. (SPMB), Dec. 2020, pp. 1–6.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[38]	C. Baumgartner and J. P. Koren, “Seizure detection using scalp-EEG,” Epilepsia, vol. 59, no. S1, pp. 14–22, Jun. 2018.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[39]	U. Asif, S. Roy, J. Tang, and S. Harrer, “SeizureNet: Multi-spectral deep feature learning for seizure type classification,” in Machine Learning in Clinical Neuroimaging and Radiogenomics in Neuro-oncology (Lecture Notes in Computer Science). Springer, 2020, pp. 77–87.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[40]	K. Wu, Z. Zhao, and B. Yener, “SeizureTransformer: Scaling U-Net with transformer for simultaneous time-step level seizure detection from long EEG recordings,” arXiv:2504.00336, 2025.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450000"/>
            <a:ext cx="15773400" cy="7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[41]	W. Weng et al., “Self-supervised learning for electroencephalogram: A systematic survey,” ACM Comput. Surv., vol. 57, no. 12, pp. 1–38, 2025.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[42]	J. J. Falco-Walter, I. E. Scheffer, and R. S. Fisher, “The new definition and classification of seizures and epilepsy,” Epilepsy Res., vol. 139, pp. 73–79, Jan. 2018.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[43]	L. Wei and C. Mooney, “Transfer learning-based seizure detection on multiple channels of paediatric EEGs,” in Proc. 45th Annu. Int. Conf. IEEE Eng. Med. Biol. Soc. (EMBC), Jul. 2023, pp. 1–4.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[44]	H. Banville, O. Chehab, A. Hyvärinen, D.-A. Engemann, and A. Gramfort, “Uncovering the structure of clinical EEG signals with self-supervised learning,” J. Neural Eng., vol. 18, no. 4, Art. no. 046020, 2021.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[45]	A. Shoeibi et al., “Automatic diagnosis of schizophrenia in EEG signals using CNN-LSTM models,” Front. Neuroinform., vol. 15, Art. no. 777977, Nov. 2021.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7A7E6-0BB5-4562-B4D8-B2D95118667A}" type="datetime3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 August 2026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8000" y="230000"/>
            <a:ext cx="1727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1450000"/>
            <a:ext cx="15773400" cy="7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[46]	R. S. Fisher et al., “Operational classification of seizure types by the International League Against Epilepsy: Position paper of the ILAE Commission for Classification and Terminology,” Epilepsia, vol. 58, no. 4, pp. 522–530, Apr. 2017.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[47]	P. Detti et al., “Siena Scalp EEG Database,” PhysioNet, 2020. [Online]. Available: https://doi.org/10.13026/5d4a-j060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[48]	A. H. Shoeb, “Application of machine learning to epileptic seizure onset detection and treatment,” Ph.D. dissertation, Dept. Elect. Eng. Comput. Sci., Massachusetts Inst. Technol., Cambridge, MA, USA, 2009 (CHB-MIT Scalp EEG Database).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[49]	S. Roy, I. Kiral-Kornek, and S. Harrer, “ChronoNet: A deep recurrent neural network for abnormal EEG identification,” in Proc. Conf. Artif. Intell. Med. (AIME), 2019, pp. 47–56.</a:t>
            </a:r>
          </a:p>
          <a:p>
            <a:pPr algn="just" marL="914400" indent="-914400">
              <a:lnSpc>
                <a:spcPct val="110000"/>
              </a:lnSpc>
              <a:spcAft>
                <a:spcPts val="1800"/>
              </a:spcAft>
              <a:tabLst>
                <a:tab pos="914400" algn="l"/>
              </a:tabLst>
            </a:pPr>
            <a:r>
              <a:rPr sz="2800" b="0" i="0">
                <a:solidFill>
                  <a:srgbClr val="1A1A1A"/>
                </a:solidFill>
                <a:latin typeface="Times New Roman"/>
                <a:cs typeface="Times New Roman"/>
              </a:rPr>
              <a:t>[50]	K. Saab, J. Dunnmon, C. Ré, D. Rubin, and C. Lee-Messer, “Weak supervision as an efficient approach for automated seizure detection in electroencephalography,” npj Digit. Med., vol. 3, no. 1, Art. no. 59, Apr. 2020.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9554</TotalTime>
  <Words>3094</Words>
  <Application>Microsoft Office PowerPoint</Application>
  <PresentationFormat>Custom</PresentationFormat>
  <Paragraphs>247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Arial</vt:lpstr>
      <vt:lpstr>Calibri</vt:lpstr>
      <vt:lpstr>Calibri Light</vt:lpstr>
      <vt:lpstr>Times New Roman</vt:lpstr>
      <vt:lpstr>Wingdings</vt:lpstr>
      <vt:lpstr>Office Theme</vt:lpstr>
      <vt:lpstr>1_Office Theme</vt:lpstr>
      <vt:lpstr>Vivekananda College of Engineering &amp; Technology</vt:lpstr>
      <vt:lpstr>Contents</vt:lpstr>
      <vt:lpstr>PowerPoint Presentation</vt:lpstr>
      <vt:lpstr>Problem Statement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Seminar Presentation</dc:title>
  <dc:creator>Devadatta Bhat</dc:creator>
  <cp:keywords>DAFfHv8tBnY,BAEw4UIMEh0</cp:keywords>
  <cp:lastModifiedBy>Adithya .</cp:lastModifiedBy>
  <cp:revision>248</cp:revision>
  <dcterms:created xsi:type="dcterms:W3CDTF">2023-04-19T04:19:00Z</dcterms:created>
  <dcterms:modified xsi:type="dcterms:W3CDTF">2026-08-10T09:43:25Z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2023-04-05T11:00:00Z</vt:filetime>
  </property>
  <property fmtid="{D5CDD505-2E9C-101B-9397-08002B2CF9AE}" pid="3" name="Creator">
    <vt:lpwstr>Canva</vt:lpwstr>
  </property>
  <property fmtid="{D5CDD505-2E9C-101B-9397-08002B2CF9AE}" pid="4" name="LastSaved">
    <vt:filetime>2023-04-05T11:00:00Z</vt:filetime>
  </property>
  <property fmtid="{D5CDD505-2E9C-101B-9397-08002B2CF9AE}" pid="5" name="ContentTypeId">
    <vt:lpwstr>0x0101008301C2465860E646B06EEF43E40A17DD</vt:lpwstr>
  </property>
  <property fmtid="{D5CDD505-2E9C-101B-9397-08002B2CF9AE}" pid="6" name="ICV">
    <vt:lpwstr>51D16898E5F34F01B2EC78FD561D3C06</vt:lpwstr>
  </property>
  <property fmtid="{D5CDD505-2E9C-101B-9397-08002B2CF9AE}" pid="7" name="KSOProductBuildVer">
    <vt:lpwstr>1033-11.2.0.11225</vt:lpwstr>
  </property>
</Properties>
</file>