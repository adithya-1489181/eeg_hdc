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2.xml" ContentType="application/vnd.openxmlformats-officedocument.drawingml.chart+xml"/>
  <Override PartName="/ppt/notesSlides/notesSlide21.xml" ContentType="application/vnd.openxmlformats-officedocument.presentationml.notesSlide+xml"/>
  <Override PartName="/ppt/charts/chart3.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52"/>
  </p:notesMasterIdLst>
  <p:sldIdLst>
    <p:sldId id="256" r:id="rId3"/>
    <p:sldId id="257" r:id="rId4"/>
    <p:sldId id="298" r:id="rId5"/>
    <p:sldId id="259" r:id="rId6"/>
    <p:sldId id="260" r:id="rId7"/>
    <p:sldId id="334" r:id="rId8"/>
    <p:sldId id="258" r:id="rId9"/>
    <p:sldId id="335" r:id="rId10"/>
    <p:sldId id="336" r:id="rId11"/>
    <p:sldId id="261" r:id="rId12"/>
    <p:sldId id="262" r:id="rId13"/>
    <p:sldId id="263" r:id="rId14"/>
    <p:sldId id="264" r:id="rId15"/>
    <p:sldId id="265" r:id="rId16"/>
    <p:sldId id="331" r:id="rId17"/>
    <p:sldId id="332" r:id="rId18"/>
    <p:sldId id="337" r:id="rId19"/>
    <p:sldId id="338" r:id="rId20"/>
    <p:sldId id="339" r:id="rId21"/>
    <p:sldId id="340" r:id="rId22"/>
    <p:sldId id="341" r:id="rId23"/>
    <p:sldId id="342" r:id="rId24"/>
    <p:sldId id="343" r:id="rId25"/>
    <p:sldId id="344" r:id="rId26"/>
    <p:sldId id="345" r:id="rId27"/>
    <p:sldId id="346" r:id="rId28"/>
    <p:sldId id="347" r:id="rId29"/>
    <p:sldId id="348" r:id="rId30"/>
    <p:sldId id="349" r:id="rId31"/>
    <p:sldId id="350" r:id="rId32"/>
    <p:sldId id="351" r:id="rId33"/>
    <p:sldId id="352" r:id="rId34"/>
    <p:sldId id="353" r:id="rId35"/>
    <p:sldId id="354" r:id="rId36"/>
    <p:sldId id="355" r:id="rId37"/>
    <p:sldId id="356" r:id="rId38"/>
    <p:sldId id="357" r:id="rId39"/>
    <p:sldId id="358" r:id="rId40"/>
    <p:sldId id="359" r:id="rId41"/>
    <p:sldId id="360" r:id="rId42"/>
    <p:sldId id="361" r:id="rId43"/>
    <p:sldId id="362" r:id="rId44"/>
    <p:sldId id="363" r:id="rId45"/>
    <p:sldId id="364" r:id="rId46"/>
    <p:sldId id="365" r:id="rId47"/>
    <p:sldId id="366" r:id="rId48"/>
    <p:sldId id="367" r:id="rId49"/>
    <p:sldId id="368" r:id="rId50"/>
    <p:sldId id="273" r:id="rId51"/>
  </p:sldIdLst>
  <p:sldSz cx="18288000" cy="10287000"/>
  <p:notesSz cx="18288000" cy="10287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58">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1" autoAdjust="0"/>
    <p:restoredTop sz="76942" autoAdjust="0"/>
  </p:normalViewPr>
  <p:slideViewPr>
    <p:cSldViewPr>
      <p:cViewPr varScale="1">
        <p:scale>
          <a:sx n="43" d="100"/>
          <a:sy n="43" d="100"/>
        </p:scale>
        <p:origin x="605" y="72"/>
      </p:cViewPr>
      <p:guideLst>
        <p:guide orient="horz" pos="2858"/>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1D-CNN (LOSO)</c:v>
                </c:pt>
              </c:strCache>
            </c:strRef>
          </c:tx>
          <c:spPr>
            <a:solidFill>
              <a:srgbClr val="7F7F7F"/>
            </a:solidFill>
          </c:spPr>
          <c:invertIfNegative val="0"/>
          <c:dLbls>
            <c:numFmt formatCode="0.00" sourceLinked="0"/>
            <c:spPr>
              <a:noFill/>
              <a:ln>
                <a:noFill/>
              </a:ln>
              <a:effectLst/>
            </c:spPr>
            <c:txPr>
              <a:bodyPr/>
              <a:lstStyle/>
              <a:p>
                <a:pPr>
                  <a:defRPr sz="2000">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Focal Aware</c:v>
                </c:pt>
                <c:pt idx="1">
                  <c:v>Focal Impaired Awareness</c:v>
                </c:pt>
                <c:pt idx="2">
                  <c:v>FBTC</c:v>
                </c:pt>
              </c:strCache>
            </c:strRef>
          </c:cat>
          <c:val>
            <c:numRef>
              <c:f>Sheet1!$B$2:$B$4</c:f>
              <c:numCache>
                <c:formatCode>General</c:formatCode>
                <c:ptCount val="3"/>
                <c:pt idx="0">
                  <c:v>0</c:v>
                </c:pt>
                <c:pt idx="1">
                  <c:v>0.98899999999999999</c:v>
                </c:pt>
                <c:pt idx="2">
                  <c:v>0</c:v>
                </c:pt>
              </c:numCache>
            </c:numRef>
          </c:val>
          <c:extLst>
            <c:ext xmlns:c16="http://schemas.microsoft.com/office/drawing/2014/chart" uri="{C3380CC4-5D6E-409C-BE32-E72D297353CC}">
              <c16:uniqueId val="{00000000-2D76-4E23-8960-9E34A78B212B}"/>
            </c:ext>
          </c:extLst>
        </c:ser>
        <c:ser>
          <c:idx val="1"/>
          <c:order val="1"/>
          <c:tx>
            <c:strRef>
              <c:f>Sheet1!$C$1</c:f>
              <c:strCache>
                <c:ptCount val="1"/>
                <c:pt idx="0">
                  <c:v>Fine-tuned CRNN (v2)</c:v>
                </c:pt>
              </c:strCache>
            </c:strRef>
          </c:tx>
          <c:spPr>
            <a:solidFill>
              <a:srgbClr val="404040"/>
            </a:solidFill>
          </c:spPr>
          <c:invertIfNegative val="0"/>
          <c:dLbls>
            <c:numFmt formatCode="0.00" sourceLinked="0"/>
            <c:spPr>
              <a:noFill/>
              <a:ln>
                <a:noFill/>
              </a:ln>
              <a:effectLst/>
            </c:spPr>
            <c:txPr>
              <a:bodyPr/>
              <a:lstStyle/>
              <a:p>
                <a:pPr>
                  <a:defRPr sz="2000">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Focal Aware</c:v>
                </c:pt>
                <c:pt idx="1">
                  <c:v>Focal Impaired Awareness</c:v>
                </c:pt>
                <c:pt idx="2">
                  <c:v>FBTC</c:v>
                </c:pt>
              </c:strCache>
            </c:strRef>
          </c:cat>
          <c:val>
            <c:numRef>
              <c:f>Sheet1!$C$2:$C$4</c:f>
              <c:numCache>
                <c:formatCode>General</c:formatCode>
                <c:ptCount val="3"/>
                <c:pt idx="0">
                  <c:v>0</c:v>
                </c:pt>
                <c:pt idx="1">
                  <c:v>0.97</c:v>
                </c:pt>
                <c:pt idx="2">
                  <c:v>0.45900000000000002</c:v>
                </c:pt>
              </c:numCache>
            </c:numRef>
          </c:val>
          <c:extLst>
            <c:ext xmlns:c16="http://schemas.microsoft.com/office/drawing/2014/chart" uri="{C3380CC4-5D6E-409C-BE32-E72D297353CC}">
              <c16:uniqueId val="{00000001-2D76-4E23-8960-9E34A78B212B}"/>
            </c:ext>
          </c:extLst>
        </c:ser>
        <c:ser>
          <c:idx val="2"/>
          <c:order val="2"/>
          <c:tx>
            <c:strRef>
              <c:f>Sheet1!$D$1</c:f>
              <c:strCache>
                <c:ptCount val="1"/>
                <c:pt idx="0">
                  <c:v>EEG-HDC v4</c:v>
                </c:pt>
              </c:strCache>
            </c:strRef>
          </c:tx>
          <c:spPr>
            <a:solidFill>
              <a:srgbClr val="C00000"/>
            </a:solidFill>
          </c:spPr>
          <c:invertIfNegative val="0"/>
          <c:dLbls>
            <c:numFmt formatCode="0.00" sourceLinked="0"/>
            <c:spPr>
              <a:noFill/>
              <a:ln>
                <a:noFill/>
              </a:ln>
              <a:effectLst/>
            </c:spPr>
            <c:txPr>
              <a:bodyPr/>
              <a:lstStyle/>
              <a:p>
                <a:pPr>
                  <a:defRPr sz="2000">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Focal Aware</c:v>
                </c:pt>
                <c:pt idx="1">
                  <c:v>Focal Impaired Awareness</c:v>
                </c:pt>
                <c:pt idx="2">
                  <c:v>FBTC</c:v>
                </c:pt>
              </c:strCache>
            </c:strRef>
          </c:cat>
          <c:val>
            <c:numRef>
              <c:f>Sheet1!$D$2:$D$4</c:f>
              <c:numCache>
                <c:formatCode>General</c:formatCode>
                <c:ptCount val="3"/>
                <c:pt idx="0">
                  <c:v>0.25</c:v>
                </c:pt>
                <c:pt idx="1">
                  <c:v>0.96199999999999997</c:v>
                </c:pt>
                <c:pt idx="2">
                  <c:v>0.51400000000000001</c:v>
                </c:pt>
              </c:numCache>
            </c:numRef>
          </c:val>
          <c:extLst>
            <c:ext xmlns:c16="http://schemas.microsoft.com/office/drawing/2014/chart" uri="{C3380CC4-5D6E-409C-BE32-E72D297353CC}">
              <c16:uniqueId val="{00000002-2D76-4E23-8960-9E34A78B212B}"/>
            </c:ext>
          </c:extLst>
        </c:ser>
        <c:dLbls>
          <c:dLblPos val="outEnd"/>
          <c:showLegendKey val="0"/>
          <c:showVal val="1"/>
          <c:showCatName val="0"/>
          <c:showSerName val="0"/>
          <c:showPercent val="0"/>
          <c:showBubbleSize val="0"/>
        </c:dLbls>
        <c:gapWidth val="60"/>
        <c:overlap val="-5"/>
        <c:axId val="-2068027336"/>
        <c:axId val="-2113994440"/>
      </c:barChart>
      <c:catAx>
        <c:axId val="-2068027336"/>
        <c:scaling>
          <c:orientation val="minMax"/>
        </c:scaling>
        <c:delete val="0"/>
        <c:axPos val="b"/>
        <c:numFmt formatCode="General" sourceLinked="0"/>
        <c:majorTickMark val="out"/>
        <c:minorTickMark val="none"/>
        <c:tickLblPos val="low"/>
        <c:txPr>
          <a:bodyPr/>
          <a:lstStyle/>
          <a:p>
            <a:pPr>
              <a:defRPr sz="2400">
                <a:latin typeface="Times New Roman"/>
              </a:defRPr>
            </a:pPr>
            <a:endParaRPr lang="en-US"/>
          </a:p>
        </c:txPr>
        <c:crossAx val="-2113994440"/>
        <c:crosses val="autoZero"/>
        <c:auto val="1"/>
        <c:lblAlgn val="ctr"/>
        <c:lblOffset val="100"/>
        <c:noMultiLvlLbl val="0"/>
      </c:catAx>
      <c:valAx>
        <c:axId val="-2113994440"/>
        <c:scaling>
          <c:orientation val="minMax"/>
          <c:max val="1.1000000000000001"/>
          <c:min val="0"/>
        </c:scaling>
        <c:delete val="0"/>
        <c:axPos val="l"/>
        <c:majorGridlines>
          <c:spPr>
            <a:ln>
              <a:solidFill>
                <a:srgbClr val="D0D0D0"/>
              </a:solidFill>
            </a:ln>
          </c:spPr>
        </c:majorGridlines>
        <c:numFmt formatCode="0.0" sourceLinked="0"/>
        <c:majorTickMark val="out"/>
        <c:minorTickMark val="none"/>
        <c:tickLblPos val="nextTo"/>
        <c:txPr>
          <a:bodyPr/>
          <a:lstStyle/>
          <a:p>
            <a:pPr>
              <a:defRPr sz="2400">
                <a:latin typeface="Times New Roman"/>
              </a:defRPr>
            </a:pPr>
            <a:endParaRPr lang="en-US"/>
          </a:p>
        </c:txPr>
        <c:crossAx val="-2068027336"/>
        <c:crosses val="autoZero"/>
        <c:crossBetween val="between"/>
      </c:valAx>
    </c:plotArea>
    <c:legend>
      <c:legendPos val="b"/>
      <c:overlay val="0"/>
      <c:txPr>
        <a:bodyPr/>
        <a:lstStyle/>
        <a:p>
          <a:pPr>
            <a:defRPr sz="2400">
              <a:latin typeface="Times New Roman"/>
            </a:defRPr>
          </a:pPr>
          <a:endParaRPr lang="en-US"/>
        </a:p>
      </c:txPr>
    </c:legend>
    <c:plotVisOnly val="1"/>
    <c:dispBlanksAs val="gap"/>
    <c:showDLblsOverMax val="1"/>
  </c:chart>
  <c:txPr>
    <a:bodyPr/>
    <a:lstStyle/>
    <a:p>
      <a:pPr>
        <a:defRPr sz="2400">
          <a:latin typeface="Times New Roman"/>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Δ Focal Aware</c:v>
                </c:pt>
              </c:strCache>
            </c:strRef>
          </c:tx>
          <c:spPr>
            <a:solidFill>
              <a:srgbClr val="7F7F7F"/>
            </a:solidFill>
          </c:spPr>
          <c:invertIfNegative val="0"/>
          <c:dLbls>
            <c:numFmt formatCode="\+0.00;\-0.00;0.00" sourceLinked="0"/>
            <c:spPr>
              <a:noFill/>
              <a:ln>
                <a:noFill/>
              </a:ln>
              <a:effectLst/>
            </c:spPr>
            <c:txPr>
              <a:bodyPr/>
              <a:lstStyle/>
              <a:p>
                <a:pPr>
                  <a:defRPr sz="2000">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MLP</c:v>
                </c:pt>
                <c:pt idx="1">
                  <c:v>Random Forest</c:v>
                </c:pt>
                <c:pt idx="2">
                  <c:v>HistGB (v4)</c:v>
                </c:pt>
              </c:strCache>
            </c:strRef>
          </c:cat>
          <c:val>
            <c:numRef>
              <c:f>Sheet1!$B$2:$B$4</c:f>
              <c:numCache>
                <c:formatCode>General</c:formatCode>
                <c:ptCount val="3"/>
                <c:pt idx="0">
                  <c:v>0</c:v>
                </c:pt>
                <c:pt idx="1">
                  <c:v>-0.48899999999999999</c:v>
                </c:pt>
                <c:pt idx="2">
                  <c:v>0.11700000000000001</c:v>
                </c:pt>
              </c:numCache>
            </c:numRef>
          </c:val>
          <c:extLst>
            <c:ext xmlns:c16="http://schemas.microsoft.com/office/drawing/2014/chart" uri="{C3380CC4-5D6E-409C-BE32-E72D297353CC}">
              <c16:uniqueId val="{00000000-4DFE-4713-94B7-FB309A21E753}"/>
            </c:ext>
          </c:extLst>
        </c:ser>
        <c:ser>
          <c:idx val="1"/>
          <c:order val="1"/>
          <c:tx>
            <c:strRef>
              <c:f>Sheet1!$C$1</c:f>
              <c:strCache>
                <c:ptCount val="1"/>
                <c:pt idx="0">
                  <c:v>Δ FBTC</c:v>
                </c:pt>
              </c:strCache>
            </c:strRef>
          </c:tx>
          <c:spPr>
            <a:solidFill>
              <a:srgbClr val="C00000"/>
            </a:solidFill>
          </c:spPr>
          <c:invertIfNegative val="0"/>
          <c:dLbls>
            <c:numFmt formatCode="\+0.00;\-0.00;0.00" sourceLinked="0"/>
            <c:spPr>
              <a:noFill/>
              <a:ln>
                <a:noFill/>
              </a:ln>
              <a:effectLst/>
            </c:spPr>
            <c:txPr>
              <a:bodyPr/>
              <a:lstStyle/>
              <a:p>
                <a:pPr>
                  <a:defRPr sz="2000">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MLP</c:v>
                </c:pt>
                <c:pt idx="1">
                  <c:v>Random Forest</c:v>
                </c:pt>
                <c:pt idx="2">
                  <c:v>HistGB (v4)</c:v>
                </c:pt>
              </c:strCache>
            </c:strRef>
          </c:cat>
          <c:val>
            <c:numRef>
              <c:f>Sheet1!$C$2:$C$4</c:f>
              <c:numCache>
                <c:formatCode>General</c:formatCode>
                <c:ptCount val="3"/>
                <c:pt idx="0">
                  <c:v>0.13100000000000001</c:v>
                </c:pt>
                <c:pt idx="1">
                  <c:v>-0.19900000000000001</c:v>
                </c:pt>
                <c:pt idx="2">
                  <c:v>6.9000000000000006E-2</c:v>
                </c:pt>
              </c:numCache>
            </c:numRef>
          </c:val>
          <c:extLst>
            <c:ext xmlns:c16="http://schemas.microsoft.com/office/drawing/2014/chart" uri="{C3380CC4-5D6E-409C-BE32-E72D297353CC}">
              <c16:uniqueId val="{00000001-4DFE-4713-94B7-FB309A21E753}"/>
            </c:ext>
          </c:extLst>
        </c:ser>
        <c:dLbls>
          <c:dLblPos val="outEnd"/>
          <c:showLegendKey val="0"/>
          <c:showVal val="1"/>
          <c:showCatName val="0"/>
          <c:showSerName val="0"/>
          <c:showPercent val="0"/>
          <c:showBubbleSize val="0"/>
        </c:dLbls>
        <c:gapWidth val="60"/>
        <c:overlap val="-5"/>
        <c:axId val="-2068027336"/>
        <c:axId val="-2113994440"/>
      </c:barChart>
      <c:catAx>
        <c:axId val="-2068027336"/>
        <c:scaling>
          <c:orientation val="minMax"/>
        </c:scaling>
        <c:delete val="0"/>
        <c:axPos val="b"/>
        <c:numFmt formatCode="General" sourceLinked="0"/>
        <c:majorTickMark val="out"/>
        <c:minorTickMark val="none"/>
        <c:tickLblPos val="low"/>
        <c:txPr>
          <a:bodyPr/>
          <a:lstStyle/>
          <a:p>
            <a:pPr>
              <a:defRPr sz="2400">
                <a:latin typeface="Times New Roman"/>
              </a:defRPr>
            </a:pPr>
            <a:endParaRPr lang="en-US"/>
          </a:p>
        </c:txPr>
        <c:crossAx val="-2113994440"/>
        <c:crosses val="autoZero"/>
        <c:auto val="1"/>
        <c:lblAlgn val="ctr"/>
        <c:lblOffset val="100"/>
        <c:noMultiLvlLbl val="0"/>
      </c:catAx>
      <c:valAx>
        <c:axId val="-2113994440"/>
        <c:scaling>
          <c:orientation val="minMax"/>
          <c:max val="0.4"/>
          <c:min val="-0.7"/>
        </c:scaling>
        <c:delete val="0"/>
        <c:axPos val="l"/>
        <c:majorGridlines>
          <c:spPr>
            <a:ln>
              <a:solidFill>
                <a:srgbClr val="D0D0D0"/>
              </a:solidFill>
            </a:ln>
          </c:spPr>
        </c:majorGridlines>
        <c:numFmt formatCode="0.0" sourceLinked="0"/>
        <c:majorTickMark val="out"/>
        <c:minorTickMark val="none"/>
        <c:tickLblPos val="nextTo"/>
        <c:txPr>
          <a:bodyPr/>
          <a:lstStyle/>
          <a:p>
            <a:pPr>
              <a:defRPr sz="2400">
                <a:latin typeface="Times New Roman"/>
              </a:defRPr>
            </a:pPr>
            <a:endParaRPr lang="en-US"/>
          </a:p>
        </c:txPr>
        <c:crossAx val="-2068027336"/>
        <c:crosses val="autoZero"/>
        <c:crossBetween val="between"/>
      </c:valAx>
    </c:plotArea>
    <c:legend>
      <c:legendPos val="b"/>
      <c:overlay val="0"/>
      <c:txPr>
        <a:bodyPr/>
        <a:lstStyle/>
        <a:p>
          <a:pPr>
            <a:defRPr sz="2400">
              <a:latin typeface="Times New Roman"/>
            </a:defRPr>
          </a:pPr>
          <a:endParaRPr lang="en-US"/>
        </a:p>
      </c:txPr>
    </c:legend>
    <c:plotVisOnly val="1"/>
    <c:dispBlanksAs val="gap"/>
    <c:showDLblsOverMax val="1"/>
  </c:chart>
  <c:txPr>
    <a:bodyPr/>
    <a:lstStyle/>
    <a:p>
      <a:pPr>
        <a:defRPr sz="2400">
          <a:latin typeface="Times New Roman"/>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Accuracy</c:v>
                </c:pt>
              </c:strCache>
            </c:strRef>
          </c:tx>
          <c:spPr>
            <a:solidFill>
              <a:srgbClr val="7F7F7F"/>
            </a:solidFill>
          </c:spPr>
          <c:invertIfNegative val="0"/>
          <c:dLbls>
            <c:numFmt formatCode="0.00" sourceLinked="0"/>
            <c:spPr>
              <a:noFill/>
              <a:ln>
                <a:noFill/>
              </a:ln>
              <a:effectLst/>
            </c:spPr>
            <c:txPr>
              <a:bodyPr/>
              <a:lstStyle/>
              <a:p>
                <a:pPr>
                  <a:defRPr sz="2000">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LOSO 1D-CNN</c:v>
                </c:pt>
                <c:pt idx="1">
                  <c:v>v1 Synthesis</c:v>
                </c:pt>
                <c:pt idx="2">
                  <c:v>v2 Fine-tuned</c:v>
                </c:pt>
                <c:pt idx="3">
                  <c:v>v3 Frozen sweep</c:v>
                </c:pt>
                <c:pt idx="4">
                  <c:v>v4 Dual-embedding</c:v>
                </c:pt>
              </c:strCache>
            </c:strRef>
          </c:cat>
          <c:val>
            <c:numRef>
              <c:f>Sheet1!$B$2:$B$6</c:f>
              <c:numCache>
                <c:formatCode>General</c:formatCode>
                <c:ptCount val="5"/>
                <c:pt idx="0">
                  <c:v>0.89700000000000002</c:v>
                </c:pt>
                <c:pt idx="1">
                  <c:v>0.93300000000000005</c:v>
                </c:pt>
                <c:pt idx="2">
                  <c:v>0.90700000000000003</c:v>
                </c:pt>
                <c:pt idx="3">
                  <c:v>0.57299999999999995</c:v>
                </c:pt>
                <c:pt idx="4">
                  <c:v>0.91100000000000003</c:v>
                </c:pt>
              </c:numCache>
            </c:numRef>
          </c:val>
          <c:extLst>
            <c:ext xmlns:c16="http://schemas.microsoft.com/office/drawing/2014/chart" uri="{C3380CC4-5D6E-409C-BE32-E72D297353CC}">
              <c16:uniqueId val="{00000000-5DF2-4998-9CFB-0FC966AF81EA}"/>
            </c:ext>
          </c:extLst>
        </c:ser>
        <c:ser>
          <c:idx val="1"/>
          <c:order val="1"/>
          <c:tx>
            <c:strRef>
              <c:f>Sheet1!$C$1</c:f>
              <c:strCache>
                <c:ptCount val="1"/>
                <c:pt idx="0">
                  <c:v>Macro-F1</c:v>
                </c:pt>
              </c:strCache>
            </c:strRef>
          </c:tx>
          <c:spPr>
            <a:solidFill>
              <a:srgbClr val="C00000"/>
            </a:solidFill>
          </c:spPr>
          <c:invertIfNegative val="0"/>
          <c:dLbls>
            <c:numFmt formatCode="0.00" sourceLinked="0"/>
            <c:spPr>
              <a:noFill/>
              <a:ln>
                <a:noFill/>
              </a:ln>
              <a:effectLst/>
            </c:spPr>
            <c:txPr>
              <a:bodyPr/>
              <a:lstStyle/>
              <a:p>
                <a:pPr>
                  <a:defRPr sz="2000">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LOSO 1D-CNN</c:v>
                </c:pt>
                <c:pt idx="1">
                  <c:v>v1 Synthesis</c:v>
                </c:pt>
                <c:pt idx="2">
                  <c:v>v2 Fine-tuned</c:v>
                </c:pt>
                <c:pt idx="3">
                  <c:v>v3 Frozen sweep</c:v>
                </c:pt>
                <c:pt idx="4">
                  <c:v>v4 Dual-embedding</c:v>
                </c:pt>
              </c:strCache>
            </c:strRef>
          </c:cat>
          <c:val>
            <c:numRef>
              <c:f>Sheet1!$C$2:$C$6</c:f>
              <c:numCache>
                <c:formatCode>General</c:formatCode>
                <c:ptCount val="5"/>
                <c:pt idx="0">
                  <c:v>0.315</c:v>
                </c:pt>
                <c:pt idx="1">
                  <c:v>0.45</c:v>
                </c:pt>
                <c:pt idx="2">
                  <c:v>0.52600000000000002</c:v>
                </c:pt>
                <c:pt idx="3">
                  <c:v>0.374</c:v>
                </c:pt>
                <c:pt idx="4">
                  <c:v>0.61199999999999999</c:v>
                </c:pt>
              </c:numCache>
            </c:numRef>
          </c:val>
          <c:extLst>
            <c:ext xmlns:c16="http://schemas.microsoft.com/office/drawing/2014/chart" uri="{C3380CC4-5D6E-409C-BE32-E72D297353CC}">
              <c16:uniqueId val="{00000001-5DF2-4998-9CFB-0FC966AF81EA}"/>
            </c:ext>
          </c:extLst>
        </c:ser>
        <c:dLbls>
          <c:dLblPos val="outEnd"/>
          <c:showLegendKey val="0"/>
          <c:showVal val="1"/>
          <c:showCatName val="0"/>
          <c:showSerName val="0"/>
          <c:showPercent val="0"/>
          <c:showBubbleSize val="0"/>
        </c:dLbls>
        <c:gapWidth val="70"/>
        <c:overlap val="-5"/>
        <c:axId val="-2068027336"/>
        <c:axId val="-2113994440"/>
      </c:barChart>
      <c:catAx>
        <c:axId val="-2068027336"/>
        <c:scaling>
          <c:orientation val="minMax"/>
        </c:scaling>
        <c:delete val="0"/>
        <c:axPos val="b"/>
        <c:numFmt formatCode="General" sourceLinked="0"/>
        <c:majorTickMark val="out"/>
        <c:minorTickMark val="none"/>
        <c:tickLblPos val="low"/>
        <c:txPr>
          <a:bodyPr/>
          <a:lstStyle/>
          <a:p>
            <a:pPr>
              <a:defRPr sz="2400">
                <a:latin typeface="Times New Roman"/>
              </a:defRPr>
            </a:pPr>
            <a:endParaRPr lang="en-US"/>
          </a:p>
        </c:txPr>
        <c:crossAx val="-2113994440"/>
        <c:crosses val="autoZero"/>
        <c:auto val="1"/>
        <c:lblAlgn val="ctr"/>
        <c:lblOffset val="100"/>
        <c:noMultiLvlLbl val="0"/>
      </c:catAx>
      <c:valAx>
        <c:axId val="-2113994440"/>
        <c:scaling>
          <c:orientation val="minMax"/>
          <c:max val="1.1000000000000001"/>
          <c:min val="0"/>
        </c:scaling>
        <c:delete val="0"/>
        <c:axPos val="l"/>
        <c:majorGridlines>
          <c:spPr>
            <a:ln>
              <a:solidFill>
                <a:srgbClr val="D0D0D0"/>
              </a:solidFill>
            </a:ln>
          </c:spPr>
        </c:majorGridlines>
        <c:numFmt formatCode="0.0" sourceLinked="0"/>
        <c:majorTickMark val="out"/>
        <c:minorTickMark val="none"/>
        <c:tickLblPos val="nextTo"/>
        <c:txPr>
          <a:bodyPr/>
          <a:lstStyle/>
          <a:p>
            <a:pPr>
              <a:defRPr sz="2400">
                <a:latin typeface="Times New Roman"/>
              </a:defRPr>
            </a:pPr>
            <a:endParaRPr lang="en-US"/>
          </a:p>
        </c:txPr>
        <c:crossAx val="-2068027336"/>
        <c:crosses val="autoZero"/>
        <c:crossBetween val="between"/>
      </c:valAx>
    </c:plotArea>
    <c:legend>
      <c:legendPos val="b"/>
      <c:overlay val="0"/>
      <c:txPr>
        <a:bodyPr/>
        <a:lstStyle/>
        <a:p>
          <a:pPr>
            <a:defRPr sz="2400">
              <a:latin typeface="Times New Roman"/>
            </a:defRPr>
          </a:pPr>
          <a:endParaRPr lang="en-US"/>
        </a:p>
      </c:txPr>
    </c:legend>
    <c:plotVisOnly val="1"/>
    <c:dispBlanksAs val="gap"/>
    <c:showDLblsOverMax val="1"/>
  </c:chart>
  <c:txPr>
    <a:bodyPr/>
    <a:lstStyle/>
    <a:p>
      <a:pPr>
        <a:defRPr sz="2400">
          <a:latin typeface="Times New Roman"/>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CD2D96E9-8FC2-4761-8B0F-732A022FE3D0}" type="datetimeFigureOut">
              <a:rPr lang="en-IN" smtClean="0"/>
              <a:pPr/>
              <a:t>26-10-2026</a:t>
            </a:fld>
            <a:endParaRPr lang="en-IN" dirty="0"/>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651B559A-E338-4F75-A573-9861E0BAC220}" type="slidenum">
              <a:rPr lang="en-IN" smtClean="0"/>
              <a:pPr/>
              <a:t>‹#›</a:t>
            </a:fld>
            <a:endParaRPr lang="en-I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0" i="0" dirty="0">
                <a:solidFill>
                  <a:srgbClr val="BDC1C6"/>
                </a:solidFill>
                <a:effectLst/>
                <a:highlight>
                  <a:srgbClr val="1F1F1F"/>
                </a:highlight>
                <a:latin typeface="arial" panose="020B0604020202020204" pitchFamily="34" charset="0"/>
              </a:rPr>
              <a:t> </a:t>
            </a:r>
            <a:endParaRPr lang="en-IN" dirty="0"/>
          </a:p>
        </p:txBody>
      </p:sp>
      <p:sp>
        <p:nvSpPr>
          <p:cNvPr id="4" name="Slide Number Placeholder 3"/>
          <p:cNvSpPr>
            <a:spLocks noGrp="1"/>
          </p:cNvSpPr>
          <p:nvPr>
            <p:ph type="sldNum" sz="quarter" idx="5"/>
          </p:nvPr>
        </p:nvSpPr>
        <p:spPr/>
        <p:txBody>
          <a:bodyPr/>
          <a:lstStyle/>
          <a:p>
            <a:fld id="{651B559A-E338-4F75-A573-9861E0BAC220}" type="slidenum">
              <a:rPr lang="en-IN" smtClean="0"/>
              <a:pPr/>
              <a:t>3</a:t>
            </a:fld>
            <a:endParaRPr lang="en-IN" dirty="0"/>
          </a:p>
        </p:txBody>
      </p:sp>
    </p:spTree>
    <p:extLst>
      <p:ext uri="{BB962C8B-B14F-4D97-AF65-F5344CB8AC3E}">
        <p14:creationId xmlns:p14="http://schemas.microsoft.com/office/powerpoint/2010/main" val="2621492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1686C-7A71-3CEC-2C10-2FA499D70E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EBF7C2-FCD8-0A67-B8A5-B547830BDCA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87762C0-E27A-1E9B-0EBC-2FF1DCE99DE9}"/>
              </a:ext>
            </a:extLst>
          </p:cNvPr>
          <p:cNvSpPr>
            <a:spLocks noGrp="1"/>
          </p:cNvSpPr>
          <p:nvPr>
            <p:ph type="body" idx="1"/>
          </p:nvPr>
        </p:nvSpPr>
        <p:spPr/>
        <p:txBody>
          <a:bodyPr/>
          <a:lstStyle/>
          <a:p>
            <a:r>
              <a:rPr lang="en-US" b="0" i="0" dirty="0">
                <a:solidFill>
                  <a:srgbClr val="BDC1C6"/>
                </a:solidFill>
                <a:effectLst/>
                <a:highlight>
                  <a:srgbClr val="1F1F1F"/>
                </a:highlight>
                <a:latin typeface="arial" panose="020B0604020202020204" pitchFamily="34" charset="0"/>
              </a:rPr>
              <a:t> </a:t>
            </a:r>
            <a:endParaRPr lang="en-IN" dirty="0"/>
          </a:p>
        </p:txBody>
      </p:sp>
      <p:sp>
        <p:nvSpPr>
          <p:cNvPr id="4" name="Slide Number Placeholder 3">
            <a:extLst>
              <a:ext uri="{FF2B5EF4-FFF2-40B4-BE49-F238E27FC236}">
                <a16:creationId xmlns:a16="http://schemas.microsoft.com/office/drawing/2014/main" id="{D3895A32-7A02-3549-F799-7F83289EBCB1}"/>
              </a:ext>
            </a:extLst>
          </p:cNvPr>
          <p:cNvSpPr>
            <a:spLocks noGrp="1"/>
          </p:cNvSpPr>
          <p:nvPr>
            <p:ph type="sldNum" sz="quarter" idx="5"/>
          </p:nvPr>
        </p:nvSpPr>
        <p:spPr/>
        <p:txBody>
          <a:bodyPr/>
          <a:lstStyle/>
          <a:p>
            <a:fld id="{651B559A-E338-4F75-A573-9861E0BAC220}" type="slidenum">
              <a:rPr lang="en-IN" smtClean="0"/>
              <a:pPr/>
              <a:t>16</a:t>
            </a:fld>
            <a:endParaRPr lang="en-IN" dirty="0"/>
          </a:p>
        </p:txBody>
      </p:sp>
    </p:spTree>
    <p:extLst>
      <p:ext uri="{BB962C8B-B14F-4D97-AF65-F5344CB8AC3E}">
        <p14:creationId xmlns:p14="http://schemas.microsoft.com/office/powerpoint/2010/main" val="24711805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Our system works in two stages, like a doctor's workflow. First comes data preparation: we take raw EEG from two public datasets (CHB-MIT and Siena), put them in the same 18-channel layout, clean them and cut them into short windows.</a:t>
            </a:r>
          </a:p>
          <a:p>
            <a:r>
              <a:rPr>
                <a:latin typeface="Times New Roman"/>
              </a:rPr>
              <a:t>Stage 1 asks one simple question: is this window a seizure or not? We use a CRNN (a neural network with three parts: conv layers, an LSTM and attention) to get a seizure probability, and a threshold of 0.65 to turn it into yes/no.</a:t>
            </a:r>
          </a:p>
          <a:p>
            <a:r>
              <a:rPr>
                <a:latin typeface="Times New Roman"/>
              </a:rPr>
              <a:t>Only the windows flagged as seizure go to Stage 2. Stage 2 asks: which type? We use two copies of the network, one frozen and one fine-tuned, join their outputs into 256 numbers, balance the rare classes with SMOTE and let a HistGB classifier choose between Focal Aware, Focal Impaired Awareness and FBTC.</a:t>
            </a:r>
          </a:p>
          <a:p>
            <a:r>
              <a:rPr>
                <a:latin typeface="Times New Roman"/>
              </a:rPr>
              <a:t>Key message: detect first, then classify.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We use two public EEG datasets from PhysioNet. CHB-MIT has 24 children and only says seizure or not. Siena has 14 adults (13 usable) and, importantly, gives the seizure type, so subtype learning can only use Siena.</a:t>
            </a:r>
          </a:p>
          <a:p>
            <a:r>
              <a:rPr>
                <a:latin typeface="Times New Roman"/>
              </a:rPr>
              <a:t>Stage 1 uses both datasets: 928,154 windows of 4 seconds. Stage 2 uses Siena seizure windows only: 1,824 windows of 10 seconds.</a:t>
            </a:r>
          </a:p>
          <a:p>
            <a:r>
              <a:rPr>
                <a:latin typeface="Times New Roman"/>
              </a:rPr>
              <a:t>Point out the imbalance: 11 of 13 patients have Focal Impaired Awareness; Focal Aware and FBTC each come from just one patient. That is why this problem is hard.</a:t>
            </a:r>
          </a:p>
          <a:p>
            <a:r>
              <a:rPr>
                <a:latin typeface="Times New Roman"/>
              </a:rPr>
              <a:t>The test set for subtype has 550 windows: 16 FA, 497 FIA and 37 FBTC.</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Raw EEG from different hospitals is messy and different, so we standardise it.</a:t>
            </a:r>
          </a:p>
          <a:p>
            <a:r>
              <a:rPr>
                <a:latin typeface="Times New Roman"/>
              </a:rPr>
              <a:t>Montage: both datasets are converted to the same 18-channel layout (the double-banana, each channel is the voltage difference between two neighbouring electrodes) in a fixed order.</a:t>
            </a:r>
          </a:p>
          <a:p>
            <a:r>
              <a:rPr>
                <a:latin typeface="Times New Roman"/>
              </a:rPr>
              <a:t>Filtering: remove power-line hum (60 Hz for CHB-MIT, 50 Hz for Siena), then keep only 0.5 to 45 Hz, where brain activity lives. We use a zero-phase filter so the timing of the seizure is not shifted.</a:t>
            </a:r>
          </a:p>
          <a:p>
            <a:r>
              <a:rPr>
                <a:latin typeface="Times New Roman"/>
              </a:rPr>
              <a:t>Resampling: Siena is 512 Hz, we bring it to 256 Hz.</a:t>
            </a:r>
          </a:p>
          <a:p>
            <a:r>
              <a:rPr>
                <a:latin typeface="Times New Roman"/>
              </a:rPr>
              <a:t>Windowing: Stage 1 uses 4-second windows; seizure windows overlap more (1 s stride) to get extra seizure examples. Stage 2 uses 10-second windows.</a:t>
            </a:r>
          </a:p>
          <a:p>
            <a:r>
              <a:rPr>
                <a:latin typeface="Times New Roman"/>
              </a:rPr>
              <a:t>Artifact rejection: we remove windows with absurdly large amplitudes (movement, loose electrodes). We calibrated this threshold on the data because a fixed 500 microvolt cutoff would have deleted real seizures.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This is the core network, used for both detection and subtype. Read the table top to bottom.</a:t>
            </a:r>
          </a:p>
          <a:p>
            <a:r>
              <a:rPr>
                <a:latin typeface="Times New Roman"/>
              </a:rPr>
              <a:t>Four conv blocks slide filters along the signal to detect shapes. The first filter is wide (63 samples) to catch slow waves; later ones are narrow to catch sharp spikes. Each block halves the length, so the signal ends up 16 times shorter but richer (32, 64, 128, 128 feature channels).</a:t>
            </a:r>
          </a:p>
          <a:p>
            <a:r>
              <a:rPr>
                <a:latin typeface="Times New Roman"/>
              </a:rPr>
              <a:t>The Bi-LSTM reads the shortened sequence forwards and backwards so it understands the order of events.</a:t>
            </a:r>
          </a:p>
          <a:p>
            <a:r>
              <a:rPr>
                <a:latin typeface="Times New Roman"/>
              </a:rPr>
              <a:t>Attention pooling gives every time step an importance score and takes a weighted average, producing one 128-number summary called the embedding.</a:t>
            </a:r>
          </a:p>
          <a:p>
            <a:r>
              <a:rPr>
                <a:latin typeface="Times New Roman"/>
              </a:rPr>
              <a:t>445,697 adjustable numbers (weights) in total. Because of attention pooling the network works for different window lengths, so the same design is used for 4 s and 10 s windows.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Training happens in phases.</a:t>
            </a:r>
          </a:p>
          <a:p>
            <a:r>
              <a:rPr>
                <a:latin typeface="Times New Roman"/>
              </a:rPr>
              <a:t>Phase A: train the network to detect seizures using all 928,154 windows. It learns general seizure patterns.</a:t>
            </a:r>
          </a:p>
          <a:p>
            <a:r>
              <a:rPr>
                <a:latin typeface="Times New Roman"/>
              </a:rPr>
              <a:t>Phase B: copy that network and keep training it on subtype labels. First two conv blocks are locked (frozen), the rest adjust. This is transfer learning: start from knowledge, not from zero.</a:t>
            </a:r>
          </a:p>
          <a:p>
            <a:r>
              <a:rPr>
                <a:latin typeface="Times New Roman"/>
              </a:rPr>
              <a:t>The problem: the Phase A network is good at Focal Aware but cannot separate FIA from FBTC; the Phase B network separates FBTC but lost the Focal Aware ability because it saw only a few FA examples.</a:t>
            </a:r>
          </a:p>
          <a:p>
            <a:r>
              <a:rPr>
                <a:latin typeface="Times New Roman"/>
              </a:rPr>
              <a:t>Solution: keep both, frozen, and stick their 128-number outputs together into 256 numbers. The formula z = [e_frozen || e_fine-tuned] just means concatenate. The final classifier now sees both experts' views.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This is the actual dataflow of the final model, top to bottom.</a:t>
            </a:r>
          </a:p>
          <a:p>
            <a:r>
              <a:rPr>
                <a:latin typeface="Times New Roman"/>
              </a:rPr>
              <a:t>An 18-channel EEG window enters two copies of the CRNN. The left copy is frozen from Phase A, the right one is the fine-tuned version. Each outputs 128 numbers.</a:t>
            </a:r>
          </a:p>
          <a:p>
            <a:r>
              <a:rPr>
                <a:latin typeface="Times New Roman"/>
              </a:rPr>
              <a:t>They are concatenated into 256 numbers. On the training set only, SMOTE adds synthetic examples: Focal Aware goes from 29 to 87 and FBTC from 87 to 435. Test data is never touched.</a:t>
            </a:r>
          </a:p>
          <a:p>
            <a:r>
              <a:rPr>
                <a:latin typeface="Times New Roman"/>
              </a:rPr>
              <a:t>A HistGradientBoosting classifier (200 small trees, depth 4, learning rate 0.08) is trained on these. At prediction time it outputs three probabilities and we pick the highest.</a:t>
            </a:r>
          </a:p>
          <a:p>
            <a:r>
              <a:rPr>
                <a:latin typeface="Times New Roman"/>
              </a:rPr>
              <a:t>The box at the bottom of the picture shows the final numbers: accuracy 0.911 and macro-F1 0.612.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SMOTE means synthetic minority oversampling: create new rare-class examples by interpolating between a real example and a close neighbour. The formula is z_new = z_i + lambda times (z_neighbour minus z_i), lambda random between 0 and 1.</a:t>
            </a:r>
          </a:p>
          <a:p>
            <a:r>
              <a:rPr>
                <a:latin typeface="Times New Roman"/>
              </a:rPr>
              <a:t>We do it on the 256-number embeddings, not on the raw EEG, because mixing two raw brain signals gives signals that no brain makes.</a:t>
            </a:r>
          </a:p>
          <a:p>
            <a:r>
              <a:rPr>
                <a:latin typeface="Times New Roman"/>
              </a:rPr>
              <a:t>We tried 3 classifiers (MLP, Random Forest, HistGB) times 3 ratio settings: 9 combinations.</a:t>
            </a:r>
          </a:p>
          <a:p>
            <a:r>
              <a:rPr>
                <a:latin typeface="Times New Roman"/>
              </a:rPr>
              <a:t>The adversarial control checks whether the model is cheating by recognising the patient. We take normal EEG from each patient, label it with that patient's seizure type and test. A good model should do worse here than on real seizures; the difference is the gap.</a:t>
            </a:r>
          </a:p>
          <a:p>
            <a:r>
              <a:rPr>
                <a:latin typeface="Times New Roman"/>
              </a:rPr>
              <a:t>The winner was chosen by a rule fixed before running the experiments: accuracy at least 0.90, positive gap on both rare classes, then best worst-class recall. This avoids picking results after seeing them.</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We compare three models so the improvement is clear.</a:t>
            </a:r>
          </a:p>
          <a:p>
            <a:r>
              <a:rPr>
                <a:latin typeface="Times New Roman"/>
              </a:rPr>
              <a:t>1) 1D-CNN baseline: a plain convolutional network trained from scratch, tested leave-one-patient-out (every patient is held out in turn). This is the strictest test.</a:t>
            </a:r>
          </a:p>
          <a:p>
            <a:r>
              <a:rPr>
                <a:latin typeface="Times New Roman"/>
              </a:rPr>
              <a:t>2) Fine-tuned CRNN (v2): our CRNN with Phase A weights fine-tuned, plus SMOTE.</a:t>
            </a:r>
          </a:p>
          <a:p>
            <a:r>
              <a:rPr>
                <a:latin typeface="Times New Roman"/>
              </a:rPr>
              <a:t>3) EEG-HDC v4 (proposed): two backbones, 256 numbers, SMOTE, HistGB.</a:t>
            </a:r>
          </a:p>
          <a:p>
            <a:r>
              <a:rPr>
                <a:latin typeface="Times New Roman"/>
              </a:rPr>
              <a:t>Be honest about the caveat at the bottom: the baseline is judged on unseen patients, while v2 and v4 use the same event-level split, so v2 versus v4 is a fair comparison and baseline versus the others is not perfectly like for like.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The models are built in PyTorch and scikit-learn, with MNE and HDF5 for handling EEG files.</a:t>
            </a:r>
          </a:p>
          <a:p>
            <a:r>
              <a:rPr>
                <a:latin typeface="Times New Roman"/>
              </a:rPr>
              <a:t>We also built a web app called NeuroScan. A user uploads a raw .edf EEG file. The app cuts it into 4-second windows, runs the detector, merges flagged windows into seizure events, then classifies each event using the v4 model. It shows the 18 channels like an oscilloscope with seizures highlighted and bars for the probability of each subtype.</a:t>
            </a:r>
          </a:p>
          <a:p>
            <a:r>
              <a:rPr>
                <a:latin typeface="Times New Roman"/>
              </a:rPr>
              <a:t>Backend is Flask and the plots use Plotly.js. This shows the model can be used end to end, not just in a notebook.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Left: the top graph shows how sensitivity (seizures found), specificity (non-seizures correctly ignored) and F1 change as we move the decision threshold. The best F1 is at 0.65. The bottom graph is the ROC curve; the closer to the top-left corner, the better. Area under it (AUROC) is 0.824; 0.5 would be guessing and 1.0 perfect.</a:t>
            </a:r>
          </a:p>
          <a:p>
            <a:r>
              <a:rPr>
                <a:latin typeface="Times New Roman"/>
              </a:rPr>
              <a:t>Right: the plain 1D-CNN gets AUROC 0.851 and the CRNN 0.824. They are about the same; the CRNN finds more seizures (sensitivity 0.605 versus 0.525) but raises more false alarms.</a:t>
            </a:r>
          </a:p>
          <a:p>
            <a:r>
              <a:rPr>
                <a:latin typeface="Times New Roman"/>
              </a:rPr>
              <a:t>Important: these are on patients never seen in training. Note this is the corrected value from the saved results. The paper draft had a different number.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These show how learning went epoch by epoch for the CRNN (top) and the plain CNN (bottom).</a:t>
            </a:r>
          </a:p>
          <a:p>
            <a:r>
              <a:rPr>
                <a:latin typeface="Times New Roman"/>
              </a:rPr>
              <a:t>Left panel: training loss keeps falling, validation loss does not. That tells us the model starts to memorise training data, so we keep the best checkpoint rather than the last one.</a:t>
            </a:r>
          </a:p>
          <a:p>
            <a:r>
              <a:rPr>
                <a:latin typeface="Times New Roman"/>
              </a:rPr>
              <a:t>Middle: validation AUROC peaks around 0.83 and stays flat. Right: sensitivity, specificity and F1 jump around because the validation patients are few.</a:t>
            </a:r>
          </a:p>
          <a:p>
            <a:r>
              <a:rPr>
                <a:latin typeface="Times New Roman"/>
              </a:rPr>
              <a:t>Takeaway: more training does not help much; the limit is the data, not the training time.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This table is the experiment where we tried three classifiers with three SMOTE settings.</a:t>
            </a:r>
          </a:p>
          <a:p>
            <a:r>
              <a:rPr>
                <a:latin typeface="Times New Roman"/>
              </a:rPr>
              <a:t>Look at the Rec. FA column: MLP and Random Forest are 0.000, they never find Focal Aware. Look at the last two columns, the control gaps: Random Forest is strongly negative, a sign it is mostly recognising the patient.</a:t>
            </a:r>
          </a:p>
          <a:p>
            <a:r>
              <a:rPr>
                <a:latin typeface="Times New Roman"/>
              </a:rPr>
              <a:t>Only the highlighted row, HistGB with 3x FA and 5x FBTC oversampling, meets all rules: accuracy 0.911, macro-F1 0.612, FA recall 0.25, FBTC recall 0.514, and positive gaps for both.</a:t>
            </a:r>
          </a:p>
          <a:p>
            <a:r>
              <a:rPr>
                <a:latin typeface="Times New Roman"/>
              </a:rPr>
              <a:t>Also mention: the nearby HistGB 5x/5x has higher FBTC recall but negative FA gap, so it was rejected by our rule.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How to read a confusion matrix: rows are the true class, columns are what the model predicted; the diagonal is correct.</a:t>
            </a:r>
          </a:p>
          <a:p>
            <a:r>
              <a:rPr>
                <a:latin typeface="Times New Roman"/>
              </a:rPr>
              <a:t>Left (real seizures): almost everything is predicted as Focal Impaired Awareness. 1,637 FIA are right, but all 45 Focal Aware and all 124 FBTC windows are wrong.</a:t>
            </a:r>
          </a:p>
          <a:p>
            <a:r>
              <a:rPr>
                <a:latin typeface="Times New Roman"/>
              </a:rPr>
              <a:t>Right is the control test (normal EEG with fake labels); it behaves the same way.</a:t>
            </a:r>
          </a:p>
          <a:p>
            <a:r>
              <a:rPr>
                <a:latin typeface="Times New Roman"/>
              </a:rPr>
              <a:t>Accuracy is 0.897 but only because the majority class dominates. This model has effectively learned to say FIA every time. That is exactly the problem we set out to fix.</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Here we test on 550 windows. Fine-tuning helps FBTC: 17 of 37 are now correct (45.9%).</a:t>
            </a:r>
          </a:p>
          <a:p>
            <a:r>
              <a:rPr>
                <a:latin typeface="Times New Roman"/>
              </a:rPr>
              <a:t>Focal Aware is still missed completely: 0 of 16.</a:t>
            </a:r>
          </a:p>
          <a:p>
            <a:r>
              <a:rPr>
                <a:latin typeface="Times New Roman"/>
              </a:rPr>
              <a:t>Look at the control matrix on the right: FBTC is found only 8 of 45 times on the fake-labelled data, so the FBTC detection is real, not patient recognition. Good sign, but Focal Aware is still invisible to this model.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This is our best model, same 550 test windows.</a:t>
            </a:r>
          </a:p>
          <a:p>
            <a:r>
              <a:rPr>
                <a:latin typeface="Times New Roman"/>
              </a:rPr>
              <a:t>Focal Aware: 4 of 16 correct (25%). Focal Impaired Awareness: 478 of 497 (96.2%). FBTC: 19 of 37 (51.4%).</a:t>
            </a:r>
          </a:p>
          <a:p>
            <a:r>
              <a:rPr>
                <a:latin typeface="Times New Roman"/>
              </a:rPr>
              <a:t>It is the only model that finds all three types.</a:t>
            </a:r>
          </a:p>
          <a:p>
            <a:r>
              <a:rPr>
                <a:latin typeface="Times New Roman"/>
              </a:rPr>
              <a:t>Right side, the control: on fake-labelled normal EEG the model finds FA only 6 of 45 times and FBTC 20 of 45 times, lower than on real seizures, so the model is responding to real seizure patterns. The gaps are +0.117 for FA and +0.069 for FBTC.</a:t>
            </a:r>
          </a:p>
          <a:p>
            <a:r>
              <a:rPr>
                <a:latin typeface="Times New Roman"/>
              </a:rPr>
              <a:t>Be honest that 4 out of 16 is small numbers and the improvement on FA is modest but real.</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Recall means: of the windows that truly belong to a class, what fraction did we find.</a:t>
            </a:r>
          </a:p>
          <a:p>
            <a:r>
              <a:rPr>
                <a:latin typeface="Times New Roman"/>
              </a:rPr>
              <a:t>The bars show the three models side by side. All find nearly all FIA (the common class). For Focal Aware only v4 has a bar (0.25). For FBTC, v2 gets 0.46 and v4 gets 0.51; the baseline gets 0.</a:t>
            </a:r>
          </a:p>
          <a:p>
            <a:r>
              <a:rPr>
                <a:latin typeface="Times New Roman"/>
              </a:rPr>
              <a:t>The cost of this gain is tiny: FIA recall goes from 0.99 to 0.96. We trade a little on the majority class to gain on rare classes, which is what a doctor wants.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Summary table of the three models. Real columns are on genuine seizures; control columns are on the fake-labelled normal EEG.</a:t>
            </a:r>
          </a:p>
          <a:p>
            <a:r>
              <a:rPr>
                <a:latin typeface="Times New Roman"/>
              </a:rPr>
              <a:t>Real accuracy is about the same (0.90 to 0.91), so accuracy alone hides the difference. Macro-F1, which averages the three classes equally, goes from 0.315 to 0.526 to 0.612.</a:t>
            </a:r>
          </a:p>
          <a:p>
            <a:r>
              <a:rPr>
                <a:latin typeface="Times New Roman"/>
              </a:rPr>
              <a:t>Gap columns: v4 is the only model with positive gaps on both rare classes. v2 has a bigger FBTC gap but no Focal Aware signal at all, so it cannot be called a three-class solution.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Gap equals recall on real seizures minus recall on the control. Positive is good.</a:t>
            </a:r>
          </a:p>
          <a:p>
            <a:r>
              <a:rPr>
                <a:latin typeface="Times New Roman"/>
              </a:rPr>
              <a:t>Random Forest is negative on both (minus 0.49 and minus 0.20): it did better on fake-labelled normal EEG than on real seizures, meaning it was recognising patients.</a:t>
            </a:r>
          </a:p>
          <a:p>
            <a:r>
              <a:rPr>
                <a:latin typeface="Times New Roman"/>
              </a:rPr>
              <a:t>MLP has gap zero on Focal Aware simply because it never predicts that class.</a:t>
            </a:r>
          </a:p>
          <a:p>
            <a:r>
              <a:rPr>
                <a:latin typeface="Times New Roman"/>
              </a:rPr>
              <a:t>HistGB, our model, is positive on both. This chart is our evidence that the final model is not cheating.</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This shows how the idea developed. Grey bars are accuracy, red bars are macro-F1.</a:t>
            </a:r>
          </a:p>
          <a:p>
            <a:r>
              <a:rPr>
                <a:latin typeface="Times New Roman"/>
              </a:rPr>
              <a:t>Baseline: accuracy 0.90, macro-F1 0.32. v1 (SMOTE on embeddings): finds Focal Aware (13 of 16) but no FBTC. v2 (fine-tuned): finds FBTC but loses FA. v3 (frozen detector only, SVM): finds FA but accuracy collapses to 0.57. v4 (both backbones): best macro-F1, 0.612, with accuracy 0.91.</a:t>
            </a:r>
          </a:p>
          <a:p>
            <a:r>
              <a:rPr>
                <a:latin typeface="Times New Roman"/>
              </a:rPr>
              <a:t>Message: each version fixed one weakness and exposed another; combining the two views solved both.</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This is an earlier test of the full detect-then-classify pipeline using the two plain CNNs, to check that chaining the stages works.</a:t>
            </a:r>
          </a:p>
          <a:p>
            <a:r>
              <a:rPr>
                <a:latin typeface="Times New Roman"/>
              </a:rPr>
              <a:t>Strict means only the 2 patients that neither stage saw in training: everything was correct, but that is only 4 events, so it is not statistically strong.</a:t>
            </a:r>
          </a:p>
          <a:p>
            <a:r>
              <a:rPr>
                <a:latin typeface="Times New Roman"/>
              </a:rPr>
              <a:t>Broad uses all 13 patients (46 events): 95.7% of seizures detected, 74.4% of those correctly classified, so 69.6% correct end to end. This number is optimistic for the detection part because most patients were in its training data.</a:t>
            </a:r>
          </a:p>
          <a:p>
            <a:r>
              <a:rPr>
                <a:latin typeface="Times New Roman"/>
              </a:rPr>
              <a:t>It shows the two-stage design works in principle.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Be upfront about limits.</a:t>
            </a:r>
          </a:p>
          <a:p>
            <a:r>
              <a:rPr>
                <a:latin typeface="Times New Roman"/>
              </a:rPr>
              <a:t>Data: Focal Aware and FBTC come from one patient each; our FA test has 16 windows, so 4 correct is a small sample.</a:t>
            </a:r>
          </a:p>
          <a:p>
            <a:r>
              <a:rPr>
                <a:latin typeface="Times New Roman"/>
              </a:rPr>
              <a:t>Evaluation: v2 and v4 split by seizure event, so the same patient appears in both training and testing. That is easier than testing on brand-new patients.</a:t>
            </a:r>
          </a:p>
          <a:p>
            <a:r>
              <a:rPr>
                <a:latin typeface="Times New Roman"/>
              </a:rPr>
              <a:t>Detection is moderate (AUROC 0.824) and works window by window without smoothing.</a:t>
            </a:r>
          </a:p>
          <a:p>
            <a:r>
              <a:rPr>
                <a:latin typeface="Times New Roman"/>
              </a:rPr>
              <a:t>Clinically, 25% and 51% recall are not sufficient yet. Only three focal subtypes are covered.</a:t>
            </a:r>
          </a:p>
          <a:p>
            <a:r>
              <a:rPr>
                <a:latin typeface="Times New Roman"/>
              </a:rPr>
              <a:t>Future: add more patients and datasets (for example TUSZ), evaluate on unseen patients, add rarer seizure types, smooth predictions over time and deploy in real time.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To wrap up. We built EEG-HDC v4, a two-stage system: detect seizures, then classify the type.</a:t>
            </a:r>
          </a:p>
          <a:p>
            <a:r>
              <a:rPr>
                <a:latin typeface="Times New Roman"/>
              </a:rPr>
              <a:t>The new ideas: use two backbones (one frozen, one fine-tuned) and join their outputs into 256 numbers; balance rare classes with SMOTE in that feature space; verify with an adversarial control that the model is not just recognising patients.</a:t>
            </a:r>
          </a:p>
          <a:p>
            <a:r>
              <a:rPr>
                <a:latin typeface="Times New Roman"/>
              </a:rPr>
              <a:t>Results: accuracy 0.911 and macro-F1 0.612, up from 0.315 for the baseline, with recall of 25% for Focal Aware, 96.2% for FIA and 51.4% for FBTC, and it is the only model that finds all three.</a:t>
            </a:r>
          </a:p>
          <a:p>
            <a:r>
              <a:rPr>
                <a:latin typeface="Times New Roman"/>
              </a:rPr>
              <a:t>It is a solid step, limited mainly by the amount of labelled data.</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References in IEEE format. They include the 45 papers from the literature survey, plus the datasets (Siena and CHB-MIT), the ILAE seizure classification, ChronoNet and the shortcut-learning paper that our methodology builds on. No need to read these out.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References in IEEE format. They include the 45 papers from the literature survey, plus the datasets (Siena and CHB-MIT), the ILAE seizure classification, ChronoNet and the shortcut-learning paper that our methodology builds on. No need to read these out.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References in IEEE format. They include the 45 papers from the literature survey, plus the datasets (Siena and CHB-MIT), the ILAE seizure classification, ChronoNet and the shortcut-learning paper that our methodology builds on. No need to read these out.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References in IEEE format. They include the 45 papers from the literature survey, plus the datasets (Siena and CHB-MIT), the ILAE seizure classification, ChronoNet and the shortcut-learning paper that our methodology builds on. No need to read these out.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References in IEEE format. They include the 45 papers from the literature survey, plus the datasets (Siena and CHB-MIT), the ILAE seizure classification, ChronoNet and the shortcut-learning paper that our methodology builds on. No need to read these out.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References in IEEE format. They include the 45 papers from the literature survey, plus the datasets (Siena and CHB-MIT), the ILAE seizure classification, ChronoNet and the shortcut-learning paper that our methodology builds on. No need to read these out.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References in IEEE format. They include the 45 papers from the literature survey, plus the datasets (Siena and CHB-MIT), the ILAE seizure classification, ChronoNet and the shortcut-learning paper that our methodology builds on. No need to read these out.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References in IEEE format. They include the 45 papers from the literature survey, plus the datasets (Siena and CHB-MIT), the ILAE seizure classification, ChronoNet and the shortcut-learning paper that our methodology builds on. No need to read these out.</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References in IEEE format. They include the 45 papers from the literature survey, plus the datasets (Siena and CHB-MIT), the ILAE seizure classification, ChronoNet and the shortcut-learning paper that our methodology builds on. No need to read these out.</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Times New Roman"/>
              </a:rPr>
              <a:t>References in IEEE format. They include the 45 papers from the literature survey, plus the datasets (Siena and CHB-MIT), the ILAE seizure classification, ChronoNet and the shortcut-learning paper that our methodology builds on. No need to read these out.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endParaRPr lang="en-IN"/>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8716489-D712-42FD-A5CE-C6172C8BA296}" type="datetime3">
              <a:rPr lang="en-US" smtClean="0"/>
              <a:t>26 October 2026</a:t>
            </a:fld>
            <a:endParaRPr lang="en-US" dirty="0"/>
          </a:p>
        </p:txBody>
      </p:sp>
      <p:sp>
        <p:nvSpPr>
          <p:cNvPr id="5" name="Footer Placeholder 4"/>
          <p:cNvSpPr>
            <a:spLocks noGrp="1"/>
          </p:cNvSpPr>
          <p:nvPr>
            <p:ph type="ftr" sz="quarter" idx="11"/>
          </p:nvPr>
        </p:nvSpPr>
        <p:spPr/>
        <p:txBody>
          <a:bodyPr/>
          <a:lstStyle/>
          <a:p>
            <a:r>
              <a:rPr lang="en-IN"/>
              <a:t>Dept of AI </a:t>
            </a:r>
            <a:endParaRPr lang="en-IN" dirty="0"/>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876002D-46B2-464C-84A5-D232A4E74A4F}" type="datetime3">
              <a:rPr lang="en-US" smtClean="0"/>
              <a:t>26 October 2026</a:t>
            </a:fld>
            <a:endParaRPr lang="en-US" dirty="0"/>
          </a:p>
        </p:txBody>
      </p:sp>
      <p:sp>
        <p:nvSpPr>
          <p:cNvPr id="5" name="Footer Placeholder 4"/>
          <p:cNvSpPr>
            <a:spLocks noGrp="1"/>
          </p:cNvSpPr>
          <p:nvPr>
            <p:ph type="ftr" sz="quarter" idx="11"/>
          </p:nvPr>
        </p:nvSpPr>
        <p:spPr/>
        <p:txBody>
          <a:bodyPr/>
          <a:lstStyle/>
          <a:p>
            <a:r>
              <a:rPr lang="en-IN"/>
              <a:t>Dept of AI </a:t>
            </a:r>
            <a:endParaRPr lang="en-IN" dirty="0"/>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endParaRPr lang="en-IN"/>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08F8AF-8985-4F65-B349-6C141653713C}" type="datetime3">
              <a:rPr lang="en-US" smtClean="0"/>
              <a:t>26 October 2026</a:t>
            </a:fld>
            <a:endParaRPr lang="en-US" dirty="0"/>
          </a:p>
        </p:txBody>
      </p:sp>
      <p:sp>
        <p:nvSpPr>
          <p:cNvPr id="5" name="Footer Placeholder 4"/>
          <p:cNvSpPr>
            <a:spLocks noGrp="1"/>
          </p:cNvSpPr>
          <p:nvPr>
            <p:ph type="ftr" sz="quarter" idx="11"/>
          </p:nvPr>
        </p:nvSpPr>
        <p:spPr/>
        <p:txBody>
          <a:bodyPr/>
          <a:lstStyle/>
          <a:p>
            <a:r>
              <a:rPr lang="en-IN"/>
              <a:t>Dept of AI </a:t>
            </a:r>
            <a:endParaRPr lang="en-IN" dirty="0"/>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CBC9EED-9FD4-4385-9E08-A4A9DD895483}" type="datetime3">
              <a:rPr lang="en-US" smtClean="0"/>
              <a:t>26 October 2026</a:t>
            </a:fld>
            <a:endParaRPr lang="en-US" dirty="0"/>
          </a:p>
        </p:txBody>
      </p:sp>
      <p:sp>
        <p:nvSpPr>
          <p:cNvPr id="6" name="Footer Placeholder 5"/>
          <p:cNvSpPr>
            <a:spLocks noGrp="1"/>
          </p:cNvSpPr>
          <p:nvPr>
            <p:ph type="ftr" sz="quarter" idx="11"/>
          </p:nvPr>
        </p:nvSpPr>
        <p:spPr/>
        <p:txBody>
          <a:bodyPr/>
          <a:lstStyle/>
          <a:p>
            <a:r>
              <a:rPr lang="en-IN"/>
              <a:t>Dept of AI </a:t>
            </a:r>
            <a:endParaRPr lang="en-IN" dirty="0"/>
          </a:p>
        </p:txBody>
      </p:sp>
      <p:sp>
        <p:nvSpPr>
          <p:cNvPr id="7" name="Slide Number Placeholder 6"/>
          <p:cNvSpPr>
            <a:spLocks noGrp="1"/>
          </p:cNvSpPr>
          <p:nvPr>
            <p:ph type="sldNum" sz="quarter" idx="12"/>
          </p:nvPr>
        </p:nvSpPr>
        <p:spPr/>
        <p:txBody>
          <a:bodyPr/>
          <a:lstStyle/>
          <a:p>
            <a:fld id="{B6F15528-21DE-4FAA-801E-634DDDAF4B2B}" type="slidenum">
              <a:rPr lang="en-IN" smtClean="0"/>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endParaRPr lang="en-IN"/>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0BC80E91-64E4-45E6-9423-9C321850AA40}" type="datetime3">
              <a:rPr lang="en-US" smtClean="0"/>
              <a:t>26 October 2026</a:t>
            </a:fld>
            <a:endParaRPr lang="en-US" dirty="0"/>
          </a:p>
        </p:txBody>
      </p:sp>
      <p:sp>
        <p:nvSpPr>
          <p:cNvPr id="8" name="Footer Placeholder 7"/>
          <p:cNvSpPr>
            <a:spLocks noGrp="1"/>
          </p:cNvSpPr>
          <p:nvPr>
            <p:ph type="ftr" sz="quarter" idx="11"/>
          </p:nvPr>
        </p:nvSpPr>
        <p:spPr/>
        <p:txBody>
          <a:bodyPr/>
          <a:lstStyle/>
          <a:p>
            <a:r>
              <a:rPr lang="en-IN"/>
              <a:t>Dept of AI </a:t>
            </a:r>
            <a:endParaRPr lang="en-IN" dirty="0"/>
          </a:p>
        </p:txBody>
      </p:sp>
      <p:sp>
        <p:nvSpPr>
          <p:cNvPr id="9" name="Slide Number Placeholder 8"/>
          <p:cNvSpPr>
            <a:spLocks noGrp="1"/>
          </p:cNvSpPr>
          <p:nvPr>
            <p:ph type="sldNum" sz="quarter" idx="12"/>
          </p:nvPr>
        </p:nvSpPr>
        <p:spPr/>
        <p:txBody>
          <a:bodyPr/>
          <a:lstStyle/>
          <a:p>
            <a:fld id="{B6F15528-21DE-4FAA-801E-634DDDAF4B2B}" type="slidenum">
              <a:rPr lang="en-IN" smtClean="0"/>
              <a:pPr/>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0517C59-F215-49B6-BB5E-D29A2E5E5132}" type="datetime3">
              <a:rPr lang="en-US" smtClean="0"/>
              <a:t>26 October 2026</a:t>
            </a:fld>
            <a:endParaRPr lang="en-US" dirty="0"/>
          </a:p>
        </p:txBody>
      </p:sp>
      <p:sp>
        <p:nvSpPr>
          <p:cNvPr id="4" name="Footer Placeholder 3"/>
          <p:cNvSpPr>
            <a:spLocks noGrp="1"/>
          </p:cNvSpPr>
          <p:nvPr>
            <p:ph type="ftr" sz="quarter" idx="11"/>
          </p:nvPr>
        </p:nvSpPr>
        <p:spPr/>
        <p:txBody>
          <a:bodyPr/>
          <a:lstStyle/>
          <a:p>
            <a:r>
              <a:rPr lang="en-IN"/>
              <a:t>Dept of AI </a:t>
            </a:r>
            <a:endParaRPr lang="en-IN" dirty="0"/>
          </a:p>
        </p:txBody>
      </p:sp>
      <p:sp>
        <p:nvSpPr>
          <p:cNvPr id="5" name="Slide Number Placeholder 4"/>
          <p:cNvSpPr>
            <a:spLocks noGrp="1"/>
          </p:cNvSpPr>
          <p:nvPr>
            <p:ph type="sldNum" sz="quarter" idx="12"/>
          </p:nvPr>
        </p:nvSpPr>
        <p:spPr/>
        <p:txBody>
          <a:bodyPr/>
          <a:lstStyle/>
          <a:p>
            <a:fld id="{B6F15528-21DE-4FAA-801E-634DDDAF4B2B}" type="slidenum">
              <a:rPr lang="en-IN" smtClean="0"/>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7EA1C9-1125-4D1C-AFA8-2DD04CC465F7}" type="datetime3">
              <a:rPr lang="en-US" smtClean="0"/>
              <a:t>26 October 2026</a:t>
            </a:fld>
            <a:endParaRPr lang="en-US" dirty="0"/>
          </a:p>
        </p:txBody>
      </p:sp>
      <p:sp>
        <p:nvSpPr>
          <p:cNvPr id="3" name="Footer Placeholder 2"/>
          <p:cNvSpPr>
            <a:spLocks noGrp="1"/>
          </p:cNvSpPr>
          <p:nvPr>
            <p:ph type="ftr" sz="quarter" idx="11"/>
          </p:nvPr>
        </p:nvSpPr>
        <p:spPr/>
        <p:txBody>
          <a:bodyPr/>
          <a:lstStyle/>
          <a:p>
            <a:r>
              <a:rPr lang="en-IN"/>
              <a:t>Dept of AI </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IN" smtClean="0"/>
              <a:pPr/>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IN"/>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AD71C455-CAEA-4C73-997E-A67663698C56}" type="datetime3">
              <a:rPr lang="en-US" smtClean="0"/>
              <a:t>26 October 2026</a:t>
            </a:fld>
            <a:endParaRPr lang="en-US" dirty="0"/>
          </a:p>
        </p:txBody>
      </p:sp>
      <p:sp>
        <p:nvSpPr>
          <p:cNvPr id="6" name="Footer Placeholder 5"/>
          <p:cNvSpPr>
            <a:spLocks noGrp="1"/>
          </p:cNvSpPr>
          <p:nvPr>
            <p:ph type="ftr" sz="quarter" idx="11"/>
          </p:nvPr>
        </p:nvSpPr>
        <p:spPr/>
        <p:txBody>
          <a:bodyPr/>
          <a:lstStyle/>
          <a:p>
            <a:r>
              <a:rPr lang="en-IN"/>
              <a:t>Dept of AI </a:t>
            </a:r>
            <a:endParaRPr lang="en-IN" dirty="0"/>
          </a:p>
        </p:txBody>
      </p:sp>
      <p:sp>
        <p:nvSpPr>
          <p:cNvPr id="7" name="Slide Number Placeholder 6"/>
          <p:cNvSpPr>
            <a:spLocks noGrp="1"/>
          </p:cNvSpPr>
          <p:nvPr>
            <p:ph type="sldNum" sz="quarter" idx="12"/>
          </p:nvPr>
        </p:nvSpPr>
        <p:spPr/>
        <p:txBody>
          <a:bodyPr/>
          <a:lstStyle/>
          <a:p>
            <a:fld id="{B6F15528-21DE-4FAA-801E-634DDDAF4B2B}" type="slidenum">
              <a:rPr lang="en-IN" smtClean="0"/>
              <a:pPr/>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IN"/>
          </a:p>
        </p:txBody>
      </p:sp>
      <p:sp>
        <p:nvSpPr>
          <p:cNvPr id="3" name="Picture Placeholder 2"/>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IN"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50C1E071-8CD4-432A-9114-2008217081A4}" type="datetime3">
              <a:rPr lang="en-US" smtClean="0"/>
              <a:t>26 October 2026</a:t>
            </a:fld>
            <a:endParaRPr lang="en-US" dirty="0"/>
          </a:p>
        </p:txBody>
      </p:sp>
      <p:sp>
        <p:nvSpPr>
          <p:cNvPr id="6" name="Footer Placeholder 5"/>
          <p:cNvSpPr>
            <a:spLocks noGrp="1"/>
          </p:cNvSpPr>
          <p:nvPr>
            <p:ph type="ftr" sz="quarter" idx="11"/>
          </p:nvPr>
        </p:nvSpPr>
        <p:spPr/>
        <p:txBody>
          <a:bodyPr/>
          <a:lstStyle/>
          <a:p>
            <a:r>
              <a:rPr lang="en-IN"/>
              <a:t>Dept of AI </a:t>
            </a:r>
            <a:endParaRPr lang="en-IN" dirty="0"/>
          </a:p>
        </p:txBody>
      </p:sp>
      <p:sp>
        <p:nvSpPr>
          <p:cNvPr id="7" name="Slide Number Placeholder 6"/>
          <p:cNvSpPr>
            <a:spLocks noGrp="1"/>
          </p:cNvSpPr>
          <p:nvPr>
            <p:ph type="sldNum" sz="quarter" idx="12"/>
          </p:nvPr>
        </p:nvSpPr>
        <p:spPr/>
        <p:txBody>
          <a:bodyPr/>
          <a:lstStyle/>
          <a:p>
            <a:fld id="{B6F15528-21DE-4FAA-801E-634DDDAF4B2B}" type="slidenum">
              <a:rPr lang="en-IN" smtClean="0"/>
              <a:pPr/>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2194F1-0AB8-4BE9-A439-7E46A5759AB1}" type="datetime3">
              <a:rPr lang="en-US" smtClean="0"/>
              <a:t>26 October 2026</a:t>
            </a:fld>
            <a:endParaRPr lang="en-US" dirty="0"/>
          </a:p>
        </p:txBody>
      </p:sp>
      <p:sp>
        <p:nvSpPr>
          <p:cNvPr id="5" name="Footer Placeholder 4"/>
          <p:cNvSpPr>
            <a:spLocks noGrp="1"/>
          </p:cNvSpPr>
          <p:nvPr>
            <p:ph type="ftr" sz="quarter" idx="11"/>
          </p:nvPr>
        </p:nvSpPr>
        <p:spPr/>
        <p:txBody>
          <a:bodyPr/>
          <a:lstStyle/>
          <a:p>
            <a:r>
              <a:rPr lang="en-IN"/>
              <a:t>Dept of AI </a:t>
            </a:r>
            <a:endParaRPr lang="en-IN" dirty="0"/>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C5CEAA3-BB41-4C03-BC4D-15B9C422D377}" type="datetime3">
              <a:rPr lang="en-US" smtClean="0"/>
              <a:t>26 October 2026</a:t>
            </a:fld>
            <a:endParaRPr lang="en-US" dirty="0"/>
          </a:p>
        </p:txBody>
      </p:sp>
      <p:sp>
        <p:nvSpPr>
          <p:cNvPr id="5" name="Footer Placeholder 4"/>
          <p:cNvSpPr>
            <a:spLocks noGrp="1"/>
          </p:cNvSpPr>
          <p:nvPr>
            <p:ph type="ftr" sz="quarter" idx="11"/>
          </p:nvPr>
        </p:nvSpPr>
        <p:spPr/>
        <p:txBody>
          <a:bodyPr/>
          <a:lstStyle/>
          <a:p>
            <a:r>
              <a:rPr lang="en-IN"/>
              <a:t>Dept of AI </a:t>
            </a:r>
            <a:endParaRPr lang="en-IN" dirty="0"/>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endParaRPr lang="en-IN"/>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1392398-1DF7-4A72-9249-49FFF57890A2}" type="datetime3">
              <a:rPr lang="en-US" smtClean="0"/>
              <a:t>26 October 2026</a:t>
            </a:fld>
            <a:endParaRPr lang="en-US" dirty="0"/>
          </a:p>
        </p:txBody>
      </p:sp>
      <p:sp>
        <p:nvSpPr>
          <p:cNvPr id="5" name="Footer Placeholder 4"/>
          <p:cNvSpPr>
            <a:spLocks noGrp="1"/>
          </p:cNvSpPr>
          <p:nvPr>
            <p:ph type="ftr" sz="quarter" idx="11"/>
          </p:nvPr>
        </p:nvSpPr>
        <p:spPr/>
        <p:txBody>
          <a:bodyPr/>
          <a:lstStyle/>
          <a:p>
            <a:r>
              <a:rPr lang="en-IN"/>
              <a:t>Dept. of AI &amp; ML</a:t>
            </a:r>
            <a:endParaRPr lang="en-IN" dirty="0"/>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dirty="0"/>
          </a:p>
        </p:txBody>
      </p:sp>
    </p:spTree>
    <p:extLst>
      <p:ext uri="{BB962C8B-B14F-4D97-AF65-F5344CB8AC3E}">
        <p14:creationId xmlns:p14="http://schemas.microsoft.com/office/powerpoint/2010/main" val="9302257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F73536B-0AF0-43FC-9687-A3A6CCFB2121}" type="datetime3">
              <a:rPr lang="en-US" smtClean="0"/>
              <a:t>26 October 2026</a:t>
            </a:fld>
            <a:endParaRPr lang="en-US" dirty="0"/>
          </a:p>
        </p:txBody>
      </p:sp>
      <p:sp>
        <p:nvSpPr>
          <p:cNvPr id="5" name="Footer Placeholder 4"/>
          <p:cNvSpPr>
            <a:spLocks noGrp="1"/>
          </p:cNvSpPr>
          <p:nvPr>
            <p:ph type="ftr" sz="quarter" idx="11"/>
          </p:nvPr>
        </p:nvSpPr>
        <p:spPr/>
        <p:txBody>
          <a:bodyPr/>
          <a:lstStyle/>
          <a:p>
            <a:r>
              <a:rPr lang="en-IN"/>
              <a:t>Dept. of AI &amp; ML</a:t>
            </a:r>
            <a:endParaRPr lang="en-IN" dirty="0"/>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dirty="0"/>
          </a:p>
        </p:txBody>
      </p:sp>
    </p:spTree>
    <p:extLst>
      <p:ext uri="{BB962C8B-B14F-4D97-AF65-F5344CB8AC3E}">
        <p14:creationId xmlns:p14="http://schemas.microsoft.com/office/powerpoint/2010/main" val="5582256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endParaRPr lang="en-IN"/>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6EF65B-1CD3-4C27-85C4-98B625C36928}" type="datetime3">
              <a:rPr lang="en-US" smtClean="0"/>
              <a:t>26 October 2026</a:t>
            </a:fld>
            <a:endParaRPr lang="en-US" dirty="0"/>
          </a:p>
        </p:txBody>
      </p:sp>
      <p:sp>
        <p:nvSpPr>
          <p:cNvPr id="5" name="Footer Placeholder 4"/>
          <p:cNvSpPr>
            <a:spLocks noGrp="1"/>
          </p:cNvSpPr>
          <p:nvPr>
            <p:ph type="ftr" sz="quarter" idx="11"/>
          </p:nvPr>
        </p:nvSpPr>
        <p:spPr/>
        <p:txBody>
          <a:bodyPr/>
          <a:lstStyle/>
          <a:p>
            <a:r>
              <a:rPr lang="en-IN"/>
              <a:t>Dept. of AI &amp; ML</a:t>
            </a:r>
            <a:endParaRPr lang="en-IN" dirty="0"/>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dirty="0"/>
          </a:p>
        </p:txBody>
      </p:sp>
    </p:spTree>
    <p:extLst>
      <p:ext uri="{BB962C8B-B14F-4D97-AF65-F5344CB8AC3E}">
        <p14:creationId xmlns:p14="http://schemas.microsoft.com/office/powerpoint/2010/main" val="2453821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DAE16DC-6745-42F5-9E6E-F85302676B44}" type="datetime3">
              <a:rPr lang="en-US" smtClean="0"/>
              <a:t>26 October 2026</a:t>
            </a:fld>
            <a:endParaRPr lang="en-US" dirty="0"/>
          </a:p>
        </p:txBody>
      </p:sp>
      <p:sp>
        <p:nvSpPr>
          <p:cNvPr id="6" name="Footer Placeholder 5"/>
          <p:cNvSpPr>
            <a:spLocks noGrp="1"/>
          </p:cNvSpPr>
          <p:nvPr>
            <p:ph type="ftr" sz="quarter" idx="11"/>
          </p:nvPr>
        </p:nvSpPr>
        <p:spPr/>
        <p:txBody>
          <a:bodyPr/>
          <a:lstStyle/>
          <a:p>
            <a:r>
              <a:rPr lang="en-IN"/>
              <a:t>Dept. of AI &amp; ML</a:t>
            </a:r>
            <a:endParaRPr lang="en-IN" dirty="0"/>
          </a:p>
        </p:txBody>
      </p:sp>
      <p:sp>
        <p:nvSpPr>
          <p:cNvPr id="7" name="Slide Number Placeholder 6"/>
          <p:cNvSpPr>
            <a:spLocks noGrp="1"/>
          </p:cNvSpPr>
          <p:nvPr>
            <p:ph type="sldNum" sz="quarter" idx="12"/>
          </p:nvPr>
        </p:nvSpPr>
        <p:spPr/>
        <p:txBody>
          <a:bodyPr/>
          <a:lstStyle/>
          <a:p>
            <a:fld id="{B6F15528-21DE-4FAA-801E-634DDDAF4B2B}" type="slidenum">
              <a:rPr lang="en-IN" smtClean="0"/>
              <a:pPr/>
              <a:t>‹#›</a:t>
            </a:fld>
            <a:endParaRPr lang="en-IN" dirty="0"/>
          </a:p>
        </p:txBody>
      </p:sp>
    </p:spTree>
    <p:extLst>
      <p:ext uri="{BB962C8B-B14F-4D97-AF65-F5344CB8AC3E}">
        <p14:creationId xmlns:p14="http://schemas.microsoft.com/office/powerpoint/2010/main" val="4790402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endParaRPr lang="en-IN"/>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BA6EC28-665F-4900-92F2-570BE0AB62F1}" type="datetime3">
              <a:rPr lang="en-US" smtClean="0"/>
              <a:t>26 October 2026</a:t>
            </a:fld>
            <a:endParaRPr lang="en-US" dirty="0"/>
          </a:p>
        </p:txBody>
      </p:sp>
      <p:sp>
        <p:nvSpPr>
          <p:cNvPr id="8" name="Footer Placeholder 7"/>
          <p:cNvSpPr>
            <a:spLocks noGrp="1"/>
          </p:cNvSpPr>
          <p:nvPr>
            <p:ph type="ftr" sz="quarter" idx="11"/>
          </p:nvPr>
        </p:nvSpPr>
        <p:spPr/>
        <p:txBody>
          <a:bodyPr/>
          <a:lstStyle/>
          <a:p>
            <a:r>
              <a:rPr lang="en-IN"/>
              <a:t>Dept. of AI &amp; ML</a:t>
            </a:r>
            <a:endParaRPr lang="en-IN" dirty="0"/>
          </a:p>
        </p:txBody>
      </p:sp>
      <p:sp>
        <p:nvSpPr>
          <p:cNvPr id="9" name="Slide Number Placeholder 8"/>
          <p:cNvSpPr>
            <a:spLocks noGrp="1"/>
          </p:cNvSpPr>
          <p:nvPr>
            <p:ph type="sldNum" sz="quarter" idx="12"/>
          </p:nvPr>
        </p:nvSpPr>
        <p:spPr/>
        <p:txBody>
          <a:bodyPr/>
          <a:lstStyle/>
          <a:p>
            <a:fld id="{B6F15528-21DE-4FAA-801E-634DDDAF4B2B}" type="slidenum">
              <a:rPr lang="en-IN" smtClean="0"/>
              <a:pPr/>
              <a:t>‹#›</a:t>
            </a:fld>
            <a:endParaRPr lang="en-IN" dirty="0"/>
          </a:p>
        </p:txBody>
      </p:sp>
    </p:spTree>
    <p:extLst>
      <p:ext uri="{BB962C8B-B14F-4D97-AF65-F5344CB8AC3E}">
        <p14:creationId xmlns:p14="http://schemas.microsoft.com/office/powerpoint/2010/main" val="7314019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1E607A8-E8D3-43FC-A598-1EA1EA9E84C3}" type="datetime3">
              <a:rPr lang="en-US" smtClean="0"/>
              <a:t>26 October 2026</a:t>
            </a:fld>
            <a:endParaRPr lang="en-US" dirty="0"/>
          </a:p>
        </p:txBody>
      </p:sp>
      <p:sp>
        <p:nvSpPr>
          <p:cNvPr id="4" name="Footer Placeholder 3"/>
          <p:cNvSpPr>
            <a:spLocks noGrp="1"/>
          </p:cNvSpPr>
          <p:nvPr>
            <p:ph type="ftr" sz="quarter" idx="11"/>
          </p:nvPr>
        </p:nvSpPr>
        <p:spPr/>
        <p:txBody>
          <a:bodyPr/>
          <a:lstStyle/>
          <a:p>
            <a:r>
              <a:rPr lang="en-IN"/>
              <a:t>Dept. of AI &amp; ML</a:t>
            </a:r>
            <a:endParaRPr lang="en-IN" dirty="0"/>
          </a:p>
        </p:txBody>
      </p:sp>
      <p:sp>
        <p:nvSpPr>
          <p:cNvPr id="5" name="Slide Number Placeholder 4"/>
          <p:cNvSpPr>
            <a:spLocks noGrp="1"/>
          </p:cNvSpPr>
          <p:nvPr>
            <p:ph type="sldNum" sz="quarter" idx="12"/>
          </p:nvPr>
        </p:nvSpPr>
        <p:spPr/>
        <p:txBody>
          <a:bodyPr/>
          <a:lstStyle/>
          <a:p>
            <a:fld id="{B6F15528-21DE-4FAA-801E-634DDDAF4B2B}" type="slidenum">
              <a:rPr lang="en-IN" smtClean="0"/>
              <a:pPr/>
              <a:t>‹#›</a:t>
            </a:fld>
            <a:endParaRPr lang="en-IN" dirty="0"/>
          </a:p>
        </p:txBody>
      </p:sp>
    </p:spTree>
    <p:extLst>
      <p:ext uri="{BB962C8B-B14F-4D97-AF65-F5344CB8AC3E}">
        <p14:creationId xmlns:p14="http://schemas.microsoft.com/office/powerpoint/2010/main" val="18638772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94297E-87B1-45DD-85FA-F98211548008}" type="datetime3">
              <a:rPr lang="en-US" smtClean="0"/>
              <a:t>26 October 2026</a:t>
            </a:fld>
            <a:endParaRPr lang="en-US" dirty="0"/>
          </a:p>
        </p:txBody>
      </p:sp>
      <p:sp>
        <p:nvSpPr>
          <p:cNvPr id="3" name="Footer Placeholder 2"/>
          <p:cNvSpPr>
            <a:spLocks noGrp="1"/>
          </p:cNvSpPr>
          <p:nvPr>
            <p:ph type="ftr" sz="quarter" idx="11"/>
          </p:nvPr>
        </p:nvSpPr>
        <p:spPr/>
        <p:txBody>
          <a:bodyPr/>
          <a:lstStyle/>
          <a:p>
            <a:r>
              <a:rPr lang="en-IN"/>
              <a:t>Dept. of AI &amp; ML</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IN" smtClean="0"/>
              <a:pPr/>
              <a:t>‹#›</a:t>
            </a:fld>
            <a:endParaRPr lang="en-IN" dirty="0"/>
          </a:p>
        </p:txBody>
      </p:sp>
    </p:spTree>
    <p:extLst>
      <p:ext uri="{BB962C8B-B14F-4D97-AF65-F5344CB8AC3E}">
        <p14:creationId xmlns:p14="http://schemas.microsoft.com/office/powerpoint/2010/main" val="2737024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IN"/>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04FE95E9-EC26-4467-80D4-1B9C86B4C053}" type="datetime3">
              <a:rPr lang="en-US" smtClean="0"/>
              <a:t>26 October 2026</a:t>
            </a:fld>
            <a:endParaRPr lang="en-US" dirty="0"/>
          </a:p>
        </p:txBody>
      </p:sp>
      <p:sp>
        <p:nvSpPr>
          <p:cNvPr id="6" name="Footer Placeholder 5"/>
          <p:cNvSpPr>
            <a:spLocks noGrp="1"/>
          </p:cNvSpPr>
          <p:nvPr>
            <p:ph type="ftr" sz="quarter" idx="11"/>
          </p:nvPr>
        </p:nvSpPr>
        <p:spPr/>
        <p:txBody>
          <a:bodyPr/>
          <a:lstStyle/>
          <a:p>
            <a:r>
              <a:rPr lang="en-IN"/>
              <a:t>Dept. of AI &amp; ML</a:t>
            </a:r>
            <a:endParaRPr lang="en-IN" dirty="0"/>
          </a:p>
        </p:txBody>
      </p:sp>
      <p:sp>
        <p:nvSpPr>
          <p:cNvPr id="7" name="Slide Number Placeholder 6"/>
          <p:cNvSpPr>
            <a:spLocks noGrp="1"/>
          </p:cNvSpPr>
          <p:nvPr>
            <p:ph type="sldNum" sz="quarter" idx="12"/>
          </p:nvPr>
        </p:nvSpPr>
        <p:spPr/>
        <p:txBody>
          <a:bodyPr/>
          <a:lstStyle/>
          <a:p>
            <a:fld id="{B6F15528-21DE-4FAA-801E-634DDDAF4B2B}" type="slidenum">
              <a:rPr lang="en-IN" smtClean="0"/>
              <a:pPr/>
              <a:t>‹#›</a:t>
            </a:fld>
            <a:endParaRPr lang="en-IN" dirty="0"/>
          </a:p>
        </p:txBody>
      </p:sp>
    </p:spTree>
    <p:extLst>
      <p:ext uri="{BB962C8B-B14F-4D97-AF65-F5344CB8AC3E}">
        <p14:creationId xmlns:p14="http://schemas.microsoft.com/office/powerpoint/2010/main" val="3039342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IN"/>
          </a:p>
        </p:txBody>
      </p:sp>
      <p:sp>
        <p:nvSpPr>
          <p:cNvPr id="3" name="Picture Placeholder 2"/>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IN"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2F873728-DFB1-4D64-9358-D87D7108B63C}" type="datetime3">
              <a:rPr lang="en-US" smtClean="0"/>
              <a:t>26 October 2026</a:t>
            </a:fld>
            <a:endParaRPr lang="en-US" dirty="0"/>
          </a:p>
        </p:txBody>
      </p:sp>
      <p:sp>
        <p:nvSpPr>
          <p:cNvPr id="6" name="Footer Placeholder 5"/>
          <p:cNvSpPr>
            <a:spLocks noGrp="1"/>
          </p:cNvSpPr>
          <p:nvPr>
            <p:ph type="ftr" sz="quarter" idx="11"/>
          </p:nvPr>
        </p:nvSpPr>
        <p:spPr/>
        <p:txBody>
          <a:bodyPr/>
          <a:lstStyle/>
          <a:p>
            <a:r>
              <a:rPr lang="en-IN"/>
              <a:t>Dept. of AI &amp; ML</a:t>
            </a:r>
            <a:endParaRPr lang="en-IN" dirty="0"/>
          </a:p>
        </p:txBody>
      </p:sp>
      <p:sp>
        <p:nvSpPr>
          <p:cNvPr id="7" name="Slide Number Placeholder 6"/>
          <p:cNvSpPr>
            <a:spLocks noGrp="1"/>
          </p:cNvSpPr>
          <p:nvPr>
            <p:ph type="sldNum" sz="quarter" idx="12"/>
          </p:nvPr>
        </p:nvSpPr>
        <p:spPr/>
        <p:txBody>
          <a:bodyPr/>
          <a:lstStyle/>
          <a:p>
            <a:fld id="{B6F15528-21DE-4FAA-801E-634DDDAF4B2B}" type="slidenum">
              <a:rPr lang="en-IN" smtClean="0"/>
              <a:pPr/>
              <a:t>‹#›</a:t>
            </a:fld>
            <a:endParaRPr lang="en-IN" dirty="0"/>
          </a:p>
        </p:txBody>
      </p:sp>
    </p:spTree>
    <p:extLst>
      <p:ext uri="{BB962C8B-B14F-4D97-AF65-F5344CB8AC3E}">
        <p14:creationId xmlns:p14="http://schemas.microsoft.com/office/powerpoint/2010/main" val="30008583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8F88F4A-D1DD-4E46-B569-6CCF79D28816}" type="datetime3">
              <a:rPr lang="en-US" smtClean="0"/>
              <a:t>26 October 2026</a:t>
            </a:fld>
            <a:endParaRPr lang="en-US" dirty="0"/>
          </a:p>
        </p:txBody>
      </p:sp>
      <p:sp>
        <p:nvSpPr>
          <p:cNvPr id="5" name="Footer Placeholder 4"/>
          <p:cNvSpPr>
            <a:spLocks noGrp="1"/>
          </p:cNvSpPr>
          <p:nvPr>
            <p:ph type="ftr" sz="quarter" idx="11"/>
          </p:nvPr>
        </p:nvSpPr>
        <p:spPr/>
        <p:txBody>
          <a:bodyPr/>
          <a:lstStyle/>
          <a:p>
            <a:r>
              <a:rPr lang="en-IN"/>
              <a:t>Dept. of AI &amp; ML</a:t>
            </a:r>
            <a:endParaRPr lang="en-IN" dirty="0"/>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dirty="0"/>
          </a:p>
        </p:txBody>
      </p:sp>
    </p:spTree>
    <p:extLst>
      <p:ext uri="{BB962C8B-B14F-4D97-AF65-F5344CB8AC3E}">
        <p14:creationId xmlns:p14="http://schemas.microsoft.com/office/powerpoint/2010/main" val="35995467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A1733EF-CC8A-4780-B318-8862E19F0355}" type="datetime3">
              <a:rPr lang="en-US" smtClean="0"/>
              <a:t>26 October 2026</a:t>
            </a:fld>
            <a:endParaRPr lang="en-US" dirty="0"/>
          </a:p>
        </p:txBody>
      </p:sp>
      <p:sp>
        <p:nvSpPr>
          <p:cNvPr id="5" name="Footer Placeholder 4"/>
          <p:cNvSpPr>
            <a:spLocks noGrp="1"/>
          </p:cNvSpPr>
          <p:nvPr>
            <p:ph type="ftr" sz="quarter" idx="11"/>
          </p:nvPr>
        </p:nvSpPr>
        <p:spPr/>
        <p:txBody>
          <a:bodyPr/>
          <a:lstStyle/>
          <a:p>
            <a:r>
              <a:rPr lang="en-IN"/>
              <a:t>Dept. of AI &amp; ML</a:t>
            </a:r>
            <a:endParaRPr lang="en-IN" dirty="0"/>
          </a:p>
        </p:txBody>
      </p:sp>
      <p:sp>
        <p:nvSpPr>
          <p:cNvPr id="6" name="Slide Number Placeholder 5"/>
          <p:cNvSpPr>
            <a:spLocks noGrp="1"/>
          </p:cNvSpPr>
          <p:nvPr>
            <p:ph type="sldNum" sz="quarter" idx="12"/>
          </p:nvPr>
        </p:nvSpPr>
        <p:spPr/>
        <p:txBody>
          <a:bodyPr/>
          <a:lstStyle/>
          <a:p>
            <a:fld id="{B6F15528-21DE-4FAA-801E-634DDDAF4B2B}" type="slidenum">
              <a:rPr lang="en-IN" smtClean="0"/>
              <a:pPr/>
              <a:t>‹#›</a:t>
            </a:fld>
            <a:endParaRPr lang="en-IN" dirty="0"/>
          </a:p>
        </p:txBody>
      </p:sp>
    </p:spTree>
    <p:extLst>
      <p:ext uri="{BB962C8B-B14F-4D97-AF65-F5344CB8AC3E}">
        <p14:creationId xmlns:p14="http://schemas.microsoft.com/office/powerpoint/2010/main" val="1594771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32E69BA7-71E3-4D1F-8F91-3683761D03CA}" type="datetime3">
              <a:rPr lang="en-US" smtClean="0"/>
              <a:t>26 October 2026</a:t>
            </a:fld>
            <a:endParaRPr lang="en-US" dirty="0"/>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IN"/>
              <a:t>Dept of AI </a:t>
            </a:r>
            <a:endParaRPr lang="en-IN" dirty="0"/>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IN" smtClean="0"/>
              <a:pPr/>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FB155EB5-80B1-423B-B8A7-6502C7E46C6A}" type="datetime3">
              <a:rPr lang="en-US" smtClean="0"/>
              <a:t>26 October 2026</a:t>
            </a:fld>
            <a:endParaRPr lang="en-US" dirty="0"/>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IN"/>
              <a:t>Dept. of AI &amp; ML</a:t>
            </a:r>
            <a:endParaRPr lang="en-IN" dirty="0"/>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IN" smtClean="0"/>
              <a:pPr/>
              <a:t>‹#›</a:t>
            </a:fld>
            <a:endParaRPr lang="en-IN" dirty="0"/>
          </a:p>
        </p:txBody>
      </p:sp>
    </p:spTree>
    <p:extLst>
      <p:ext uri="{BB962C8B-B14F-4D97-AF65-F5344CB8AC3E}">
        <p14:creationId xmlns:p14="http://schemas.microsoft.com/office/powerpoint/2010/main" val="22169789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572896" y="311608"/>
            <a:ext cx="3009122" cy="1983890"/>
          </a:xfrm>
          <a:prstGeom prst="rect">
            <a:avLst/>
          </a:prstGeom>
        </p:spPr>
      </p:pic>
      <p:pic>
        <p:nvPicPr>
          <p:cNvPr id="4" name="object 4"/>
          <p:cNvPicPr/>
          <p:nvPr/>
        </p:nvPicPr>
        <p:blipFill>
          <a:blip r:embed="rId3" cstate="print"/>
          <a:stretch>
            <a:fillRect/>
          </a:stretch>
        </p:blipFill>
        <p:spPr>
          <a:xfrm>
            <a:off x="14946374" y="64610"/>
            <a:ext cx="2428874" cy="2419349"/>
          </a:xfrm>
          <a:prstGeom prst="rect">
            <a:avLst/>
          </a:prstGeom>
        </p:spPr>
      </p:pic>
      <p:sp>
        <p:nvSpPr>
          <p:cNvPr id="5" name="object 5"/>
          <p:cNvSpPr txBox="1">
            <a:spLocks noGrp="1"/>
          </p:cNvSpPr>
          <p:nvPr>
            <p:ph type="title"/>
          </p:nvPr>
        </p:nvSpPr>
        <p:spPr>
          <a:xfrm>
            <a:off x="3617076" y="184638"/>
            <a:ext cx="11316970" cy="641985"/>
          </a:xfrm>
          <a:prstGeom prst="rect">
            <a:avLst/>
          </a:prstGeom>
        </p:spPr>
        <p:txBody>
          <a:bodyPr vert="horz" wrap="square" lIns="0" tIns="11430" rIns="0" bIns="0" rtlCol="0">
            <a:spAutoFit/>
          </a:bodyPr>
          <a:lstStyle/>
          <a:p>
            <a:pPr marL="12700">
              <a:lnSpc>
                <a:spcPct val="100000"/>
              </a:lnSpc>
              <a:spcBef>
                <a:spcPts val="90"/>
              </a:spcBef>
            </a:pPr>
            <a:r>
              <a:rPr sz="4050" b="1" spc="-75" dirty="0">
                <a:solidFill>
                  <a:srgbClr val="FF5757"/>
                </a:solidFill>
                <a:latin typeface="Times New Roman" panose="02020603050405020304" pitchFamily="18" charset="0"/>
                <a:cs typeface="Times New Roman" panose="02020603050405020304" pitchFamily="18" charset="0"/>
              </a:rPr>
              <a:t>Vivekananda</a:t>
            </a:r>
            <a:r>
              <a:rPr sz="4050" b="1" spc="-105" dirty="0">
                <a:solidFill>
                  <a:srgbClr val="FF5757"/>
                </a:solidFill>
                <a:latin typeface="Times New Roman" panose="02020603050405020304" pitchFamily="18" charset="0"/>
                <a:cs typeface="Times New Roman" panose="02020603050405020304" pitchFamily="18" charset="0"/>
              </a:rPr>
              <a:t> </a:t>
            </a:r>
            <a:r>
              <a:rPr sz="4050" b="1" spc="-60" dirty="0">
                <a:solidFill>
                  <a:srgbClr val="FF5757"/>
                </a:solidFill>
                <a:latin typeface="Times New Roman" panose="02020603050405020304" pitchFamily="18" charset="0"/>
                <a:cs typeface="Times New Roman" panose="02020603050405020304" pitchFamily="18" charset="0"/>
              </a:rPr>
              <a:t>College</a:t>
            </a:r>
            <a:r>
              <a:rPr sz="4050" b="1" spc="-105" dirty="0">
                <a:solidFill>
                  <a:srgbClr val="FF5757"/>
                </a:solidFill>
                <a:latin typeface="Times New Roman" panose="02020603050405020304" pitchFamily="18" charset="0"/>
                <a:cs typeface="Times New Roman" panose="02020603050405020304" pitchFamily="18" charset="0"/>
              </a:rPr>
              <a:t> </a:t>
            </a:r>
            <a:r>
              <a:rPr sz="4050" b="1" spc="90" dirty="0">
                <a:solidFill>
                  <a:srgbClr val="FF5757"/>
                </a:solidFill>
                <a:latin typeface="Times New Roman" panose="02020603050405020304" pitchFamily="18" charset="0"/>
                <a:cs typeface="Times New Roman" panose="02020603050405020304" pitchFamily="18" charset="0"/>
              </a:rPr>
              <a:t>of</a:t>
            </a:r>
            <a:r>
              <a:rPr sz="4050" b="1" spc="-100" dirty="0">
                <a:solidFill>
                  <a:srgbClr val="FF5757"/>
                </a:solidFill>
                <a:latin typeface="Times New Roman" panose="02020603050405020304" pitchFamily="18" charset="0"/>
                <a:cs typeface="Times New Roman" panose="02020603050405020304" pitchFamily="18" charset="0"/>
              </a:rPr>
              <a:t> </a:t>
            </a:r>
            <a:r>
              <a:rPr sz="4050" b="1" spc="-60" dirty="0">
                <a:solidFill>
                  <a:srgbClr val="FF5757"/>
                </a:solidFill>
                <a:latin typeface="Times New Roman" panose="02020603050405020304" pitchFamily="18" charset="0"/>
                <a:cs typeface="Times New Roman" panose="02020603050405020304" pitchFamily="18" charset="0"/>
              </a:rPr>
              <a:t>Engineering</a:t>
            </a:r>
            <a:r>
              <a:rPr sz="4050" b="1" spc="-105" dirty="0">
                <a:solidFill>
                  <a:srgbClr val="FF5757"/>
                </a:solidFill>
                <a:latin typeface="Times New Roman" panose="02020603050405020304" pitchFamily="18" charset="0"/>
                <a:cs typeface="Times New Roman" panose="02020603050405020304" pitchFamily="18" charset="0"/>
              </a:rPr>
              <a:t> </a:t>
            </a:r>
            <a:r>
              <a:rPr sz="4050" b="1" spc="20" dirty="0">
                <a:solidFill>
                  <a:srgbClr val="FF5757"/>
                </a:solidFill>
                <a:latin typeface="Times New Roman" panose="02020603050405020304" pitchFamily="18" charset="0"/>
                <a:cs typeface="Times New Roman" panose="02020603050405020304" pitchFamily="18" charset="0"/>
              </a:rPr>
              <a:t>&amp;</a:t>
            </a:r>
            <a:r>
              <a:rPr sz="4050" b="1" spc="-105" dirty="0">
                <a:solidFill>
                  <a:srgbClr val="FF5757"/>
                </a:solidFill>
                <a:latin typeface="Times New Roman" panose="02020603050405020304" pitchFamily="18" charset="0"/>
                <a:cs typeface="Times New Roman" panose="02020603050405020304" pitchFamily="18" charset="0"/>
              </a:rPr>
              <a:t> </a:t>
            </a:r>
            <a:r>
              <a:rPr sz="4050" b="1" spc="-55" dirty="0">
                <a:solidFill>
                  <a:srgbClr val="FF5757"/>
                </a:solidFill>
                <a:latin typeface="Times New Roman" panose="02020603050405020304" pitchFamily="18" charset="0"/>
                <a:cs typeface="Times New Roman" panose="02020603050405020304" pitchFamily="18" charset="0"/>
              </a:rPr>
              <a:t>Technology</a:t>
            </a:r>
            <a:endParaRPr sz="4050" b="1" dirty="0">
              <a:latin typeface="Times New Roman" panose="02020603050405020304" pitchFamily="18" charset="0"/>
              <a:cs typeface="Times New Roman" panose="02020603050405020304" pitchFamily="18" charset="0"/>
            </a:endParaRPr>
          </a:p>
        </p:txBody>
      </p:sp>
      <p:sp>
        <p:nvSpPr>
          <p:cNvPr id="18" name="Date Placeholder 17"/>
          <p:cNvSpPr>
            <a:spLocks noGrp="1"/>
          </p:cNvSpPr>
          <p:nvPr>
            <p:ph type="dt" sz="half" idx="10"/>
          </p:nvPr>
        </p:nvSpPr>
        <p:spPr>
          <a:xfrm>
            <a:off x="304800" y="9562895"/>
            <a:ext cx="4114800" cy="547688"/>
          </a:xfrm>
        </p:spPr>
        <p:txBody>
          <a:bodyPr/>
          <a:lstStyle/>
          <a:p>
            <a:fld id="{95CC48DC-4FB6-40C3-8F10-00DED7216493}"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20" name="Slide Number Placeholder 19"/>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1</a:t>
            </a:fld>
            <a:endParaRPr lang="en-IN" dirty="0">
              <a:latin typeface="Times New Roman" panose="02020603050405020304" pitchFamily="18" charset="0"/>
              <a:cs typeface="Times New Roman" panose="02020603050405020304" pitchFamily="18" charset="0"/>
            </a:endParaRPr>
          </a:p>
        </p:txBody>
      </p:sp>
      <p:sp>
        <p:nvSpPr>
          <p:cNvPr id="6" name="object 6"/>
          <p:cNvSpPr txBox="1"/>
          <p:nvPr/>
        </p:nvSpPr>
        <p:spPr>
          <a:xfrm>
            <a:off x="3658152" y="817764"/>
            <a:ext cx="11235055" cy="1335405"/>
          </a:xfrm>
          <a:prstGeom prst="rect">
            <a:avLst/>
          </a:prstGeom>
        </p:spPr>
        <p:txBody>
          <a:bodyPr vert="horz" wrap="square" lIns="0" tIns="62230" rIns="0" bIns="0" rtlCol="0">
            <a:spAutoFit/>
          </a:bodyPr>
          <a:lstStyle/>
          <a:p>
            <a:pPr marL="920115" marR="912495" algn="ctr">
              <a:lnSpc>
                <a:spcPts val="3300"/>
              </a:lnSpc>
              <a:spcBef>
                <a:spcPts val="490"/>
              </a:spcBef>
            </a:pPr>
            <a:r>
              <a:rPr sz="3000" spc="30" dirty="0">
                <a:solidFill>
                  <a:srgbClr val="2B2B2B"/>
                </a:solidFill>
                <a:latin typeface="Times New Roman" panose="02020603050405020304" pitchFamily="18" charset="0"/>
                <a:cs typeface="Times New Roman" panose="02020603050405020304" pitchFamily="18" charset="0"/>
              </a:rPr>
              <a:t>[A</a:t>
            </a:r>
            <a:r>
              <a:rPr sz="3000" spc="-70" dirty="0">
                <a:solidFill>
                  <a:srgbClr val="2B2B2B"/>
                </a:solidFill>
                <a:latin typeface="Times New Roman" panose="02020603050405020304" pitchFamily="18" charset="0"/>
                <a:cs typeface="Times New Roman" panose="02020603050405020304" pitchFamily="18" charset="0"/>
              </a:rPr>
              <a:t> </a:t>
            </a:r>
            <a:r>
              <a:rPr sz="3000" spc="40" dirty="0">
                <a:solidFill>
                  <a:srgbClr val="2B2B2B"/>
                </a:solidFill>
                <a:latin typeface="Times New Roman" panose="02020603050405020304" pitchFamily="18" charset="0"/>
                <a:cs typeface="Times New Roman" panose="02020603050405020304" pitchFamily="18" charset="0"/>
              </a:rPr>
              <a:t>Unit</a:t>
            </a:r>
            <a:r>
              <a:rPr sz="3000" spc="-65" dirty="0">
                <a:solidFill>
                  <a:srgbClr val="2B2B2B"/>
                </a:solidFill>
                <a:latin typeface="Times New Roman" panose="02020603050405020304" pitchFamily="18" charset="0"/>
                <a:cs typeface="Times New Roman" panose="02020603050405020304" pitchFamily="18" charset="0"/>
              </a:rPr>
              <a:t> </a:t>
            </a:r>
            <a:r>
              <a:rPr sz="3000" spc="80" dirty="0">
                <a:solidFill>
                  <a:srgbClr val="2B2B2B"/>
                </a:solidFill>
                <a:latin typeface="Times New Roman" panose="02020603050405020304" pitchFamily="18" charset="0"/>
                <a:cs typeface="Times New Roman" panose="02020603050405020304" pitchFamily="18" charset="0"/>
              </a:rPr>
              <a:t>of</a:t>
            </a:r>
            <a:r>
              <a:rPr sz="3000" spc="-65" dirty="0">
                <a:solidFill>
                  <a:srgbClr val="2B2B2B"/>
                </a:solidFill>
                <a:latin typeface="Times New Roman" panose="02020603050405020304" pitchFamily="18" charset="0"/>
                <a:cs typeface="Times New Roman" panose="02020603050405020304" pitchFamily="18" charset="0"/>
              </a:rPr>
              <a:t> </a:t>
            </a:r>
            <a:r>
              <a:rPr sz="3000" spc="-35" dirty="0">
                <a:solidFill>
                  <a:srgbClr val="2B2B2B"/>
                </a:solidFill>
                <a:latin typeface="Times New Roman" panose="02020603050405020304" pitchFamily="18" charset="0"/>
                <a:cs typeface="Times New Roman" panose="02020603050405020304" pitchFamily="18" charset="0"/>
              </a:rPr>
              <a:t>Vivekananda</a:t>
            </a:r>
            <a:r>
              <a:rPr sz="3000" spc="-70" dirty="0">
                <a:solidFill>
                  <a:srgbClr val="2B2B2B"/>
                </a:solidFill>
                <a:latin typeface="Times New Roman" panose="02020603050405020304" pitchFamily="18" charset="0"/>
                <a:cs typeface="Times New Roman" panose="02020603050405020304" pitchFamily="18" charset="0"/>
              </a:rPr>
              <a:t> </a:t>
            </a:r>
            <a:r>
              <a:rPr sz="3000" spc="-20" dirty="0" err="1">
                <a:solidFill>
                  <a:srgbClr val="2B2B2B"/>
                </a:solidFill>
                <a:latin typeface="Times New Roman" panose="02020603050405020304" pitchFamily="18" charset="0"/>
                <a:cs typeface="Times New Roman" panose="02020603050405020304" pitchFamily="18" charset="0"/>
              </a:rPr>
              <a:t>Vidyavardhaka</a:t>
            </a:r>
            <a:r>
              <a:rPr sz="3000" spc="-65" dirty="0">
                <a:solidFill>
                  <a:srgbClr val="2B2B2B"/>
                </a:solidFill>
                <a:latin typeface="Times New Roman" panose="02020603050405020304" pitchFamily="18" charset="0"/>
                <a:cs typeface="Times New Roman" panose="02020603050405020304" pitchFamily="18" charset="0"/>
              </a:rPr>
              <a:t> </a:t>
            </a:r>
            <a:r>
              <a:rPr sz="3000" spc="-120" dirty="0">
                <a:solidFill>
                  <a:srgbClr val="2B2B2B"/>
                </a:solidFill>
                <a:latin typeface="Times New Roman" panose="02020603050405020304" pitchFamily="18" charset="0"/>
                <a:cs typeface="Times New Roman" panose="02020603050405020304" pitchFamily="18" charset="0"/>
              </a:rPr>
              <a:t>Sangha</a:t>
            </a:r>
            <a:r>
              <a:rPr lang="en-IN" sz="3000" spc="-120" dirty="0">
                <a:solidFill>
                  <a:srgbClr val="2B2B2B"/>
                </a:solidFill>
                <a:latin typeface="Times New Roman" panose="02020603050405020304" pitchFamily="18" charset="0"/>
                <a:cs typeface="Times New Roman" panose="02020603050405020304" pitchFamily="18" charset="0"/>
              </a:rPr>
              <a:t>,</a:t>
            </a:r>
            <a:r>
              <a:rPr sz="3000" spc="-65" dirty="0">
                <a:solidFill>
                  <a:srgbClr val="2B2B2B"/>
                </a:solidFill>
                <a:latin typeface="Times New Roman" panose="02020603050405020304" pitchFamily="18" charset="0"/>
                <a:cs typeface="Times New Roman" panose="02020603050405020304" pitchFamily="18" charset="0"/>
              </a:rPr>
              <a:t> </a:t>
            </a:r>
            <a:r>
              <a:rPr sz="3000" spc="100" dirty="0">
                <a:solidFill>
                  <a:srgbClr val="2B2B2B"/>
                </a:solidFill>
                <a:latin typeface="Times New Roman" panose="02020603050405020304" pitchFamily="18" charset="0"/>
                <a:cs typeface="Times New Roman" panose="02020603050405020304" pitchFamily="18" charset="0"/>
              </a:rPr>
              <a:t>Puttur®] </a:t>
            </a:r>
            <a:r>
              <a:rPr sz="3000" spc="-819" dirty="0">
                <a:solidFill>
                  <a:srgbClr val="2B2B2B"/>
                </a:solidFill>
                <a:latin typeface="Times New Roman" panose="02020603050405020304" pitchFamily="18" charset="0"/>
                <a:cs typeface="Times New Roman" panose="02020603050405020304" pitchFamily="18" charset="0"/>
              </a:rPr>
              <a:t> </a:t>
            </a:r>
            <a:r>
              <a:rPr sz="3000" spc="55" dirty="0">
                <a:solidFill>
                  <a:srgbClr val="5270FF"/>
                </a:solidFill>
                <a:latin typeface="Times New Roman" panose="02020603050405020304" pitchFamily="18" charset="0"/>
                <a:cs typeface="Times New Roman" panose="02020603050405020304" pitchFamily="18" charset="0"/>
              </a:rPr>
              <a:t>Affiliated</a:t>
            </a:r>
            <a:r>
              <a:rPr sz="3000" spc="-70" dirty="0">
                <a:solidFill>
                  <a:srgbClr val="5270FF"/>
                </a:solidFill>
                <a:latin typeface="Times New Roman" panose="02020603050405020304" pitchFamily="18" charset="0"/>
                <a:cs typeface="Times New Roman" panose="02020603050405020304" pitchFamily="18" charset="0"/>
              </a:rPr>
              <a:t> </a:t>
            </a:r>
            <a:r>
              <a:rPr sz="3000" spc="100" dirty="0">
                <a:solidFill>
                  <a:srgbClr val="5270FF"/>
                </a:solidFill>
                <a:latin typeface="Times New Roman" panose="02020603050405020304" pitchFamily="18" charset="0"/>
                <a:cs typeface="Times New Roman" panose="02020603050405020304" pitchFamily="18" charset="0"/>
              </a:rPr>
              <a:t>to</a:t>
            </a:r>
            <a:r>
              <a:rPr sz="3000" spc="-65" dirty="0">
                <a:solidFill>
                  <a:srgbClr val="5270FF"/>
                </a:solidFill>
                <a:latin typeface="Times New Roman" panose="02020603050405020304" pitchFamily="18" charset="0"/>
                <a:cs typeface="Times New Roman" panose="02020603050405020304" pitchFamily="18" charset="0"/>
              </a:rPr>
              <a:t> </a:t>
            </a:r>
            <a:r>
              <a:rPr sz="3000" spc="-70" dirty="0">
                <a:solidFill>
                  <a:srgbClr val="5270FF"/>
                </a:solidFill>
                <a:latin typeface="Times New Roman" panose="02020603050405020304" pitchFamily="18" charset="0"/>
                <a:cs typeface="Times New Roman" panose="02020603050405020304" pitchFamily="18" charset="0"/>
              </a:rPr>
              <a:t>Visvesvaraya</a:t>
            </a:r>
            <a:r>
              <a:rPr sz="3000" spc="-65" dirty="0">
                <a:solidFill>
                  <a:srgbClr val="5270FF"/>
                </a:solidFill>
                <a:latin typeface="Times New Roman" panose="02020603050405020304" pitchFamily="18" charset="0"/>
                <a:cs typeface="Times New Roman" panose="02020603050405020304" pitchFamily="18" charset="0"/>
              </a:rPr>
              <a:t> </a:t>
            </a:r>
            <a:r>
              <a:rPr sz="3000" spc="-15" dirty="0">
                <a:solidFill>
                  <a:srgbClr val="5270FF"/>
                </a:solidFill>
                <a:latin typeface="Times New Roman" panose="02020603050405020304" pitchFamily="18" charset="0"/>
                <a:cs typeface="Times New Roman" panose="02020603050405020304" pitchFamily="18" charset="0"/>
              </a:rPr>
              <a:t>Technological</a:t>
            </a:r>
            <a:r>
              <a:rPr sz="3000" spc="-65" dirty="0">
                <a:solidFill>
                  <a:srgbClr val="5270FF"/>
                </a:solidFill>
                <a:latin typeface="Times New Roman" panose="02020603050405020304" pitchFamily="18" charset="0"/>
                <a:cs typeface="Times New Roman" panose="02020603050405020304" pitchFamily="18" charset="0"/>
              </a:rPr>
              <a:t> </a:t>
            </a:r>
            <a:r>
              <a:rPr sz="3000" dirty="0">
                <a:solidFill>
                  <a:srgbClr val="5270FF"/>
                </a:solidFill>
                <a:latin typeface="Times New Roman" panose="02020603050405020304" pitchFamily="18" charset="0"/>
                <a:cs typeface="Times New Roman" panose="02020603050405020304" pitchFamily="18" charset="0"/>
              </a:rPr>
              <a:t>University</a:t>
            </a:r>
            <a:r>
              <a:rPr lang="en-IN" sz="3000" dirty="0">
                <a:solidFill>
                  <a:srgbClr val="5270FF"/>
                </a:solidFill>
                <a:latin typeface="Times New Roman" panose="02020603050405020304" pitchFamily="18" charset="0"/>
                <a:cs typeface="Times New Roman" panose="02020603050405020304" pitchFamily="18" charset="0"/>
              </a:rPr>
              <a:t>, Belagavi</a:t>
            </a:r>
            <a:endParaRPr sz="3000" dirty="0">
              <a:latin typeface="Times New Roman" panose="02020603050405020304" pitchFamily="18" charset="0"/>
              <a:cs typeface="Times New Roman" panose="02020603050405020304" pitchFamily="18" charset="0"/>
            </a:endParaRPr>
          </a:p>
          <a:p>
            <a:pPr algn="ctr">
              <a:lnSpc>
                <a:spcPts val="3315"/>
              </a:lnSpc>
            </a:pPr>
            <a:r>
              <a:rPr sz="3000" dirty="0">
                <a:solidFill>
                  <a:srgbClr val="5270FF"/>
                </a:solidFill>
                <a:latin typeface="Times New Roman" panose="02020603050405020304" pitchFamily="18" charset="0"/>
                <a:cs typeface="Times New Roman" panose="02020603050405020304" pitchFamily="18" charset="0"/>
              </a:rPr>
              <a:t>Approved</a:t>
            </a:r>
            <a:r>
              <a:rPr sz="3000" spc="-70" dirty="0">
                <a:solidFill>
                  <a:srgbClr val="5270FF"/>
                </a:solidFill>
                <a:latin typeface="Times New Roman" panose="02020603050405020304" pitchFamily="18" charset="0"/>
                <a:cs typeface="Times New Roman" panose="02020603050405020304" pitchFamily="18" charset="0"/>
              </a:rPr>
              <a:t> </a:t>
            </a:r>
            <a:r>
              <a:rPr sz="3000" spc="5" dirty="0">
                <a:solidFill>
                  <a:srgbClr val="5270FF"/>
                </a:solidFill>
                <a:latin typeface="Times New Roman" panose="02020603050405020304" pitchFamily="18" charset="0"/>
                <a:cs typeface="Times New Roman" panose="02020603050405020304" pitchFamily="18" charset="0"/>
              </a:rPr>
              <a:t>by</a:t>
            </a:r>
            <a:r>
              <a:rPr sz="3000" spc="-65" dirty="0">
                <a:solidFill>
                  <a:srgbClr val="5270FF"/>
                </a:solidFill>
                <a:latin typeface="Times New Roman" panose="02020603050405020304" pitchFamily="18" charset="0"/>
                <a:cs typeface="Times New Roman" panose="02020603050405020304" pitchFamily="18" charset="0"/>
              </a:rPr>
              <a:t> </a:t>
            </a:r>
            <a:r>
              <a:rPr sz="3000" spc="-55" dirty="0">
                <a:solidFill>
                  <a:srgbClr val="5270FF"/>
                </a:solidFill>
                <a:latin typeface="Times New Roman" panose="02020603050405020304" pitchFamily="18" charset="0"/>
                <a:cs typeface="Times New Roman" panose="02020603050405020304" pitchFamily="18" charset="0"/>
              </a:rPr>
              <a:t>AICTE</a:t>
            </a:r>
            <a:r>
              <a:rPr sz="3000" spc="-70" dirty="0">
                <a:solidFill>
                  <a:srgbClr val="5270FF"/>
                </a:solidFill>
                <a:latin typeface="Times New Roman" panose="02020603050405020304" pitchFamily="18" charset="0"/>
                <a:cs typeface="Times New Roman" panose="02020603050405020304" pitchFamily="18" charset="0"/>
              </a:rPr>
              <a:t> New</a:t>
            </a:r>
            <a:r>
              <a:rPr sz="3000" spc="-65" dirty="0">
                <a:solidFill>
                  <a:srgbClr val="5270FF"/>
                </a:solidFill>
                <a:latin typeface="Times New Roman" panose="02020603050405020304" pitchFamily="18" charset="0"/>
                <a:cs typeface="Times New Roman" panose="02020603050405020304" pitchFamily="18" charset="0"/>
              </a:rPr>
              <a:t> </a:t>
            </a:r>
            <a:r>
              <a:rPr sz="3000" spc="5" dirty="0">
                <a:solidFill>
                  <a:srgbClr val="5270FF"/>
                </a:solidFill>
                <a:latin typeface="Times New Roman" panose="02020603050405020304" pitchFamily="18" charset="0"/>
                <a:cs typeface="Times New Roman" panose="02020603050405020304" pitchFamily="18" charset="0"/>
              </a:rPr>
              <a:t>Delhi</a:t>
            </a:r>
            <a:r>
              <a:rPr sz="3000" spc="-70" dirty="0">
                <a:solidFill>
                  <a:srgbClr val="5270FF"/>
                </a:solidFill>
                <a:latin typeface="Times New Roman" panose="02020603050405020304" pitchFamily="18" charset="0"/>
                <a:cs typeface="Times New Roman" panose="02020603050405020304" pitchFamily="18" charset="0"/>
              </a:rPr>
              <a:t> </a:t>
            </a:r>
            <a:r>
              <a:rPr sz="3000" spc="40" dirty="0">
                <a:solidFill>
                  <a:srgbClr val="5270FF"/>
                </a:solidFill>
                <a:latin typeface="Times New Roman" panose="02020603050405020304" pitchFamily="18" charset="0"/>
                <a:cs typeface="Times New Roman" panose="02020603050405020304" pitchFamily="18" charset="0"/>
              </a:rPr>
              <a:t>&amp;</a:t>
            </a:r>
            <a:r>
              <a:rPr sz="3000" spc="-65" dirty="0">
                <a:solidFill>
                  <a:srgbClr val="5270FF"/>
                </a:solidFill>
                <a:latin typeface="Times New Roman" panose="02020603050405020304" pitchFamily="18" charset="0"/>
                <a:cs typeface="Times New Roman" panose="02020603050405020304" pitchFamily="18" charset="0"/>
              </a:rPr>
              <a:t> </a:t>
            </a:r>
            <a:r>
              <a:rPr sz="3000" spc="-85" dirty="0">
                <a:solidFill>
                  <a:srgbClr val="5270FF"/>
                </a:solidFill>
                <a:latin typeface="Times New Roman" panose="02020603050405020304" pitchFamily="18" charset="0"/>
                <a:cs typeface="Times New Roman" panose="02020603050405020304" pitchFamily="18" charset="0"/>
              </a:rPr>
              <a:t>Recognised</a:t>
            </a:r>
            <a:r>
              <a:rPr sz="3000" spc="-70" dirty="0">
                <a:solidFill>
                  <a:srgbClr val="5270FF"/>
                </a:solidFill>
                <a:latin typeface="Times New Roman" panose="02020603050405020304" pitchFamily="18" charset="0"/>
                <a:cs typeface="Times New Roman" panose="02020603050405020304" pitchFamily="18" charset="0"/>
              </a:rPr>
              <a:t> </a:t>
            </a:r>
            <a:r>
              <a:rPr sz="3000" spc="5" dirty="0">
                <a:solidFill>
                  <a:srgbClr val="5270FF"/>
                </a:solidFill>
                <a:latin typeface="Times New Roman" panose="02020603050405020304" pitchFamily="18" charset="0"/>
                <a:cs typeface="Times New Roman" panose="02020603050405020304" pitchFamily="18" charset="0"/>
              </a:rPr>
              <a:t>by</a:t>
            </a:r>
            <a:r>
              <a:rPr sz="3000" spc="-65" dirty="0">
                <a:solidFill>
                  <a:srgbClr val="5270FF"/>
                </a:solidFill>
                <a:latin typeface="Times New Roman" panose="02020603050405020304" pitchFamily="18" charset="0"/>
                <a:cs typeface="Times New Roman" panose="02020603050405020304" pitchFamily="18" charset="0"/>
              </a:rPr>
              <a:t> </a:t>
            </a:r>
            <a:r>
              <a:rPr sz="3000" spc="10" dirty="0">
                <a:solidFill>
                  <a:srgbClr val="5270FF"/>
                </a:solidFill>
                <a:latin typeface="Times New Roman" panose="02020603050405020304" pitchFamily="18" charset="0"/>
                <a:cs typeface="Times New Roman" panose="02020603050405020304" pitchFamily="18" charset="0"/>
              </a:rPr>
              <a:t>Govt</a:t>
            </a:r>
            <a:r>
              <a:rPr sz="3000" spc="-70" dirty="0">
                <a:solidFill>
                  <a:srgbClr val="5270FF"/>
                </a:solidFill>
                <a:latin typeface="Times New Roman" panose="02020603050405020304" pitchFamily="18" charset="0"/>
                <a:cs typeface="Times New Roman" panose="02020603050405020304" pitchFamily="18" charset="0"/>
              </a:rPr>
              <a:t> </a:t>
            </a:r>
            <a:r>
              <a:rPr sz="3000" spc="80" dirty="0">
                <a:solidFill>
                  <a:srgbClr val="5270FF"/>
                </a:solidFill>
                <a:latin typeface="Times New Roman" panose="02020603050405020304" pitchFamily="18" charset="0"/>
                <a:cs typeface="Times New Roman" panose="02020603050405020304" pitchFamily="18" charset="0"/>
              </a:rPr>
              <a:t>of</a:t>
            </a:r>
            <a:r>
              <a:rPr sz="3000" spc="-65" dirty="0">
                <a:solidFill>
                  <a:srgbClr val="5270FF"/>
                </a:solidFill>
                <a:latin typeface="Times New Roman" panose="02020603050405020304" pitchFamily="18" charset="0"/>
                <a:cs typeface="Times New Roman" panose="02020603050405020304" pitchFamily="18" charset="0"/>
              </a:rPr>
              <a:t> </a:t>
            </a:r>
            <a:r>
              <a:rPr sz="3000" spc="15" dirty="0">
                <a:solidFill>
                  <a:srgbClr val="5270FF"/>
                </a:solidFill>
                <a:latin typeface="Times New Roman" panose="02020603050405020304" pitchFamily="18" charset="0"/>
                <a:cs typeface="Times New Roman" panose="02020603050405020304" pitchFamily="18" charset="0"/>
              </a:rPr>
              <a:t>Karnataka</a:t>
            </a:r>
            <a:endParaRPr sz="3000" dirty="0">
              <a:latin typeface="Times New Roman" panose="02020603050405020304" pitchFamily="18" charset="0"/>
              <a:cs typeface="Times New Roman" panose="02020603050405020304" pitchFamily="18" charset="0"/>
            </a:endParaRPr>
          </a:p>
        </p:txBody>
      </p:sp>
      <p:sp>
        <p:nvSpPr>
          <p:cNvPr id="7" name="object 7"/>
          <p:cNvSpPr/>
          <p:nvPr/>
        </p:nvSpPr>
        <p:spPr>
          <a:xfrm>
            <a:off x="2666683" y="3437487"/>
            <a:ext cx="12954635" cy="5080"/>
          </a:xfrm>
          <a:custGeom>
            <a:avLst/>
            <a:gdLst/>
            <a:ahLst/>
            <a:cxnLst/>
            <a:rect l="l" t="t" r="r" b="b"/>
            <a:pathLst>
              <a:path w="12954635" h="5079">
                <a:moveTo>
                  <a:pt x="0" y="0"/>
                </a:moveTo>
                <a:lnTo>
                  <a:pt x="12954080" y="4756"/>
                </a:lnTo>
              </a:path>
            </a:pathLst>
          </a:custGeom>
          <a:ln w="9524">
            <a:solidFill>
              <a:srgbClr val="2B2B2B"/>
            </a:solidFill>
          </a:ln>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sp>
        <p:nvSpPr>
          <p:cNvPr id="8" name="object 8"/>
          <p:cNvSpPr txBox="1"/>
          <p:nvPr/>
        </p:nvSpPr>
        <p:spPr>
          <a:xfrm>
            <a:off x="1981200" y="3739664"/>
            <a:ext cx="15049500" cy="1808187"/>
          </a:xfrm>
          <a:prstGeom prst="rect">
            <a:avLst/>
          </a:prstGeom>
        </p:spPr>
        <p:txBody>
          <a:bodyPr vert="horz" wrap="square" lIns="0" tIns="144780" rIns="0" bIns="0" rtlCol="0">
            <a:spAutoFit/>
          </a:bodyPr>
          <a:lstStyle/>
          <a:p>
            <a:pPr marL="12065" marR="5080" algn="ctr">
              <a:spcBef>
                <a:spcPts val="1140"/>
              </a:spcBef>
            </a:pPr>
            <a:r>
              <a:rPr lang="en-US" sz="5400" b="1" dirty="0">
                <a:solidFill>
                  <a:srgbClr val="FF0000"/>
                </a:solidFill>
                <a:latin typeface="Times New Roman" panose="02020603050405020304" pitchFamily="18" charset="0"/>
                <a:cs typeface="Times New Roman" panose="02020603050405020304" pitchFamily="18" charset="0"/>
              </a:rPr>
              <a:t>“EEG-HDC” – EEG Based Hierarchical Detection &amp; Classification of Seizures. </a:t>
            </a:r>
            <a:endParaRPr lang="en-US" sz="5400" b="1" i="1" dirty="0">
              <a:solidFill>
                <a:srgbClr val="FF0000"/>
              </a:solidFill>
              <a:latin typeface="Times New Roman" panose="02020603050405020304" pitchFamily="18" charset="0"/>
              <a:cs typeface="Times New Roman" panose="02020603050405020304" pitchFamily="18" charset="0"/>
            </a:endParaRPr>
          </a:p>
        </p:txBody>
      </p:sp>
      <p:sp>
        <p:nvSpPr>
          <p:cNvPr id="9" name="object 9"/>
          <p:cNvSpPr/>
          <p:nvPr/>
        </p:nvSpPr>
        <p:spPr>
          <a:xfrm>
            <a:off x="2743200" y="6286500"/>
            <a:ext cx="12954635" cy="0"/>
          </a:xfrm>
          <a:custGeom>
            <a:avLst/>
            <a:gdLst/>
            <a:ahLst/>
            <a:cxnLst/>
            <a:rect l="l" t="t" r="r" b="b"/>
            <a:pathLst>
              <a:path w="12954635">
                <a:moveTo>
                  <a:pt x="0" y="0"/>
                </a:moveTo>
                <a:lnTo>
                  <a:pt x="12954083" y="0"/>
                </a:lnTo>
              </a:path>
            </a:pathLst>
          </a:custGeom>
          <a:ln w="9524">
            <a:solidFill>
              <a:srgbClr val="2B2B2B"/>
            </a:solidFill>
          </a:ln>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sp>
        <p:nvSpPr>
          <p:cNvPr id="10" name="object 10"/>
          <p:cNvSpPr txBox="1"/>
          <p:nvPr/>
        </p:nvSpPr>
        <p:spPr>
          <a:xfrm>
            <a:off x="5257800" y="2781300"/>
            <a:ext cx="7772400" cy="569387"/>
          </a:xfrm>
          <a:prstGeom prst="rect">
            <a:avLst/>
          </a:prstGeom>
        </p:spPr>
        <p:txBody>
          <a:bodyPr vert="horz" wrap="square" lIns="0" tIns="15240" rIns="0" bIns="0" rtlCol="0">
            <a:spAutoFit/>
          </a:bodyPr>
          <a:lstStyle/>
          <a:p>
            <a:pPr marL="12700" algn="ctr">
              <a:lnSpc>
                <a:spcPct val="100000"/>
              </a:lnSpc>
              <a:spcBef>
                <a:spcPts val="120"/>
              </a:spcBef>
            </a:pPr>
            <a:r>
              <a:rPr lang="en-US" sz="3600" b="1" spc="-40">
                <a:solidFill>
                  <a:srgbClr val="2B2B2B"/>
                </a:solidFill>
                <a:latin typeface="Times New Roman" panose="02020603050405020304" pitchFamily="18" charset="0"/>
                <a:cs typeface="Times New Roman" panose="02020603050405020304" pitchFamily="18" charset="0"/>
              </a:rPr>
              <a:t>Major </a:t>
            </a:r>
            <a:r>
              <a:rPr lang="en-US" sz="3600" b="1" spc="-15" dirty="0">
                <a:solidFill>
                  <a:srgbClr val="2B2B2B"/>
                </a:solidFill>
                <a:latin typeface="Times New Roman" panose="02020603050405020304" pitchFamily="18" charset="0"/>
                <a:cs typeface="Times New Roman" panose="02020603050405020304" pitchFamily="18" charset="0"/>
              </a:rPr>
              <a:t>Project</a:t>
            </a:r>
            <a:r>
              <a:rPr sz="3600" b="1" spc="-85" dirty="0">
                <a:solidFill>
                  <a:srgbClr val="2B2B2B"/>
                </a:solidFill>
                <a:latin typeface="Times New Roman" panose="02020603050405020304" pitchFamily="18" charset="0"/>
                <a:cs typeface="Times New Roman" panose="02020603050405020304" pitchFamily="18" charset="0"/>
              </a:rPr>
              <a:t> </a:t>
            </a:r>
            <a:r>
              <a:rPr lang="en-US" sz="3600" b="1" spc="-35" dirty="0">
                <a:solidFill>
                  <a:srgbClr val="2B2B2B"/>
                </a:solidFill>
                <a:latin typeface="Times New Roman" panose="02020603050405020304" pitchFamily="18" charset="0"/>
                <a:cs typeface="Times New Roman" panose="02020603050405020304" pitchFamily="18" charset="0"/>
              </a:rPr>
              <a:t>Presentation </a:t>
            </a:r>
            <a:r>
              <a:rPr sz="3600" b="1" dirty="0">
                <a:solidFill>
                  <a:srgbClr val="2B2B2B"/>
                </a:solidFill>
                <a:latin typeface="Times New Roman" panose="02020603050405020304" pitchFamily="18" charset="0"/>
                <a:cs typeface="Times New Roman" panose="02020603050405020304" pitchFamily="18" charset="0"/>
              </a:rPr>
              <a:t>on</a:t>
            </a:r>
            <a:endParaRPr sz="3600" b="1" dirty="0">
              <a:latin typeface="Times New Roman" panose="02020603050405020304" pitchFamily="18" charset="0"/>
              <a:cs typeface="Times New Roman" panose="02020603050405020304" pitchFamily="18" charset="0"/>
            </a:endParaRPr>
          </a:p>
        </p:txBody>
      </p:sp>
      <p:sp>
        <p:nvSpPr>
          <p:cNvPr id="12" name="object 12"/>
          <p:cNvSpPr txBox="1"/>
          <p:nvPr/>
        </p:nvSpPr>
        <p:spPr>
          <a:xfrm>
            <a:off x="3418580" y="9240944"/>
            <a:ext cx="11450839" cy="507447"/>
          </a:xfrm>
          <a:prstGeom prst="rect">
            <a:avLst/>
          </a:prstGeom>
        </p:spPr>
        <p:txBody>
          <a:bodyPr vert="horz" wrap="square" lIns="0" tIns="12065" rIns="0" bIns="0" rtlCol="0">
            <a:spAutoFit/>
          </a:bodyPr>
          <a:lstStyle/>
          <a:p>
            <a:pPr marL="4222115" marR="5080" indent="-4210050">
              <a:lnSpc>
                <a:spcPct val="117000"/>
              </a:lnSpc>
              <a:spcBef>
                <a:spcPts val="95"/>
              </a:spcBef>
            </a:pPr>
            <a:r>
              <a:rPr sz="3000" b="1" spc="-120" dirty="0">
                <a:solidFill>
                  <a:srgbClr val="FF0000"/>
                </a:solidFill>
                <a:latin typeface="Times New Roman" panose="02020603050405020304" pitchFamily="18" charset="0"/>
                <a:cs typeface="Times New Roman" panose="02020603050405020304" pitchFamily="18" charset="0"/>
              </a:rPr>
              <a:t>DEPARTMENT</a:t>
            </a:r>
            <a:r>
              <a:rPr sz="3000" b="1" spc="-75" dirty="0">
                <a:solidFill>
                  <a:srgbClr val="FF0000"/>
                </a:solidFill>
                <a:latin typeface="Times New Roman" panose="02020603050405020304" pitchFamily="18" charset="0"/>
                <a:cs typeface="Times New Roman" panose="02020603050405020304" pitchFamily="18" charset="0"/>
              </a:rPr>
              <a:t> </a:t>
            </a:r>
            <a:r>
              <a:rPr sz="3000" b="1" spc="-70" dirty="0">
                <a:solidFill>
                  <a:srgbClr val="FF0000"/>
                </a:solidFill>
                <a:latin typeface="Times New Roman" panose="02020603050405020304" pitchFamily="18" charset="0"/>
                <a:cs typeface="Times New Roman" panose="02020603050405020304" pitchFamily="18" charset="0"/>
              </a:rPr>
              <a:t>OF </a:t>
            </a:r>
            <a:r>
              <a:rPr lang="en-IN" sz="3000" b="1" spc="-135" dirty="0">
                <a:solidFill>
                  <a:srgbClr val="FF0000"/>
                </a:solidFill>
                <a:latin typeface="Times New Roman" panose="02020603050405020304" pitchFamily="18" charset="0"/>
                <a:cs typeface="Times New Roman" panose="02020603050405020304" pitchFamily="18" charset="0"/>
              </a:rPr>
              <a:t> COMPUTER SCIENCE &amp; ENGINEERING </a:t>
            </a:r>
            <a:r>
              <a:rPr sz="3000" b="1" spc="80" dirty="0">
                <a:solidFill>
                  <a:srgbClr val="FF0000"/>
                </a:solidFill>
                <a:latin typeface="Times New Roman" panose="02020603050405020304" pitchFamily="18" charset="0"/>
                <a:cs typeface="Times New Roman" panose="02020603050405020304" pitchFamily="18" charset="0"/>
              </a:rPr>
              <a:t>202</a:t>
            </a:r>
            <a:r>
              <a:rPr lang="en-GB" sz="3000" b="1" spc="80" dirty="0">
                <a:solidFill>
                  <a:srgbClr val="FF0000"/>
                </a:solidFill>
                <a:latin typeface="Times New Roman" panose="02020603050405020304" pitchFamily="18" charset="0"/>
                <a:cs typeface="Times New Roman" panose="02020603050405020304" pitchFamily="18" charset="0"/>
              </a:rPr>
              <a:t>5</a:t>
            </a:r>
            <a:r>
              <a:rPr sz="3000" b="1" spc="80" dirty="0">
                <a:solidFill>
                  <a:srgbClr val="FF0000"/>
                </a:solidFill>
                <a:latin typeface="Times New Roman" panose="02020603050405020304" pitchFamily="18" charset="0"/>
                <a:cs typeface="Times New Roman" panose="02020603050405020304" pitchFamily="18" charset="0"/>
              </a:rPr>
              <a:t>-2</a:t>
            </a:r>
            <a:r>
              <a:rPr lang="en-GB" sz="3000" b="1" spc="80" dirty="0">
                <a:solidFill>
                  <a:srgbClr val="FF0000"/>
                </a:solidFill>
                <a:latin typeface="Times New Roman" panose="02020603050405020304" pitchFamily="18" charset="0"/>
                <a:cs typeface="Times New Roman" panose="02020603050405020304" pitchFamily="18" charset="0"/>
              </a:rPr>
              <a:t>6</a:t>
            </a:r>
            <a:endParaRPr sz="3000" b="1" dirty="0">
              <a:solidFill>
                <a:srgbClr val="FF0000"/>
              </a:solidFill>
              <a:latin typeface="Times New Roman" panose="02020603050405020304" pitchFamily="18" charset="0"/>
              <a:cs typeface="Times New Roman" panose="02020603050405020304" pitchFamily="18" charset="0"/>
            </a:endParaRPr>
          </a:p>
        </p:txBody>
      </p:sp>
      <p:sp>
        <p:nvSpPr>
          <p:cNvPr id="14" name="object 14"/>
          <p:cNvSpPr txBox="1"/>
          <p:nvPr/>
        </p:nvSpPr>
        <p:spPr>
          <a:xfrm>
            <a:off x="11341289" y="6602778"/>
            <a:ext cx="5719228" cy="2302553"/>
          </a:xfrm>
          <a:prstGeom prst="rect">
            <a:avLst/>
          </a:prstGeom>
        </p:spPr>
        <p:txBody>
          <a:bodyPr vert="horz" wrap="square" lIns="0" tIns="65405" rIns="0" bIns="0" rtlCol="0">
            <a:spAutoFit/>
          </a:bodyPr>
          <a:lstStyle/>
          <a:p>
            <a:pPr algn="ctr">
              <a:lnSpc>
                <a:spcPct val="100000"/>
              </a:lnSpc>
              <a:spcBef>
                <a:spcPts val="515"/>
              </a:spcBef>
            </a:pPr>
            <a:r>
              <a:rPr sz="2500" spc="-50" dirty="0">
                <a:latin typeface="Times New Roman" panose="02020603050405020304" pitchFamily="18" charset="0"/>
                <a:cs typeface="Times New Roman" panose="02020603050405020304" pitchFamily="18" charset="0"/>
              </a:rPr>
              <a:t>Presented</a:t>
            </a:r>
            <a:r>
              <a:rPr sz="2500" spc="-105" dirty="0">
                <a:latin typeface="Times New Roman" panose="02020603050405020304" pitchFamily="18" charset="0"/>
                <a:cs typeface="Times New Roman" panose="02020603050405020304" pitchFamily="18" charset="0"/>
              </a:rPr>
              <a:t> </a:t>
            </a:r>
            <a:r>
              <a:rPr sz="2500" spc="-10" dirty="0">
                <a:latin typeface="Times New Roman" panose="02020603050405020304" pitchFamily="18" charset="0"/>
                <a:cs typeface="Times New Roman" panose="02020603050405020304" pitchFamily="18" charset="0"/>
              </a:rPr>
              <a:t>by</a:t>
            </a:r>
            <a:endParaRPr lang="en-IN" sz="2500" spc="-10" dirty="0">
              <a:latin typeface="Times New Roman" panose="02020603050405020304" pitchFamily="18" charset="0"/>
              <a:cs typeface="Times New Roman" panose="02020603050405020304" pitchFamily="18" charset="0"/>
            </a:endParaRPr>
          </a:p>
          <a:p>
            <a:pPr algn="ctr">
              <a:spcBef>
                <a:spcPts val="515"/>
              </a:spcBef>
            </a:pPr>
            <a:r>
              <a:rPr lang="en-IN" sz="2800" dirty="0">
                <a:latin typeface="Times New Roman" panose="02020603050405020304" pitchFamily="18" charset="0"/>
                <a:cs typeface="Times New Roman" panose="02020603050405020304" pitchFamily="18" charset="0"/>
              </a:rPr>
              <a:t>Aashitha Prabhu B (4VP23CS001) Abhayraj Bhat N (4VP23CS002) Adithya (4VP23CS004) </a:t>
            </a:r>
          </a:p>
          <a:p>
            <a:pPr algn="ctr">
              <a:spcBef>
                <a:spcPts val="515"/>
              </a:spcBef>
            </a:pPr>
            <a:r>
              <a:rPr lang="en-IN" sz="2800" dirty="0">
                <a:latin typeface="Times New Roman" panose="02020603050405020304" pitchFamily="18" charset="0"/>
                <a:cs typeface="Times New Roman" panose="02020603050405020304" pitchFamily="18" charset="0"/>
              </a:rPr>
              <a:t>Ashwini (4VP23CS017)</a:t>
            </a:r>
            <a:endParaRPr lang="en-US" sz="2800" b="1" spc="-170" dirty="0">
              <a:solidFill>
                <a:srgbClr val="2B2B2B"/>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2362200" y="6694113"/>
            <a:ext cx="5486400" cy="1461939"/>
          </a:xfrm>
          <a:prstGeom prst="rect">
            <a:avLst/>
          </a:prstGeom>
          <a:noFill/>
        </p:spPr>
        <p:txBody>
          <a:bodyPr wrap="square" rtlCol="0">
            <a:spAutoFit/>
          </a:bodyPr>
          <a:lstStyle/>
          <a:p>
            <a:pPr algn="ctr"/>
            <a:r>
              <a:rPr lang="en-IN" sz="2500" dirty="0">
                <a:latin typeface="Times New Roman" panose="02020603050405020304" pitchFamily="18" charset="0"/>
                <a:cs typeface="Times New Roman" pitchFamily="18" charset="0"/>
              </a:rPr>
              <a:t>Guided by</a:t>
            </a:r>
          </a:p>
          <a:p>
            <a:pPr algn="ctr"/>
            <a:r>
              <a:rPr lang="en-IN" sz="3600" b="1" dirty="0">
                <a:solidFill>
                  <a:schemeClr val="accent1">
                    <a:lumMod val="50000"/>
                  </a:schemeClr>
                </a:solidFill>
                <a:latin typeface="Times New Roman" panose="02020603050405020304" pitchFamily="18" charset="0"/>
                <a:cs typeface="Times New Roman" panose="02020603050405020304" pitchFamily="18" charset="0"/>
              </a:rPr>
              <a:t>Prof. Pradeep Kumar K G</a:t>
            </a:r>
          </a:p>
          <a:p>
            <a:pPr algn="ctr"/>
            <a:r>
              <a:rPr lang="en-IN" sz="2800" dirty="0" err="1">
                <a:solidFill>
                  <a:srgbClr val="002060"/>
                </a:solidFill>
                <a:latin typeface="Times New Roman" panose="02020603050405020304" pitchFamily="18" charset="0"/>
                <a:cs typeface="Times New Roman" panose="02020603050405020304" pitchFamily="18" charset="0"/>
              </a:rPr>
              <a:t>HoD</a:t>
            </a:r>
            <a:r>
              <a:rPr lang="en-US" sz="2800" dirty="0">
                <a:solidFill>
                  <a:srgbClr val="002060"/>
                </a:solidFill>
                <a:latin typeface="Times New Roman" panose="02020603050405020304" pitchFamily="18" charset="0"/>
                <a:cs typeface="Times New Roman" panose="02020603050405020304" pitchFamily="18" charset="0"/>
              </a:rPr>
              <a:t>, CSE</a:t>
            </a:r>
            <a:endParaRPr lang="en-IN" sz="2800" dirty="0">
              <a:latin typeface="Times New Roman" panose="02020603050405020304" pitchFamily="18" charset="0"/>
              <a:cs typeface="Times New Roman" pitchFamily="18" charset="0"/>
            </a:endParaRPr>
          </a:p>
        </p:txBody>
      </p:sp>
      <p:sp>
        <p:nvSpPr>
          <p:cNvPr id="2" name="Footer Placeholder 1">
            <a:extLst>
              <a:ext uri="{FF2B5EF4-FFF2-40B4-BE49-F238E27FC236}">
                <a16:creationId xmlns:a16="http://schemas.microsoft.com/office/drawing/2014/main" id="{A7146E2D-4D84-5024-865F-808CFE68D9D9}"/>
              </a:ext>
            </a:extLst>
          </p:cNvPr>
          <p:cNvSpPr>
            <a:spLocks noGrp="1"/>
          </p:cNvSpPr>
          <p:nvPr>
            <p:ph type="ftr" sz="quarter" idx="11"/>
          </p:nvPr>
        </p:nvSpPr>
        <p:spPr>
          <a:xfrm>
            <a:off x="6057900" y="9715500"/>
            <a:ext cx="6172200" cy="649323"/>
          </a:xfrm>
        </p:spPr>
        <p:txBody>
          <a:bodyPr/>
          <a:lstStyle/>
          <a:p>
            <a:r>
              <a:rPr lang="en-IN" dirty="0"/>
              <a:t>Dept of CSE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4648200" y="-17505"/>
            <a:ext cx="7899400" cy="1243930"/>
          </a:xfrm>
          <a:prstGeom prst="rect">
            <a:avLst/>
          </a:prstGeom>
        </p:spPr>
        <p:txBody>
          <a:bodyPr vert="horz" wrap="square" lIns="0" tIns="12700" rIns="0" bIns="0" rtlCol="0">
            <a:spAutoFit/>
          </a:bodyPr>
          <a:lstStyle/>
          <a:p>
            <a:pPr marL="12700" algn="ctr">
              <a:lnSpc>
                <a:spcPct val="100000"/>
              </a:lnSpc>
              <a:spcBef>
                <a:spcPts val="100"/>
              </a:spcBef>
            </a:pPr>
            <a:r>
              <a:rPr lang="en-US" sz="8000" b="1" dirty="0">
                <a:solidFill>
                  <a:schemeClr val="bg2">
                    <a:lumMod val="10000"/>
                  </a:schemeClr>
                </a:solidFill>
                <a:latin typeface="Times New Roman" panose="02020603050405020304" pitchFamily="18" charset="0"/>
                <a:cs typeface="Times New Roman" panose="02020603050405020304" pitchFamily="18" charset="0"/>
              </a:rPr>
              <a:t>Contents</a:t>
            </a:r>
            <a:endParaRPr sz="8000"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31CB55A0-882F-4DF6-AC3D-AF8B081A5704}"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8" name="Footer Placeholder 7"/>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a:t>
            </a:r>
          </a:p>
        </p:txBody>
      </p:sp>
      <p:sp>
        <p:nvSpPr>
          <p:cNvPr id="10" name="Slide Number Placeholder 9"/>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2</a:t>
            </a:fld>
            <a:endParaRPr lang="en-IN" dirty="0">
              <a:latin typeface="Times New Roman" panose="02020603050405020304" pitchFamily="18" charset="0"/>
              <a:cs typeface="Times New Roman" panose="02020603050405020304" pitchFamily="18" charset="0"/>
            </a:endParaRPr>
          </a:p>
        </p:txBody>
      </p:sp>
      <p:sp>
        <p:nvSpPr>
          <p:cNvPr id="9" name="object 9"/>
          <p:cNvSpPr txBox="1"/>
          <p:nvPr/>
        </p:nvSpPr>
        <p:spPr>
          <a:xfrm>
            <a:off x="1143000" y="1500000"/>
            <a:ext cx="15429230" cy="7702430"/>
          </a:xfrm>
          <a:prstGeom prst="rect">
            <a:avLst/>
          </a:prstGeom>
        </p:spPr>
        <p:txBody>
          <a:bodyPr vert="horz" wrap="square" lIns="0" tIns="12700" rIns="0" bIns="0" rtlCol="0">
            <a:spAutoFit/>
          </a:bodyPr>
          <a:lstStyle/>
          <a:p>
            <a:pPr marL="685800" indent="-685800">
              <a:lnSpc>
                <a:spcPct val="150000"/>
              </a:lnSpc>
              <a:buFont typeface="+mj-lt"/>
              <a:buAutoNum type="arabicPeriod"/>
              <a:tabLst>
                <a:tab pos="14800000" algn="r"/>
              </a:tabLst>
            </a:pPr>
            <a:r>
              <a:rPr lang="en-US" sz="2400" b="1" dirty="0">
                <a:latin typeface="Times New Roman" panose="02020603050405020304" pitchFamily="18" charset="0"/>
                <a:cs typeface="Times New Roman" panose="02020603050405020304" pitchFamily="18" charset="0"/>
              </a:rPr>
              <a:t>Introduction	3</a:t>
            </a:r>
          </a:p>
          <a:p>
            <a:pPr marL="685800" indent="-685800">
              <a:lnSpc>
                <a:spcPct val="150000"/>
              </a:lnSpc>
              <a:buFont typeface="+mj-lt"/>
              <a:buAutoNum type="arabicPeriod"/>
              <a:tabLst>
                <a:tab pos="14800000" algn="r"/>
              </a:tabLst>
            </a:pPr>
            <a:r>
              <a:rPr lang="en-US" sz="2400" b="1" dirty="0">
                <a:latin typeface="Times New Roman" panose="02020603050405020304" pitchFamily="18" charset="0"/>
                <a:cs typeface="Times New Roman" panose="02020603050405020304" pitchFamily="18" charset="0"/>
              </a:rPr>
              <a:t>Problem Statement	4</a:t>
            </a:r>
          </a:p>
          <a:p>
            <a:pPr marL="685800" indent="-685800">
              <a:lnSpc>
                <a:spcPct val="150000"/>
              </a:lnSpc>
              <a:buFont typeface="+mj-lt"/>
              <a:buAutoNum type="arabicPeriod"/>
              <a:tabLst>
                <a:tab pos="14800000" algn="r"/>
              </a:tabLst>
            </a:pPr>
            <a:r>
              <a:rPr lang="en-US" sz="2400" b="1" dirty="0">
                <a:latin typeface="Times New Roman" panose="02020603050405020304" pitchFamily="18" charset="0"/>
                <a:cs typeface="Times New Roman" panose="02020603050405020304" pitchFamily="18" charset="0"/>
              </a:rPr>
              <a:t>Objectives	5</a:t>
            </a:r>
          </a:p>
          <a:p>
            <a:pPr marL="685800" indent="-685800">
              <a:lnSpc>
                <a:spcPct val="150000"/>
              </a:lnSpc>
              <a:buFont typeface="+mj-lt"/>
              <a:buAutoNum type="arabicPeriod"/>
              <a:tabLst>
                <a:tab pos="14800000" algn="r"/>
              </a:tabLst>
            </a:pPr>
            <a:r>
              <a:rPr lang="en-US" sz="2400" b="1" dirty="0">
                <a:latin typeface="Times New Roman" panose="02020603050405020304" pitchFamily="18" charset="0"/>
                <a:cs typeface="Times New Roman" panose="02020603050405020304" pitchFamily="18" charset="0"/>
              </a:rPr>
              <a:t>Literature Survey	6–14</a:t>
            </a:r>
          </a:p>
          <a:p>
            <a:pPr marL="685800" indent="-685800">
              <a:lnSpc>
                <a:spcPct val="150000"/>
              </a:lnSpc>
              <a:buFont typeface="+mj-lt"/>
              <a:buAutoNum type="arabicPeriod"/>
              <a:tabLst>
                <a:tab pos="14800000" algn="r"/>
              </a:tabLst>
            </a:pPr>
            <a:r>
              <a:rPr lang="en-US" sz="2400" b="1" dirty="0">
                <a:latin typeface="Times New Roman" panose="02020603050405020304" pitchFamily="18" charset="0"/>
                <a:cs typeface="Times New Roman" panose="02020603050405020304" pitchFamily="18" charset="0"/>
              </a:rPr>
              <a:t>Architecture Diagram	15</a:t>
            </a:r>
          </a:p>
          <a:p>
            <a:pPr marL="685800" indent="-685800">
              <a:lnSpc>
                <a:spcPct val="150000"/>
              </a:lnSpc>
              <a:buFont typeface="+mj-lt"/>
              <a:buAutoNum type="arabicPeriod"/>
              <a:tabLst>
                <a:tab pos="14800000" algn="r"/>
              </a:tabLst>
            </a:pPr>
            <a:r>
              <a:rPr lang="en-US" sz="2400" b="1" dirty="0">
                <a:latin typeface="Times New Roman" panose="02020603050405020304" pitchFamily="18" charset="0"/>
                <a:cs typeface="Times New Roman" panose="02020603050405020304" pitchFamily="18" charset="0"/>
              </a:rPr>
              <a:t>Expected Outcomes	16</a:t>
            </a:r>
          </a:p>
          <a:p>
            <a:pPr marL="685800" indent="-685800">
              <a:lnSpc>
                <a:spcPct val="150000"/>
              </a:lnSpc>
              <a:buFont typeface="+mj-lt"/>
              <a:buAutoNum type="arabicPeriod"/>
              <a:tabLst>
                <a:tab pos="14800000" algn="r"/>
              </a:tabLst>
            </a:pPr>
            <a:r>
              <a:rPr lang="en-US" sz="2400" b="1" dirty="0">
                <a:latin typeface="Times New Roman" panose="02020603050405020304" pitchFamily="18" charset="0"/>
                <a:cs typeface="Times New Roman" panose="02020603050405020304" pitchFamily="18" charset="0"/>
              </a:rPr>
              <a:t>System Architecture	17</a:t>
            </a:r>
          </a:p>
          <a:p>
            <a:pPr marL="685800" indent="-685800">
              <a:lnSpc>
                <a:spcPct val="150000"/>
              </a:lnSpc>
              <a:buFont typeface="+mj-lt"/>
              <a:buAutoNum type="arabicPeriod"/>
              <a:tabLst>
                <a:tab pos="14800000" algn="r"/>
              </a:tabLst>
            </a:pPr>
            <a:r>
              <a:rPr lang="en-US" sz="2400" b="1" dirty="0">
                <a:latin typeface="Times New Roman" panose="02020603050405020304" pitchFamily="18" charset="0"/>
                <a:cs typeface="Times New Roman" panose="02020603050405020304" pitchFamily="18" charset="0"/>
              </a:rPr>
              <a:t>Datasets &amp; Preprocessing	18–19</a:t>
            </a:r>
          </a:p>
          <a:p>
            <a:pPr marL="685800" indent="-685800">
              <a:lnSpc>
                <a:spcPct val="150000"/>
              </a:lnSpc>
              <a:buFont typeface="+mj-lt"/>
              <a:buAutoNum type="arabicPeriod"/>
              <a:tabLst>
                <a:tab pos="14800000" algn="r"/>
              </a:tabLst>
            </a:pPr>
            <a:r>
              <a:rPr lang="en-US" sz="2400" b="1" dirty="0">
                <a:latin typeface="Times New Roman" panose="02020603050405020304" pitchFamily="18" charset="0"/>
                <a:cs typeface="Times New Roman" panose="02020603050405020304" pitchFamily="18" charset="0"/>
              </a:rPr>
              <a:t>Model Design (CRNN, Training, Dual-Embedding, SMOTE)	20–23</a:t>
            </a:r>
          </a:p>
          <a:p>
            <a:pPr marL="685800" indent="-685800">
              <a:lnSpc>
                <a:spcPct val="150000"/>
              </a:lnSpc>
              <a:buFont typeface="+mj-lt"/>
              <a:buAutoNum type="arabicPeriod"/>
              <a:tabLst>
                <a:tab pos="14800000" algn="r"/>
              </a:tabLst>
            </a:pPr>
            <a:r>
              <a:rPr lang="en-US" sz="2400" b="1" dirty="0">
                <a:latin typeface="Times New Roman" panose="02020603050405020304" pitchFamily="18" charset="0"/>
                <a:cs typeface="Times New Roman" panose="02020603050405020304" pitchFamily="18" charset="0"/>
              </a:rPr>
              <a:t>Models Compared &amp; Implementation	24–25</a:t>
            </a:r>
          </a:p>
          <a:p>
            <a:pPr marL="685800" indent="-685800">
              <a:lnSpc>
                <a:spcPct val="150000"/>
              </a:lnSpc>
              <a:buFont typeface="+mj-lt"/>
              <a:buAutoNum type="arabicPeriod"/>
              <a:tabLst>
                <a:tab pos="14800000" algn="r"/>
              </a:tabLst>
            </a:pPr>
            <a:r>
              <a:rPr lang="en-US" sz="2400" b="1" dirty="0">
                <a:latin typeface="Times New Roman" panose="02020603050405020304" pitchFamily="18" charset="0"/>
                <a:cs typeface="Times New Roman" panose="02020603050405020304" pitchFamily="18" charset="0"/>
              </a:rPr>
              <a:t>Results &amp; Comparisons	26–36</a:t>
            </a:r>
          </a:p>
          <a:p>
            <a:pPr marL="685800" indent="-685800">
              <a:lnSpc>
                <a:spcPct val="150000"/>
              </a:lnSpc>
              <a:buFont typeface="+mj-lt"/>
              <a:buAutoNum type="arabicPeriod"/>
              <a:tabLst>
                <a:tab pos="14800000" algn="r"/>
              </a:tabLst>
            </a:pPr>
            <a:r>
              <a:rPr lang="en-US" sz="2400" b="1" dirty="0">
                <a:latin typeface="Times New Roman" panose="02020603050405020304" pitchFamily="18" charset="0"/>
                <a:cs typeface="Times New Roman" panose="02020603050405020304" pitchFamily="18" charset="0"/>
              </a:rPr>
              <a:t>Limitations &amp; Future Enhancements	37</a:t>
            </a:r>
          </a:p>
          <a:p>
            <a:pPr marL="685800" indent="-685800">
              <a:lnSpc>
                <a:spcPct val="150000"/>
              </a:lnSpc>
              <a:buFont typeface="+mj-lt"/>
              <a:buAutoNum type="arabicPeriod"/>
              <a:tabLst>
                <a:tab pos="14800000" algn="r"/>
              </a:tabLst>
            </a:pPr>
            <a:r>
              <a:rPr lang="en-US" sz="2400" b="1" dirty="0">
                <a:latin typeface="Times New Roman" panose="02020603050405020304" pitchFamily="18" charset="0"/>
                <a:cs typeface="Times New Roman" panose="02020603050405020304" pitchFamily="18" charset="0"/>
              </a:rPr>
              <a:t>Conclusion	38</a:t>
            </a:r>
          </a:p>
          <a:p>
            <a:pPr marL="685800" indent="-685800">
              <a:lnSpc>
                <a:spcPct val="150000"/>
              </a:lnSpc>
              <a:buFont typeface="+mj-lt"/>
              <a:buAutoNum type="arabicPeriod"/>
              <a:tabLst>
                <a:tab pos="14800000" algn="r"/>
              </a:tabLst>
            </a:pPr>
            <a:r>
              <a:rPr lang="en-US" sz="2400" b="1" dirty="0">
                <a:latin typeface="Times New Roman" panose="02020603050405020304" pitchFamily="18" charset="0"/>
                <a:cs typeface="Times New Roman" panose="02020603050405020304" pitchFamily="18" charset="0"/>
              </a:rPr>
              <a:t>References	39–48</a:t>
            </a:r>
          </a:p>
        </p:txBody>
      </p:sp>
      <p:sp>
        <p:nvSpPr>
          <p:cNvPr id="4" name="Text Box 3"/>
          <p:cNvSpPr txBox="1"/>
          <p:nvPr/>
        </p:nvSpPr>
        <p:spPr>
          <a:xfrm>
            <a:off x="1591310" y="4784725"/>
            <a:ext cx="184731" cy="369332"/>
          </a:xfrm>
          <a:prstGeom prst="rect">
            <a:avLst/>
          </a:prstGeom>
          <a:noFill/>
        </p:spPr>
        <p:txBody>
          <a:bodyPr wrap="none" rtlCol="0">
            <a:spAutoFit/>
          </a:bodyPr>
          <a:lstStyle/>
          <a:p>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ubtitle 12"/>
          <p:cNvSpPr>
            <a:spLocks noGrp="1"/>
          </p:cNvSpPr>
          <p:nvPr>
            <p:ph type="subTitle" idx="1"/>
          </p:nvPr>
        </p:nvSpPr>
        <p:spPr>
          <a:xfrm>
            <a:off x="2057400" y="803406"/>
            <a:ext cx="13373099" cy="1295400"/>
          </a:xfrm>
        </p:spPr>
        <p:txBody>
          <a:bodyPr>
            <a:normAutofit/>
          </a:bodyPr>
          <a:lstStyle/>
          <a:p>
            <a:r>
              <a:rPr lang="en-IN" sz="8000" b="1" dirty="0">
                <a:latin typeface="Times New Roman" panose="02020603050405020304" pitchFamily="18" charset="0"/>
                <a:cs typeface="Times New Roman" panose="02020603050405020304" pitchFamily="18" charset="0"/>
              </a:rPr>
              <a:t>Introduction</a:t>
            </a:r>
            <a:endParaRPr lang="en-IN" sz="8000" i="1"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329A0061-5C20-4BFA-8D13-4B871A15E322}"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3</a:t>
            </a:fld>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FA1E02C-1914-30FE-57D8-DE0A13822058}"/>
              </a:ext>
            </a:extLst>
          </p:cNvPr>
          <p:cNvSpPr txBox="1"/>
          <p:nvPr/>
        </p:nvSpPr>
        <p:spPr>
          <a:xfrm>
            <a:off x="2057400" y="2705100"/>
            <a:ext cx="14249399" cy="4978735"/>
          </a:xfrm>
          <a:prstGeom prst="rect">
            <a:avLst/>
          </a:prstGeom>
          <a:noFill/>
        </p:spPr>
        <p:txBody>
          <a:bodyPr wrap="square" rtlCol="0">
            <a:spAutoFit/>
          </a:bodyPr>
          <a:lstStyle/>
          <a:p>
            <a:pPr algn="just">
              <a:lnSpc>
                <a:spcPct val="150000"/>
              </a:lnSpc>
            </a:pPr>
            <a:r>
              <a:rPr lang="en-US" sz="3600" dirty="0">
                <a:latin typeface="Times New Roman" panose="02020603050405020304" pitchFamily="18" charset="0"/>
                <a:cs typeface="Times New Roman" panose="02020603050405020304" pitchFamily="18" charset="0"/>
              </a:rPr>
              <a:t>A seizure is a sudden abnormal electrical activity in the brain, analyzed using EEG signals that record multi-channel brain activity. This project proposes a hierarchical deep learning framework that first detects seizure segments and then classifies them into Focal, Focal to Bilateral Tonic-</a:t>
            </a:r>
            <a:r>
              <a:rPr lang="en-US" sz="3600" dirty="0" err="1">
                <a:latin typeface="Times New Roman" panose="02020603050405020304" pitchFamily="18" charset="0"/>
                <a:cs typeface="Times New Roman" panose="02020603050405020304" pitchFamily="18" charset="0"/>
              </a:rPr>
              <a:t>Clonic</a:t>
            </a:r>
            <a:r>
              <a:rPr lang="en-US" sz="3600" dirty="0">
                <a:latin typeface="Times New Roman" panose="02020603050405020304" pitchFamily="18" charset="0"/>
                <a:cs typeface="Times New Roman" panose="02020603050405020304" pitchFamily="18" charset="0"/>
              </a:rPr>
              <a:t>, and Generalized Tonic-</a:t>
            </a:r>
            <a:r>
              <a:rPr lang="en-US" sz="3600" dirty="0" err="1">
                <a:latin typeface="Times New Roman" panose="02020603050405020304" pitchFamily="18" charset="0"/>
                <a:cs typeface="Times New Roman" panose="02020603050405020304" pitchFamily="18" charset="0"/>
              </a:rPr>
              <a:t>Clonic</a:t>
            </a:r>
            <a:r>
              <a:rPr lang="en-US" sz="3600" dirty="0">
                <a:latin typeface="Times New Roman" panose="02020603050405020304" pitchFamily="18" charset="0"/>
                <a:cs typeface="Times New Roman" panose="02020603050405020304" pitchFamily="18" charset="0"/>
              </a:rPr>
              <a:t> types using transfer learning to improve classification.</a:t>
            </a: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995947" y="34946"/>
            <a:ext cx="16129000" cy="1243930"/>
          </a:xfrm>
          <a:prstGeom prst="rect">
            <a:avLst/>
          </a:prstGeom>
        </p:spPr>
        <p:txBody>
          <a:bodyPr vert="horz" wrap="square" lIns="0" tIns="12700" rIns="0" bIns="0" rtlCol="0">
            <a:spAutoFit/>
          </a:bodyPr>
          <a:lstStyle/>
          <a:p>
            <a:pPr marL="12700" algn="ctr">
              <a:lnSpc>
                <a:spcPct val="100000"/>
              </a:lnSpc>
              <a:spcBef>
                <a:spcPts val="100"/>
              </a:spcBef>
            </a:pPr>
            <a:r>
              <a:rPr lang="en-US" sz="8000" b="1" dirty="0">
                <a:solidFill>
                  <a:schemeClr val="bg2">
                    <a:lumMod val="10000"/>
                  </a:schemeClr>
                </a:solidFill>
                <a:latin typeface="Times New Roman" panose="02020603050405020304" pitchFamily="18" charset="0"/>
                <a:cs typeface="Times New Roman" panose="02020603050405020304" pitchFamily="18" charset="0"/>
              </a:rPr>
              <a:t>Problem Statement </a:t>
            </a:r>
          </a:p>
        </p:txBody>
      </p:sp>
      <p:sp>
        <p:nvSpPr>
          <p:cNvPr id="3" name="Date Placeholder 2"/>
          <p:cNvSpPr>
            <a:spLocks noGrp="1"/>
          </p:cNvSpPr>
          <p:nvPr>
            <p:ph type="dt" sz="half" idx="10"/>
          </p:nvPr>
        </p:nvSpPr>
        <p:spPr/>
        <p:txBody>
          <a:bodyPr/>
          <a:lstStyle/>
          <a:p>
            <a:fld id="{ABCFBC7E-AFED-4CBD-97BE-C503EB45ECBF}"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8" name="Footer Placeholder 7"/>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9" name="Slide Number Placeholder 8"/>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4</a:t>
            </a:fld>
            <a:endParaRPr lang="en-IN"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6A726F0-C610-946E-56A2-031F3392F936}"/>
              </a:ext>
            </a:extLst>
          </p:cNvPr>
          <p:cNvSpPr txBox="1"/>
          <p:nvPr/>
        </p:nvSpPr>
        <p:spPr>
          <a:xfrm>
            <a:off x="1257300" y="2324100"/>
            <a:ext cx="15773400" cy="1654748"/>
          </a:xfrm>
          <a:prstGeom prst="rect">
            <a:avLst/>
          </a:prstGeom>
          <a:noFill/>
        </p:spPr>
        <p:txBody>
          <a:bodyPr wrap="square" rtlCol="0">
            <a:spAutoFit/>
          </a:bodyPr>
          <a:lstStyle/>
          <a:p>
            <a:pPr>
              <a:lnSpc>
                <a:spcPct val="150000"/>
              </a:lnSpc>
            </a:pPr>
            <a:r>
              <a:rPr lang="en-US" sz="3600" dirty="0">
                <a:latin typeface="Times New Roman" panose="02020603050405020304" pitchFamily="18" charset="0"/>
                <a:cs typeface="Times New Roman" panose="02020603050405020304" pitchFamily="18" charset="0"/>
              </a:rPr>
              <a:t>To detect and accurately classify seizure events into their respective subtypes from EEG signals for clinical applications using advanced deep learning methodologies.</a:t>
            </a: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object 5"/>
          <p:cNvSpPr txBox="1"/>
          <p:nvPr/>
        </p:nvSpPr>
        <p:spPr>
          <a:xfrm>
            <a:off x="508000" y="345984"/>
            <a:ext cx="17272000" cy="1243930"/>
          </a:xfrm>
          <a:prstGeom prst="rect">
            <a:avLst/>
          </a:prstGeom>
        </p:spPr>
        <p:txBody>
          <a:bodyPr vert="horz" wrap="square" lIns="0" tIns="12700" rIns="0" bIns="0" rtlCol="0" anchor="t">
            <a:spAutoFit/>
          </a:bodyPr>
          <a:lstStyle>
            <a:lvl1pPr algn="l" defTabSz="6858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lgn="ctr">
              <a:spcBef>
                <a:spcPts val="100"/>
              </a:spcBef>
            </a:pPr>
            <a:r>
              <a:rPr lang="en-US" sz="8000" b="1" dirty="0">
                <a:latin typeface="Times New Roman" panose="02020603050405020304" pitchFamily="18" charset="0"/>
                <a:cs typeface="Times New Roman" panose="02020603050405020304" pitchFamily="18" charset="0"/>
              </a:rPr>
              <a:t>Objectives</a:t>
            </a:r>
            <a:endParaRPr lang="en-US" sz="7500"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5</a:t>
            </a:fld>
            <a:endParaRPr lang="en-IN"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85053E2-D5C2-D123-A9D8-BE15FCE794E7}"/>
              </a:ext>
            </a:extLst>
          </p:cNvPr>
          <p:cNvSpPr txBox="1"/>
          <p:nvPr/>
        </p:nvSpPr>
        <p:spPr>
          <a:xfrm>
            <a:off x="1257300" y="2324100"/>
            <a:ext cx="1577340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            </a:t>
            </a:r>
          </a:p>
        </p:txBody>
      </p:sp>
      <p:sp>
        <p:nvSpPr>
          <p:cNvPr id="4" name="TextBox 3">
            <a:extLst>
              <a:ext uri="{FF2B5EF4-FFF2-40B4-BE49-F238E27FC236}">
                <a16:creationId xmlns:a16="http://schemas.microsoft.com/office/drawing/2014/main" id="{CDB888C1-7810-2739-5CAC-34E1B6D1B1A3}"/>
              </a:ext>
            </a:extLst>
          </p:cNvPr>
          <p:cNvSpPr txBox="1"/>
          <p:nvPr/>
        </p:nvSpPr>
        <p:spPr>
          <a:xfrm>
            <a:off x="1257301" y="2324100"/>
            <a:ext cx="15773399" cy="4978735"/>
          </a:xfrm>
          <a:prstGeom prst="rect">
            <a:avLst/>
          </a:prstGeom>
          <a:noFill/>
        </p:spPr>
        <p:txBody>
          <a:bodyPr wrap="square" rtlCol="0">
            <a:spAutoFit/>
          </a:bodyPr>
          <a:lstStyle/>
          <a:p>
            <a:pPr marL="571500" indent="-571500" algn="just">
              <a:lnSpc>
                <a:spcPct val="150000"/>
              </a:lnSpc>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To acquire and preprocess EEG datasets through signal cleaning, filtering,      normalization, and segmentation. </a:t>
            </a:r>
          </a:p>
          <a:p>
            <a:pPr marL="571500" indent="-571500" algn="just">
              <a:lnSpc>
                <a:spcPct val="150000"/>
              </a:lnSpc>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To develop a hierarchical deep learning framework for seizure detection and subsequent seizure subtype classification using transfer learning. </a:t>
            </a:r>
          </a:p>
          <a:p>
            <a:pPr marL="571500" indent="-571500" algn="just">
              <a:lnSpc>
                <a:spcPct val="150000"/>
              </a:lnSpc>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To implement hybrid model and evaluate an automated multi-class seizure subtype classification system using subject-wise validation metrics.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01ADE3A-A6E4-A7EF-C734-C8F656BDF3F6}"/>
              </a:ext>
            </a:extLst>
          </p:cNvPr>
          <p:cNvGraphicFramePr>
            <a:graphicFrameLocks noGrp="1"/>
          </p:cNvGraphicFramePr>
          <p:nvPr/>
        </p:nvGraphicFramePr>
        <p:xfrm>
          <a:off x="1225486" y="0"/>
          <a:ext cx="15700343" cy="10328955"/>
        </p:xfrm>
        <a:graphic>
          <a:graphicData uri="http://schemas.openxmlformats.org/drawingml/2006/table">
            <a:tbl>
              <a:tblPr firstRow="1" bandRow="1">
                <a:tableStyleId>{9D7B26C5-4107-4FEC-AEDC-1716B250A1EF}</a:tableStyleId>
              </a:tblPr>
              <a:tblGrid>
                <a:gridCol w="1392471">
                  <a:extLst>
                    <a:ext uri="{9D8B030D-6E8A-4147-A177-3AD203B41FA5}">
                      <a16:colId xmlns:a16="http://schemas.microsoft.com/office/drawing/2014/main" val="651827391"/>
                    </a:ext>
                  </a:extLst>
                </a:gridCol>
                <a:gridCol w="4654031">
                  <a:extLst>
                    <a:ext uri="{9D8B030D-6E8A-4147-A177-3AD203B41FA5}">
                      <a16:colId xmlns:a16="http://schemas.microsoft.com/office/drawing/2014/main" val="1924237251"/>
                    </a:ext>
                  </a:extLst>
                </a:gridCol>
                <a:gridCol w="5102610">
                  <a:extLst>
                    <a:ext uri="{9D8B030D-6E8A-4147-A177-3AD203B41FA5}">
                      <a16:colId xmlns:a16="http://schemas.microsoft.com/office/drawing/2014/main" val="2840725733"/>
                    </a:ext>
                  </a:extLst>
                </a:gridCol>
                <a:gridCol w="4551231">
                  <a:extLst>
                    <a:ext uri="{9D8B030D-6E8A-4147-A177-3AD203B41FA5}">
                      <a16:colId xmlns:a16="http://schemas.microsoft.com/office/drawing/2014/main" val="2793465331"/>
                    </a:ext>
                  </a:extLst>
                </a:gridCol>
              </a:tblGrid>
              <a:tr h="428721">
                <a:tc>
                  <a:txBody>
                    <a:bodyPr/>
                    <a:lstStyle/>
                    <a:p>
                      <a:pPr marL="0" marR="0" algn="ctr">
                        <a:lnSpc>
                          <a:spcPct val="150000"/>
                        </a:lnSpc>
                        <a:spcAft>
                          <a:spcPts val="1000"/>
                        </a:spcAft>
                        <a:buNone/>
                      </a:pPr>
                      <a:r>
                        <a:rPr lang="en-IN" sz="2100" dirty="0">
                          <a:effectLst/>
                        </a:rPr>
                        <a:t>Sl. No</a:t>
                      </a:r>
                      <a:endParaRPr lang="en-IN" sz="2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3284" marR="1032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Aft>
                          <a:spcPts val="1000"/>
                        </a:spcAft>
                        <a:buNone/>
                      </a:pPr>
                      <a:r>
                        <a:rPr lang="en-IN" sz="2100" dirty="0">
                          <a:effectLst/>
                        </a:rPr>
                        <a:t>Reference Paper</a:t>
                      </a:r>
                      <a:endParaRPr lang="en-IN" sz="2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3284" marR="1032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Aft>
                          <a:spcPts val="1000"/>
                        </a:spcAft>
                        <a:buNone/>
                      </a:pPr>
                      <a:r>
                        <a:rPr lang="en-IN" sz="2100" dirty="0">
                          <a:effectLst/>
                        </a:rPr>
                        <a:t>Advantages</a:t>
                      </a:r>
                      <a:endParaRPr lang="en-IN" sz="2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3284" marR="1032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Aft>
                          <a:spcPts val="1000"/>
                        </a:spcAft>
                        <a:buNone/>
                      </a:pPr>
                      <a:r>
                        <a:rPr lang="en-IN" sz="2100" dirty="0">
                          <a:effectLst/>
                        </a:rPr>
                        <a:t>Limitations</a:t>
                      </a:r>
                      <a:endParaRPr lang="en-IN" sz="2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3284" marR="1032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078363"/>
                  </a:ext>
                </a:extLst>
              </a:tr>
              <a:tr h="2791295">
                <a:tc>
                  <a:txBody>
                    <a:bodyPr/>
                    <a:lstStyle/>
                    <a:p>
                      <a:pPr marL="0" marR="0" algn="just">
                        <a:lnSpc>
                          <a:spcPct val="150000"/>
                        </a:lnSpc>
                        <a:spcAft>
                          <a:spcPts val="1000"/>
                        </a:spcAft>
                        <a:buNone/>
                      </a:pPr>
                      <a:r>
                        <a:rPr lang="en-IN" sz="2100" dirty="0">
                          <a:effectLst/>
                        </a:rPr>
                        <a:t>1</a:t>
                      </a:r>
                      <a:endParaRPr lang="en-IN" sz="2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3284" marR="10328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dirty="0">
                          <a:effectLst/>
                        </a:rPr>
                        <a:t>N. </a:t>
                      </a:r>
                      <a:r>
                        <a:rPr lang="en-IN" sz="2100" dirty="0" err="1">
                          <a:effectLst/>
                        </a:rPr>
                        <a:t>Ilakiyaselvan</a:t>
                      </a:r>
                      <a:r>
                        <a:rPr lang="en-IN" sz="2100" dirty="0">
                          <a:effectLst/>
                        </a:rPr>
                        <a:t>, A. </a:t>
                      </a:r>
                      <a:r>
                        <a:rPr lang="en-IN" sz="2100" dirty="0" err="1">
                          <a:effectLst/>
                        </a:rPr>
                        <a:t>Nayeemulla</a:t>
                      </a:r>
                      <a:r>
                        <a:rPr lang="en-IN" sz="2100" dirty="0">
                          <a:effectLst/>
                        </a:rPr>
                        <a:t> Khan, and A. Shahina - Deep learning approach to detect seizure using reconstructed phase space images</a:t>
                      </a:r>
                      <a:endParaRPr lang="en-IN" sz="2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3284" marR="10328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a:effectLst/>
                        </a:rPr>
                        <a:t>Effectively captures nonlinear EEG dynamics and achieves high accuracy (~98.5%). The use of RPS with CNN improves representation of complex patterns.</a:t>
                      </a:r>
                      <a:endParaRPr lang="en-IN" sz="2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3284" marR="10328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a:effectLst/>
                        </a:rPr>
                        <a:t>Requires conversion of signals into images, increasing preprocessing steps. This adds computational overhead and complexity to the pipeline.</a:t>
                      </a:r>
                      <a:endParaRPr lang="en-IN" sz="2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3284" marR="10328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9553568"/>
                  </a:ext>
                </a:extLst>
              </a:tr>
              <a:tr h="3789141">
                <a:tc>
                  <a:txBody>
                    <a:bodyPr/>
                    <a:lstStyle/>
                    <a:p>
                      <a:pPr marL="0" marR="0" algn="just">
                        <a:lnSpc>
                          <a:spcPct val="150000"/>
                        </a:lnSpc>
                        <a:spcAft>
                          <a:spcPts val="1000"/>
                        </a:spcAft>
                        <a:buNone/>
                      </a:pPr>
                      <a:r>
                        <a:rPr lang="en-IN" sz="2100">
                          <a:effectLst/>
                        </a:rPr>
                        <a:t>2</a:t>
                      </a:r>
                      <a:endParaRPr lang="en-IN" sz="2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3284" marR="10328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dirty="0">
                          <a:effectLst/>
                        </a:rPr>
                        <a:t>S. Srinivasan, </a:t>
                      </a:r>
                      <a:r>
                        <a:rPr lang="en-IN" sz="2100" dirty="0" err="1">
                          <a:effectLst/>
                        </a:rPr>
                        <a:t>Sundaranarayana</a:t>
                      </a:r>
                      <a:r>
                        <a:rPr lang="en-IN" sz="2100" dirty="0">
                          <a:effectLst/>
                        </a:rPr>
                        <a:t> </a:t>
                      </a:r>
                      <a:r>
                        <a:rPr lang="en-IN" sz="2100" dirty="0" err="1">
                          <a:effectLst/>
                        </a:rPr>
                        <a:t>Dayalane</a:t>
                      </a:r>
                      <a:r>
                        <a:rPr lang="en-IN" sz="2100" dirty="0">
                          <a:effectLst/>
                        </a:rPr>
                        <a:t>, Sandeep Kumar Mathivanan, Hariharan Rajadurai, Prabhu Jayagopal, and </a:t>
                      </a:r>
                      <a:r>
                        <a:rPr lang="en-IN" sz="2100" dirty="0" err="1">
                          <a:effectLst/>
                        </a:rPr>
                        <a:t>Gemmachis</a:t>
                      </a:r>
                      <a:r>
                        <a:rPr lang="en-IN" sz="2100" dirty="0">
                          <a:effectLst/>
                        </a:rPr>
                        <a:t> </a:t>
                      </a:r>
                      <a:r>
                        <a:rPr lang="en-IN" sz="2100" dirty="0" err="1">
                          <a:effectLst/>
                        </a:rPr>
                        <a:t>Teshite</a:t>
                      </a:r>
                      <a:r>
                        <a:rPr lang="en-IN" sz="2100" dirty="0">
                          <a:effectLst/>
                        </a:rPr>
                        <a:t> Dalu - Detection and classification of adult epilepsy using hybrid deep learning approach</a:t>
                      </a:r>
                      <a:endParaRPr lang="en-IN" sz="2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3284" marR="10328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dirty="0">
                          <a:effectLst/>
                        </a:rPr>
                        <a:t>3D-DCAE + Bi-LSTM achieved very high performance (≈99.08% accuracy, 99.16% F1) on CHB-MIT paediatric EEG. The end-to-end supervised autoencoder is trained once, reducing parameters via convolutional layers and compressing EEG into a low-dimensional latent space for a compact, high-precision classifier.</a:t>
                      </a:r>
                      <a:endParaRPr lang="en-IN" sz="2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3284" marR="10328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dirty="0">
                          <a:effectLst/>
                        </a:rPr>
                        <a:t>Evaluated only on the CHB-MIT dataset (23 paediatric patients), so its performance on adult or larger cohorts is untested. It performs only binary (ictal vs. interictal) classification, ignoring multiple seizure types and pre-ictal states, which may limit clinical applicability.</a:t>
                      </a:r>
                      <a:endParaRPr lang="en-IN" sz="2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3284" marR="10328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7495397"/>
                  </a:ext>
                </a:extLst>
              </a:tr>
              <a:tr h="3319736">
                <a:tc>
                  <a:txBody>
                    <a:bodyPr/>
                    <a:lstStyle/>
                    <a:p>
                      <a:pPr marL="0" marR="0" algn="just">
                        <a:lnSpc>
                          <a:spcPct val="150000"/>
                        </a:lnSpc>
                        <a:spcAft>
                          <a:spcPts val="1000"/>
                        </a:spcAft>
                        <a:buNone/>
                      </a:pPr>
                      <a:r>
                        <a:rPr lang="en-IN" sz="2100">
                          <a:effectLst/>
                        </a:rPr>
                        <a:t>3</a:t>
                      </a:r>
                      <a:endParaRPr lang="en-IN" sz="2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3284" marR="10328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a:effectLst/>
                        </a:rPr>
                        <a:t>Hezam Albaqami, G. M. Hassan, and A. Datta - Wavelet-Based Multi-Class Seizure Type Classification System</a:t>
                      </a:r>
                      <a:endParaRPr lang="en-IN" sz="2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3284" marR="10328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dirty="0">
                          <a:effectLst/>
                        </a:rPr>
                        <a:t>Using TUH EEG Seizure Corpus (TUSZ v1.5.2) (3050 seizures, 300+ patients), the method classifies seven seizure types with ~96.0% accuracy and 99.1% weighted F1 (seizure-wise). DTCWT features with </a:t>
                      </a:r>
                      <a:r>
                        <a:rPr lang="en-IN" sz="2100" dirty="0" err="1">
                          <a:effectLst/>
                        </a:rPr>
                        <a:t>LightGBM</a:t>
                      </a:r>
                      <a:r>
                        <a:rPr lang="en-IN" sz="2100" dirty="0">
                          <a:effectLst/>
                        </a:rPr>
                        <a:t> set a new benchmark, outperforming prior methods.</a:t>
                      </a:r>
                      <a:endParaRPr lang="en-IN" sz="2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3284" marR="10328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dirty="0">
                          <a:effectLst/>
                        </a:rPr>
                        <a:t>Patient-wise evaluation drops to 74.7% F1, indicating poor cross-subject generalization. The method uses fixed wavelet features with </a:t>
                      </a:r>
                      <a:r>
                        <a:rPr lang="en-IN" sz="2100" dirty="0" err="1">
                          <a:effectLst/>
                        </a:rPr>
                        <a:t>LightGBM</a:t>
                      </a:r>
                      <a:r>
                        <a:rPr lang="en-IN" sz="2100" dirty="0">
                          <a:effectLst/>
                        </a:rPr>
                        <a:t>, lacks end-to-end learning, and is not validated on independent or noisy datasets.</a:t>
                      </a:r>
                      <a:endParaRPr lang="en-IN" sz="2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3284" marR="10328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416042"/>
                  </a:ext>
                </a:extLst>
              </a:tr>
            </a:tbl>
          </a:graphicData>
        </a:graphic>
      </p:graphicFrame>
    </p:spTree>
    <p:extLst>
      <p:ext uri="{BB962C8B-B14F-4D97-AF65-F5344CB8AC3E}">
        <p14:creationId xmlns:p14="http://schemas.microsoft.com/office/powerpoint/2010/main" val="2138693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C29CA77-0030-3C0B-0DB9-D9F194AEEA55}"/>
              </a:ext>
            </a:extLst>
          </p:cNvPr>
          <p:cNvGraphicFramePr>
            <a:graphicFrameLocks noGrp="1"/>
          </p:cNvGraphicFramePr>
          <p:nvPr/>
        </p:nvGraphicFramePr>
        <p:xfrm>
          <a:off x="1126503" y="-76963"/>
          <a:ext cx="16034995" cy="10441019"/>
        </p:xfrm>
        <a:graphic>
          <a:graphicData uri="http://schemas.openxmlformats.org/drawingml/2006/table">
            <a:tbl>
              <a:tblPr bandRow="1">
                <a:tableStyleId>{9D7B26C5-4107-4FEC-AEDC-1716B250A1EF}</a:tableStyleId>
              </a:tblPr>
              <a:tblGrid>
                <a:gridCol w="919301">
                  <a:extLst>
                    <a:ext uri="{9D8B030D-6E8A-4147-A177-3AD203B41FA5}">
                      <a16:colId xmlns:a16="http://schemas.microsoft.com/office/drawing/2014/main" val="1546369819"/>
                    </a:ext>
                  </a:extLst>
                </a:gridCol>
                <a:gridCol w="5217552">
                  <a:extLst>
                    <a:ext uri="{9D8B030D-6E8A-4147-A177-3AD203B41FA5}">
                      <a16:colId xmlns:a16="http://schemas.microsoft.com/office/drawing/2014/main" val="3742099705"/>
                    </a:ext>
                  </a:extLst>
                </a:gridCol>
                <a:gridCol w="5217737">
                  <a:extLst>
                    <a:ext uri="{9D8B030D-6E8A-4147-A177-3AD203B41FA5}">
                      <a16:colId xmlns:a16="http://schemas.microsoft.com/office/drawing/2014/main" val="1073700293"/>
                    </a:ext>
                  </a:extLst>
                </a:gridCol>
                <a:gridCol w="4680405">
                  <a:extLst>
                    <a:ext uri="{9D8B030D-6E8A-4147-A177-3AD203B41FA5}">
                      <a16:colId xmlns:a16="http://schemas.microsoft.com/office/drawing/2014/main" val="3777468159"/>
                    </a:ext>
                  </a:extLst>
                </a:gridCol>
              </a:tblGrid>
              <a:tr h="1767072">
                <a:tc>
                  <a:txBody>
                    <a:bodyPr/>
                    <a:lstStyle/>
                    <a:p>
                      <a:pPr marL="0" marR="0" algn="just">
                        <a:lnSpc>
                          <a:spcPct val="150000"/>
                        </a:lnSpc>
                        <a:spcAft>
                          <a:spcPts val="1000"/>
                        </a:spcAft>
                        <a:buNone/>
                      </a:pPr>
                      <a:r>
                        <a:rPr lang="en-IN" sz="2100" b="0" dirty="0">
                          <a:effectLst/>
                        </a:rPr>
                        <a:t>4</a:t>
                      </a:r>
                      <a:endParaRPr lang="en-IN" sz="2100" b="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b="0" dirty="0">
                          <a:effectLst/>
                        </a:rPr>
                        <a:t>A. </a:t>
                      </a:r>
                      <a:r>
                        <a:rPr lang="en-IN" sz="2100" b="0" dirty="0" err="1">
                          <a:effectLst/>
                        </a:rPr>
                        <a:t>Abdelhameed</a:t>
                      </a:r>
                      <a:r>
                        <a:rPr lang="en-IN" sz="2100" b="0" dirty="0">
                          <a:effectLst/>
                        </a:rPr>
                        <a:t> and M. Bayoumi - A Deep Learning Approach for Automatic Seizure Detection in Children With Epilepsy</a:t>
                      </a:r>
                      <a:endParaRPr lang="en-IN" sz="2100" b="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b="0" dirty="0">
                          <a:effectLst/>
                        </a:rPr>
                        <a:t>Achieves high accuracy (~98.8%) with automatic feature learning. Requires minimal preprocessing using deep learning models.</a:t>
                      </a:r>
                      <a:endParaRPr lang="en-IN" sz="2100" b="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b="0" dirty="0">
                          <a:effectLst/>
                        </a:rPr>
                        <a:t>Performance is dataset-specific and may not generalize well. High computational cost limits practical deployment.</a:t>
                      </a:r>
                      <a:endParaRPr lang="en-IN" sz="2100" b="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473710"/>
                  </a:ext>
                </a:extLst>
              </a:tr>
              <a:tr h="2829021">
                <a:tc>
                  <a:txBody>
                    <a:bodyPr/>
                    <a:lstStyle/>
                    <a:p>
                      <a:pPr marL="0" marR="0" algn="just">
                        <a:lnSpc>
                          <a:spcPct val="150000"/>
                        </a:lnSpc>
                        <a:spcAft>
                          <a:spcPts val="1000"/>
                        </a:spcAft>
                        <a:buNone/>
                      </a:pPr>
                      <a:r>
                        <a:rPr lang="en-IN" sz="2100">
                          <a:effectLst/>
                        </a:rPr>
                        <a:t>5</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dirty="0">
                          <a:effectLst/>
                        </a:rPr>
                        <a:t>M. </a:t>
                      </a:r>
                      <a:r>
                        <a:rPr lang="en-IN" sz="2100" dirty="0" err="1">
                          <a:effectLst/>
                        </a:rPr>
                        <a:t>Guendelman</a:t>
                      </a:r>
                      <a:r>
                        <a:rPr lang="en-IN" sz="2100" dirty="0">
                          <a:effectLst/>
                        </a:rPr>
                        <a:t>, R. </a:t>
                      </a:r>
                      <a:r>
                        <a:rPr lang="en-IN" sz="2100" dirty="0" err="1">
                          <a:effectLst/>
                        </a:rPr>
                        <a:t>Vekslar</a:t>
                      </a:r>
                      <a:r>
                        <a:rPr lang="en-IN" sz="2100" dirty="0">
                          <a:effectLst/>
                        </a:rPr>
                        <a:t>, and O. Shriki - A New Perspective in Epileptic Seizure Classification: Applying the Taxonomy of Seizure Dynamo types to Non-invasive EEG and Examining Dynamical Changes across Sleep Stages</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dirty="0">
                          <a:effectLst/>
                        </a:rPr>
                        <a:t>Provides interpretable seizure dynamics and links them with sleep stages. Offers a scalable and explainable </a:t>
                      </a:r>
                      <a:r>
                        <a:rPr lang="en-IN" sz="2100" dirty="0" err="1">
                          <a:effectLst/>
                        </a:rPr>
                        <a:t>modeling</a:t>
                      </a:r>
                      <a:r>
                        <a:rPr lang="en-IN" sz="2100" dirty="0">
                          <a:effectLst/>
                        </a:rPr>
                        <a:t> approach</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dirty="0">
                          <a:effectLst/>
                        </a:rPr>
                        <a:t>Depends on manual </a:t>
                      </a:r>
                      <a:r>
                        <a:rPr lang="en-IN" sz="2100" dirty="0" err="1">
                          <a:effectLst/>
                        </a:rPr>
                        <a:t>labeling</a:t>
                      </a:r>
                      <a:r>
                        <a:rPr lang="en-IN" sz="2100" dirty="0">
                          <a:effectLst/>
                        </a:rPr>
                        <a:t> which increases effort. Performance is sensitive to noise in EEG signals.</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7681452"/>
                  </a:ext>
                </a:extLst>
              </a:tr>
              <a:tr h="1868901">
                <a:tc>
                  <a:txBody>
                    <a:bodyPr/>
                    <a:lstStyle/>
                    <a:p>
                      <a:pPr marL="0" marR="0" algn="just">
                        <a:lnSpc>
                          <a:spcPct val="150000"/>
                        </a:lnSpc>
                        <a:spcAft>
                          <a:spcPts val="1000"/>
                        </a:spcAft>
                        <a:buNone/>
                      </a:pPr>
                      <a:r>
                        <a:rPr lang="en-IN" sz="2100">
                          <a:effectLst/>
                        </a:rPr>
                        <a:t>6</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dirty="0">
                          <a:effectLst/>
                        </a:rPr>
                        <a:t>M. K. Siddiqui, R. Morales-Menendez, X. Huang, and N. Hussain - A review of epileptic seizure detection using machine learning classifiers</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dirty="0">
                          <a:effectLst/>
                        </a:rPr>
                        <a:t>Gives a comprehensive comparison of classifiers and identifies strong models. Helps understand effectiveness of traditional ML techniques.</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dirty="0">
                          <a:effectLst/>
                        </a:rPr>
                        <a:t>Lacks experimental validation to support conclusions. Limited focus on deep learning approaches.</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3058147"/>
                  </a:ext>
                </a:extLst>
              </a:tr>
              <a:tr h="1868901">
                <a:tc>
                  <a:txBody>
                    <a:bodyPr/>
                    <a:lstStyle/>
                    <a:p>
                      <a:pPr marL="0" marR="0" algn="just">
                        <a:lnSpc>
                          <a:spcPct val="150000"/>
                        </a:lnSpc>
                        <a:spcAft>
                          <a:spcPts val="1000"/>
                        </a:spcAft>
                        <a:buNone/>
                      </a:pPr>
                      <a:r>
                        <a:rPr lang="en-IN" sz="2100">
                          <a:effectLst/>
                        </a:rPr>
                        <a:t>7</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dirty="0">
                          <a:effectLst/>
                        </a:rPr>
                        <a:t>Y. Yuan et al. - A Transformer‐Based Framework With Data Augmentation for Robust Seizure Detection Across Invasive and Non-invasive Neural Recordings</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dirty="0">
                          <a:effectLst/>
                        </a:rPr>
                        <a:t>Provides high generalization and eliminates need for manual feature extraction. Uses attention mechanisms effectively with augmented data.</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dirty="0">
                          <a:effectLst/>
                        </a:rPr>
                        <a:t>Sensitive to noise in EEG signals. High computational cost makes it resource intensive.</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0742411"/>
                  </a:ext>
                </a:extLst>
              </a:tr>
              <a:tr h="2107031">
                <a:tc>
                  <a:txBody>
                    <a:bodyPr/>
                    <a:lstStyle/>
                    <a:p>
                      <a:pPr marL="0" marR="0" algn="just">
                        <a:lnSpc>
                          <a:spcPct val="150000"/>
                        </a:lnSpc>
                        <a:spcAft>
                          <a:spcPts val="1000"/>
                        </a:spcAft>
                        <a:buNone/>
                      </a:pPr>
                      <a:r>
                        <a:rPr lang="en-IN" sz="2100">
                          <a:effectLst/>
                        </a:rPr>
                        <a:t>8</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a:effectLst/>
                        </a:rPr>
                        <a:t>P. A. Akor, G. Enemali, U. Muhammad, R. R. Singh, and H. Larijani - An Attention-Residual Convolutional Network for Real-Time Seizure Classification on Edge Devices</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dirty="0">
                          <a:effectLst/>
                        </a:rPr>
                        <a:t>Achieves very high accuracy and supports real-time edge deployment. Combines attention and residual learning for efficient performance.</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Aft>
                          <a:spcPts val="1000"/>
                        </a:spcAft>
                        <a:buNone/>
                      </a:pPr>
                      <a:r>
                        <a:rPr lang="en-IN" sz="2100" dirty="0">
                          <a:effectLst/>
                        </a:rPr>
                        <a:t>Relies on handcrafted features which limits automation. Feature dependency may affect scalability.</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2955865"/>
                  </a:ext>
                </a:extLst>
              </a:tr>
            </a:tbl>
          </a:graphicData>
        </a:graphic>
      </p:graphicFrame>
    </p:spTree>
    <p:extLst>
      <p:ext uri="{BB962C8B-B14F-4D97-AF65-F5344CB8AC3E}">
        <p14:creationId xmlns:p14="http://schemas.microsoft.com/office/powerpoint/2010/main" val="1121809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037639B-F502-81FD-3F08-8FF591537F38}"/>
              </a:ext>
            </a:extLst>
          </p:cNvPr>
          <p:cNvGraphicFramePr>
            <a:graphicFrameLocks noGrp="1"/>
          </p:cNvGraphicFramePr>
          <p:nvPr/>
        </p:nvGraphicFramePr>
        <p:xfrm>
          <a:off x="1484721" y="153601"/>
          <a:ext cx="15115886" cy="9833295"/>
        </p:xfrm>
        <a:graphic>
          <a:graphicData uri="http://schemas.openxmlformats.org/drawingml/2006/table">
            <a:tbl>
              <a:tblPr bandRow="1">
                <a:tableStyleId>{616DA210-FB5B-4158-B5E0-FEB733F419BA}</a:tableStyleId>
              </a:tblPr>
              <a:tblGrid>
                <a:gridCol w="919115">
                  <a:extLst>
                    <a:ext uri="{9D8B030D-6E8A-4147-A177-3AD203B41FA5}">
                      <a16:colId xmlns:a16="http://schemas.microsoft.com/office/drawing/2014/main" val="2913860750"/>
                    </a:ext>
                  </a:extLst>
                </a:gridCol>
                <a:gridCol w="5019773">
                  <a:extLst>
                    <a:ext uri="{9D8B030D-6E8A-4147-A177-3AD203B41FA5}">
                      <a16:colId xmlns:a16="http://schemas.microsoft.com/office/drawing/2014/main" val="2873695081"/>
                    </a:ext>
                  </a:extLst>
                </a:gridCol>
                <a:gridCol w="4553147">
                  <a:extLst>
                    <a:ext uri="{9D8B030D-6E8A-4147-A177-3AD203B41FA5}">
                      <a16:colId xmlns:a16="http://schemas.microsoft.com/office/drawing/2014/main" val="1812397582"/>
                    </a:ext>
                  </a:extLst>
                </a:gridCol>
                <a:gridCol w="4623851">
                  <a:extLst>
                    <a:ext uri="{9D8B030D-6E8A-4147-A177-3AD203B41FA5}">
                      <a16:colId xmlns:a16="http://schemas.microsoft.com/office/drawing/2014/main" val="4197723038"/>
                    </a:ext>
                  </a:extLst>
                </a:gridCol>
              </a:tblGrid>
              <a:tr h="2350676">
                <a:tc>
                  <a:txBody>
                    <a:bodyPr/>
                    <a:lstStyle/>
                    <a:p>
                      <a:pPr marL="0" marR="0" algn="just">
                        <a:lnSpc>
                          <a:spcPct val="150000"/>
                        </a:lnSpc>
                        <a:spcAft>
                          <a:spcPts val="1000"/>
                        </a:spcAft>
                        <a:buNone/>
                      </a:pPr>
                      <a:r>
                        <a:rPr lang="en-IN" sz="2100" dirty="0">
                          <a:effectLst/>
                          <a:latin typeface="+mn-lt"/>
                        </a:rPr>
                        <a:t>10</a:t>
                      </a:r>
                      <a:endParaRPr lang="en-IN" sz="2100" dirty="0">
                        <a:solidFill>
                          <a:srgbClr val="000000"/>
                        </a:solidFill>
                        <a:effectLst/>
                        <a:latin typeface="+mn-lt"/>
                        <a:ea typeface="Times New Roman" panose="02020603050405020304" pitchFamily="18" charset="0"/>
                        <a:cs typeface="Tunga" panose="020B0502040204020203" pitchFamily="34" charset="0"/>
                      </a:endParaRPr>
                    </a:p>
                  </a:txBody>
                  <a:tcPr marL="76248" marR="76248" marT="0" marB="0"/>
                </a:tc>
                <a:tc>
                  <a:txBody>
                    <a:bodyPr/>
                    <a:lstStyle/>
                    <a:p>
                      <a:pPr marL="0" marR="0" algn="just">
                        <a:lnSpc>
                          <a:spcPct val="150000"/>
                        </a:lnSpc>
                        <a:spcAft>
                          <a:spcPts val="1000"/>
                        </a:spcAft>
                        <a:buNone/>
                      </a:pPr>
                      <a:r>
                        <a:rPr lang="en-IN" sz="2100">
                          <a:effectLst/>
                          <a:latin typeface="+mn-lt"/>
                        </a:rPr>
                        <a:t>A. Ulate-Campos, F. Coughlin, M. Gaínza-Lein, I. S. Fernández, P. L. Pearl, and T. Loddenkemper - Automated seizure detection systems and their effectiveness for each type of seizure</a:t>
                      </a:r>
                      <a:endParaRPr lang="en-IN" sz="2100">
                        <a:solidFill>
                          <a:srgbClr val="000000"/>
                        </a:solidFill>
                        <a:effectLst/>
                        <a:latin typeface="+mn-lt"/>
                        <a:ea typeface="Times New Roman" panose="02020603050405020304" pitchFamily="18" charset="0"/>
                        <a:cs typeface="Tunga" panose="020B0502040204020203" pitchFamily="34" charset="0"/>
                      </a:endParaRPr>
                    </a:p>
                  </a:txBody>
                  <a:tcPr marL="76248" marR="76248" marT="0" marB="0"/>
                </a:tc>
                <a:tc>
                  <a:txBody>
                    <a:bodyPr/>
                    <a:lstStyle/>
                    <a:p>
                      <a:pPr marL="0" marR="0" algn="just">
                        <a:lnSpc>
                          <a:spcPct val="150000"/>
                        </a:lnSpc>
                        <a:spcAft>
                          <a:spcPts val="1000"/>
                        </a:spcAft>
                        <a:buNone/>
                      </a:pPr>
                      <a:r>
                        <a:rPr lang="en-IN" sz="2100">
                          <a:effectLst/>
                          <a:latin typeface="+mn-lt"/>
                        </a:rPr>
                        <a:t>Offers practical insights using multi-sensor systems like EEG and ECG. Helps in selecting suitable devices for detection.</a:t>
                      </a:r>
                      <a:endParaRPr lang="en-IN" sz="2100">
                        <a:solidFill>
                          <a:srgbClr val="000000"/>
                        </a:solidFill>
                        <a:effectLst/>
                        <a:latin typeface="+mn-lt"/>
                        <a:ea typeface="Times New Roman" panose="02020603050405020304" pitchFamily="18" charset="0"/>
                        <a:cs typeface="Tunga" panose="020B0502040204020203" pitchFamily="34" charset="0"/>
                      </a:endParaRPr>
                    </a:p>
                  </a:txBody>
                  <a:tcPr marL="76248" marR="76248" marT="0" marB="0"/>
                </a:tc>
                <a:tc>
                  <a:txBody>
                    <a:bodyPr/>
                    <a:lstStyle/>
                    <a:p>
                      <a:pPr marL="0" marR="0" algn="just">
                        <a:lnSpc>
                          <a:spcPct val="150000"/>
                        </a:lnSpc>
                        <a:spcAft>
                          <a:spcPts val="1000"/>
                        </a:spcAft>
                        <a:buNone/>
                      </a:pPr>
                      <a:r>
                        <a:rPr lang="en-IN" sz="2100" dirty="0">
                          <a:effectLst/>
                          <a:latin typeface="+mn-lt"/>
                        </a:rPr>
                        <a:t>Does not provide a unified detection framework. Integration across systems remains unclear.</a:t>
                      </a:r>
                      <a:endParaRPr lang="en-IN" sz="2100" dirty="0">
                        <a:solidFill>
                          <a:srgbClr val="000000"/>
                        </a:solidFill>
                        <a:effectLst/>
                        <a:latin typeface="+mn-lt"/>
                        <a:ea typeface="Times New Roman" panose="02020603050405020304" pitchFamily="18" charset="0"/>
                        <a:cs typeface="Tunga" panose="020B0502040204020203" pitchFamily="34" charset="0"/>
                      </a:endParaRPr>
                    </a:p>
                  </a:txBody>
                  <a:tcPr marL="76248" marR="76248" marT="0" marB="0"/>
                </a:tc>
                <a:extLst>
                  <a:ext uri="{0D108BD9-81ED-4DB2-BD59-A6C34878D82A}">
                    <a16:rowId xmlns:a16="http://schemas.microsoft.com/office/drawing/2014/main" val="312081524"/>
                  </a:ext>
                </a:extLst>
              </a:tr>
              <a:tr h="1390556">
                <a:tc>
                  <a:txBody>
                    <a:bodyPr/>
                    <a:lstStyle/>
                    <a:p>
                      <a:pPr marL="0" marR="0" algn="just">
                        <a:lnSpc>
                          <a:spcPct val="150000"/>
                        </a:lnSpc>
                        <a:spcAft>
                          <a:spcPts val="1000"/>
                        </a:spcAft>
                        <a:buNone/>
                      </a:pPr>
                      <a:r>
                        <a:rPr lang="en-IN" sz="2100">
                          <a:effectLst/>
                          <a:latin typeface="+mn-lt"/>
                        </a:rPr>
                        <a:t>11</a:t>
                      </a:r>
                      <a:endParaRPr lang="en-IN" sz="2100">
                        <a:solidFill>
                          <a:srgbClr val="000000"/>
                        </a:solidFill>
                        <a:effectLst/>
                        <a:latin typeface="+mn-lt"/>
                        <a:ea typeface="Times New Roman" panose="02020603050405020304" pitchFamily="18" charset="0"/>
                        <a:cs typeface="Tunga" panose="020B0502040204020203" pitchFamily="34" charset="0"/>
                      </a:endParaRPr>
                    </a:p>
                  </a:txBody>
                  <a:tcPr marL="76248" marR="76248" marT="0" marB="0"/>
                </a:tc>
                <a:tc>
                  <a:txBody>
                    <a:bodyPr/>
                    <a:lstStyle/>
                    <a:p>
                      <a:pPr marL="0" marR="0" algn="just">
                        <a:lnSpc>
                          <a:spcPct val="150000"/>
                        </a:lnSpc>
                        <a:spcAft>
                          <a:spcPts val="1000"/>
                        </a:spcAft>
                        <a:buNone/>
                      </a:pPr>
                      <a:r>
                        <a:rPr lang="en-IN" sz="2100">
                          <a:effectLst/>
                          <a:latin typeface="+mn-lt"/>
                        </a:rPr>
                        <a:t>U. R. Acharya, Y. Hagiwara, and H. Adeli - Automated seizure prediction	</a:t>
                      </a:r>
                      <a:endParaRPr lang="en-IN" sz="2100">
                        <a:solidFill>
                          <a:srgbClr val="000000"/>
                        </a:solidFill>
                        <a:effectLst/>
                        <a:latin typeface="+mn-lt"/>
                        <a:ea typeface="Times New Roman" panose="02020603050405020304" pitchFamily="18" charset="0"/>
                        <a:cs typeface="Tunga" panose="020B0502040204020203" pitchFamily="34" charset="0"/>
                      </a:endParaRPr>
                    </a:p>
                  </a:txBody>
                  <a:tcPr marL="76248" marR="76248" marT="0" marB="0"/>
                </a:tc>
                <a:tc>
                  <a:txBody>
                    <a:bodyPr/>
                    <a:lstStyle/>
                    <a:p>
                      <a:pPr marL="0" marR="0" algn="just">
                        <a:lnSpc>
                          <a:spcPct val="150000"/>
                        </a:lnSpc>
                        <a:spcAft>
                          <a:spcPts val="1000"/>
                        </a:spcAft>
                        <a:buNone/>
                      </a:pPr>
                      <a:r>
                        <a:rPr lang="en-IN" sz="2100">
                          <a:effectLst/>
                          <a:latin typeface="+mn-lt"/>
                        </a:rPr>
                        <a:t>Covers advanced prediction techniques using ML models. Explores feature engineering for improved forecasting.</a:t>
                      </a:r>
                      <a:endParaRPr lang="en-IN" sz="2100">
                        <a:solidFill>
                          <a:srgbClr val="000000"/>
                        </a:solidFill>
                        <a:effectLst/>
                        <a:latin typeface="+mn-lt"/>
                        <a:ea typeface="Times New Roman" panose="02020603050405020304" pitchFamily="18" charset="0"/>
                        <a:cs typeface="Tunga" panose="020B0502040204020203" pitchFamily="34" charset="0"/>
                      </a:endParaRPr>
                    </a:p>
                  </a:txBody>
                  <a:tcPr marL="76248" marR="76248" marT="0" marB="0"/>
                </a:tc>
                <a:tc>
                  <a:txBody>
                    <a:bodyPr/>
                    <a:lstStyle/>
                    <a:p>
                      <a:pPr marL="0" marR="0" algn="just">
                        <a:lnSpc>
                          <a:spcPct val="150000"/>
                        </a:lnSpc>
                        <a:spcAft>
                          <a:spcPts val="1000"/>
                        </a:spcAft>
                        <a:buNone/>
                      </a:pPr>
                      <a:r>
                        <a:rPr lang="en-IN" sz="2100" dirty="0">
                          <a:effectLst/>
                          <a:latin typeface="+mn-lt"/>
                        </a:rPr>
                        <a:t>Reliability is lower compared to detection systems. Prediction accuracy is still a major challenge.</a:t>
                      </a:r>
                      <a:endParaRPr lang="en-IN" sz="2100" dirty="0">
                        <a:solidFill>
                          <a:srgbClr val="000000"/>
                        </a:solidFill>
                        <a:effectLst/>
                        <a:latin typeface="+mn-lt"/>
                        <a:ea typeface="Times New Roman" panose="02020603050405020304" pitchFamily="18" charset="0"/>
                        <a:cs typeface="Tunga" panose="020B0502040204020203" pitchFamily="34" charset="0"/>
                      </a:endParaRPr>
                    </a:p>
                  </a:txBody>
                  <a:tcPr marL="76248" marR="76248" marT="0" marB="0"/>
                </a:tc>
                <a:extLst>
                  <a:ext uri="{0D108BD9-81ED-4DB2-BD59-A6C34878D82A}">
                    <a16:rowId xmlns:a16="http://schemas.microsoft.com/office/drawing/2014/main" val="2712003409"/>
                  </a:ext>
                </a:extLst>
              </a:tr>
              <a:tr h="1870616">
                <a:tc>
                  <a:txBody>
                    <a:bodyPr/>
                    <a:lstStyle/>
                    <a:p>
                      <a:pPr marL="0" marR="0" algn="just">
                        <a:lnSpc>
                          <a:spcPct val="150000"/>
                        </a:lnSpc>
                        <a:spcAft>
                          <a:spcPts val="1000"/>
                        </a:spcAft>
                        <a:buNone/>
                      </a:pPr>
                      <a:r>
                        <a:rPr lang="en-IN" sz="2100">
                          <a:effectLst/>
                          <a:latin typeface="+mn-lt"/>
                        </a:rPr>
                        <a:t>12</a:t>
                      </a:r>
                      <a:endParaRPr lang="en-IN" sz="2100">
                        <a:solidFill>
                          <a:srgbClr val="000000"/>
                        </a:solidFill>
                        <a:effectLst/>
                        <a:latin typeface="+mn-lt"/>
                        <a:ea typeface="Times New Roman" panose="02020603050405020304" pitchFamily="18" charset="0"/>
                        <a:cs typeface="Tunga" panose="020B0502040204020203" pitchFamily="34" charset="0"/>
                      </a:endParaRPr>
                    </a:p>
                  </a:txBody>
                  <a:tcPr marL="76248" marR="76248" marT="0" marB="0"/>
                </a:tc>
                <a:tc>
                  <a:txBody>
                    <a:bodyPr/>
                    <a:lstStyle/>
                    <a:p>
                      <a:pPr marL="0" marR="0" algn="just">
                        <a:lnSpc>
                          <a:spcPct val="150000"/>
                        </a:lnSpc>
                        <a:spcAft>
                          <a:spcPts val="1000"/>
                        </a:spcAft>
                        <a:buNone/>
                      </a:pPr>
                      <a:r>
                        <a:rPr lang="en-IN" sz="2100">
                          <a:effectLst/>
                          <a:latin typeface="+mn-lt"/>
                        </a:rPr>
                        <a:t>X. Wei, L. Zhou, Z. Chen, L. Zhang, and Y. Zhou  - Automatic seizure detection using three-dimensional CNN based on multi-channel EEG</a:t>
                      </a:r>
                      <a:endParaRPr lang="en-IN" sz="2100">
                        <a:solidFill>
                          <a:srgbClr val="000000"/>
                        </a:solidFill>
                        <a:effectLst/>
                        <a:latin typeface="+mn-lt"/>
                        <a:ea typeface="Times New Roman" panose="02020603050405020304" pitchFamily="18" charset="0"/>
                        <a:cs typeface="Tunga" panose="020B0502040204020203" pitchFamily="34" charset="0"/>
                      </a:endParaRPr>
                    </a:p>
                  </a:txBody>
                  <a:tcPr marL="76248" marR="76248" marT="0" marB="0"/>
                </a:tc>
                <a:tc>
                  <a:txBody>
                    <a:bodyPr/>
                    <a:lstStyle/>
                    <a:p>
                      <a:pPr marL="0" marR="0" algn="just">
                        <a:lnSpc>
                          <a:spcPct val="150000"/>
                        </a:lnSpc>
                        <a:spcAft>
                          <a:spcPts val="1000"/>
                        </a:spcAft>
                        <a:buNone/>
                      </a:pPr>
                      <a:r>
                        <a:rPr lang="en-IN" sz="2100">
                          <a:effectLst/>
                          <a:latin typeface="+mn-lt"/>
                        </a:rPr>
                        <a:t>Captures spatial and temporal EEG features effectively. Improves detection using multi-channel modeling.</a:t>
                      </a:r>
                      <a:endParaRPr lang="en-IN" sz="2100">
                        <a:solidFill>
                          <a:srgbClr val="000000"/>
                        </a:solidFill>
                        <a:effectLst/>
                        <a:latin typeface="+mn-lt"/>
                        <a:ea typeface="Times New Roman" panose="02020603050405020304" pitchFamily="18" charset="0"/>
                        <a:cs typeface="Tunga" panose="020B0502040204020203" pitchFamily="34" charset="0"/>
                      </a:endParaRPr>
                    </a:p>
                  </a:txBody>
                  <a:tcPr marL="76248" marR="76248" marT="0" marB="0"/>
                </a:tc>
                <a:tc>
                  <a:txBody>
                    <a:bodyPr/>
                    <a:lstStyle/>
                    <a:p>
                      <a:pPr marL="0" marR="0" algn="just">
                        <a:lnSpc>
                          <a:spcPct val="150000"/>
                        </a:lnSpc>
                        <a:spcAft>
                          <a:spcPts val="1000"/>
                        </a:spcAft>
                        <a:buNone/>
                      </a:pPr>
                      <a:r>
                        <a:rPr lang="en-IN" sz="2100" dirty="0">
                          <a:effectLst/>
                          <a:latin typeface="+mn-lt"/>
                        </a:rPr>
                        <a:t>Requires complex data representation and processing. Increases computational burden significantly.</a:t>
                      </a:r>
                      <a:endParaRPr lang="en-IN" sz="2100" dirty="0">
                        <a:solidFill>
                          <a:srgbClr val="000000"/>
                        </a:solidFill>
                        <a:effectLst/>
                        <a:latin typeface="+mn-lt"/>
                        <a:ea typeface="Times New Roman" panose="02020603050405020304" pitchFamily="18" charset="0"/>
                        <a:cs typeface="Tunga" panose="020B0502040204020203" pitchFamily="34" charset="0"/>
                      </a:endParaRPr>
                    </a:p>
                  </a:txBody>
                  <a:tcPr marL="76248" marR="76248" marT="0" marB="0"/>
                </a:tc>
                <a:extLst>
                  <a:ext uri="{0D108BD9-81ED-4DB2-BD59-A6C34878D82A}">
                    <a16:rowId xmlns:a16="http://schemas.microsoft.com/office/drawing/2014/main" val="1889760409"/>
                  </a:ext>
                </a:extLst>
              </a:tr>
              <a:tr h="2350676">
                <a:tc>
                  <a:txBody>
                    <a:bodyPr/>
                    <a:lstStyle/>
                    <a:p>
                      <a:pPr marL="0" marR="0" algn="just">
                        <a:lnSpc>
                          <a:spcPct val="150000"/>
                        </a:lnSpc>
                        <a:spcAft>
                          <a:spcPts val="1000"/>
                        </a:spcAft>
                        <a:buNone/>
                      </a:pPr>
                      <a:r>
                        <a:rPr lang="en-IN" sz="2100">
                          <a:effectLst/>
                          <a:latin typeface="+mn-lt"/>
                        </a:rPr>
                        <a:t>13</a:t>
                      </a:r>
                      <a:endParaRPr lang="en-IN" sz="2100">
                        <a:solidFill>
                          <a:srgbClr val="000000"/>
                        </a:solidFill>
                        <a:effectLst/>
                        <a:latin typeface="+mn-lt"/>
                        <a:ea typeface="Times New Roman" panose="02020603050405020304" pitchFamily="18" charset="0"/>
                        <a:cs typeface="Tunga" panose="020B0502040204020203" pitchFamily="34" charset="0"/>
                      </a:endParaRPr>
                    </a:p>
                  </a:txBody>
                  <a:tcPr marL="76248" marR="76248" marT="0" marB="0"/>
                </a:tc>
                <a:tc>
                  <a:txBody>
                    <a:bodyPr/>
                    <a:lstStyle/>
                    <a:p>
                      <a:pPr marL="0" marR="0" algn="just">
                        <a:lnSpc>
                          <a:spcPct val="150000"/>
                        </a:lnSpc>
                        <a:spcAft>
                          <a:spcPts val="1000"/>
                        </a:spcAft>
                        <a:buNone/>
                      </a:pPr>
                      <a:r>
                        <a:rPr lang="en-IN" sz="2100">
                          <a:effectLst/>
                          <a:latin typeface="+mn-lt"/>
                        </a:rPr>
                        <a:t>R. San-Segundo, M. Gil-Martín, L. F. D’Haro-Enríquez, and J. M. Pardo - Classification of epileptic EEG recordings using signal transforms and convolutional neural networks</a:t>
                      </a:r>
                      <a:endParaRPr lang="en-IN" sz="2100">
                        <a:solidFill>
                          <a:srgbClr val="000000"/>
                        </a:solidFill>
                        <a:effectLst/>
                        <a:latin typeface="+mn-lt"/>
                        <a:ea typeface="Times New Roman" panose="02020603050405020304" pitchFamily="18" charset="0"/>
                        <a:cs typeface="Tunga" panose="020B0502040204020203" pitchFamily="34" charset="0"/>
                      </a:endParaRPr>
                    </a:p>
                  </a:txBody>
                  <a:tcPr marL="76248" marR="76248" marT="0" marB="0"/>
                </a:tc>
                <a:tc>
                  <a:txBody>
                    <a:bodyPr/>
                    <a:lstStyle/>
                    <a:p>
                      <a:pPr marL="0" marR="0" algn="just">
                        <a:lnSpc>
                          <a:spcPct val="150000"/>
                        </a:lnSpc>
                        <a:spcAft>
                          <a:spcPts val="1000"/>
                        </a:spcAft>
                        <a:buNone/>
                      </a:pPr>
                      <a:r>
                        <a:rPr lang="en-IN" sz="2100">
                          <a:effectLst/>
                          <a:latin typeface="+mn-lt"/>
                        </a:rPr>
                        <a:t>Achieves very high accuracy (~99.5%) using hybrid techniques. Combines signal transforms with deep learning effectively.</a:t>
                      </a:r>
                      <a:endParaRPr lang="en-IN" sz="2100">
                        <a:solidFill>
                          <a:srgbClr val="000000"/>
                        </a:solidFill>
                        <a:effectLst/>
                        <a:latin typeface="+mn-lt"/>
                        <a:ea typeface="Times New Roman" panose="02020603050405020304" pitchFamily="18" charset="0"/>
                        <a:cs typeface="Tunga" panose="020B0502040204020203" pitchFamily="34" charset="0"/>
                      </a:endParaRPr>
                    </a:p>
                  </a:txBody>
                  <a:tcPr marL="76248" marR="76248" marT="0" marB="0"/>
                </a:tc>
                <a:tc>
                  <a:txBody>
                    <a:bodyPr/>
                    <a:lstStyle/>
                    <a:p>
                      <a:pPr marL="0" marR="0" algn="just">
                        <a:lnSpc>
                          <a:spcPct val="150000"/>
                        </a:lnSpc>
                        <a:spcAft>
                          <a:spcPts val="1000"/>
                        </a:spcAft>
                        <a:buNone/>
                      </a:pPr>
                      <a:r>
                        <a:rPr lang="en-IN" sz="2100" dirty="0">
                          <a:effectLst/>
                          <a:latin typeface="+mn-lt"/>
                        </a:rPr>
                        <a:t>Strong dependence on preprocessing techniques. Performance varies based on transform quality.</a:t>
                      </a:r>
                      <a:endParaRPr lang="en-IN" sz="2100" dirty="0">
                        <a:solidFill>
                          <a:srgbClr val="000000"/>
                        </a:solidFill>
                        <a:effectLst/>
                        <a:latin typeface="+mn-lt"/>
                        <a:ea typeface="Times New Roman" panose="02020603050405020304" pitchFamily="18" charset="0"/>
                        <a:cs typeface="Tunga" panose="020B0502040204020203" pitchFamily="34" charset="0"/>
                      </a:endParaRPr>
                    </a:p>
                  </a:txBody>
                  <a:tcPr marL="76248" marR="76248" marT="0" marB="0"/>
                </a:tc>
                <a:extLst>
                  <a:ext uri="{0D108BD9-81ED-4DB2-BD59-A6C34878D82A}">
                    <a16:rowId xmlns:a16="http://schemas.microsoft.com/office/drawing/2014/main" val="3733505504"/>
                  </a:ext>
                </a:extLst>
              </a:tr>
              <a:tr h="1870616">
                <a:tc>
                  <a:txBody>
                    <a:bodyPr/>
                    <a:lstStyle/>
                    <a:p>
                      <a:pPr marL="0" marR="0" algn="just">
                        <a:lnSpc>
                          <a:spcPct val="150000"/>
                        </a:lnSpc>
                        <a:spcAft>
                          <a:spcPts val="1000"/>
                        </a:spcAft>
                        <a:buNone/>
                      </a:pPr>
                      <a:r>
                        <a:rPr lang="en-IN" sz="2100">
                          <a:effectLst/>
                          <a:latin typeface="+mn-lt"/>
                        </a:rPr>
                        <a:t>14</a:t>
                      </a:r>
                      <a:endParaRPr lang="en-IN" sz="2100">
                        <a:solidFill>
                          <a:srgbClr val="000000"/>
                        </a:solidFill>
                        <a:effectLst/>
                        <a:latin typeface="+mn-lt"/>
                        <a:ea typeface="Times New Roman" panose="02020603050405020304" pitchFamily="18" charset="0"/>
                        <a:cs typeface="Tunga" panose="020B0502040204020203" pitchFamily="34" charset="0"/>
                      </a:endParaRPr>
                    </a:p>
                  </a:txBody>
                  <a:tcPr marL="76248" marR="76248" marT="0" marB="0"/>
                </a:tc>
                <a:tc>
                  <a:txBody>
                    <a:bodyPr/>
                    <a:lstStyle/>
                    <a:p>
                      <a:pPr marL="0" marR="0" algn="just">
                        <a:lnSpc>
                          <a:spcPct val="150000"/>
                        </a:lnSpc>
                        <a:spcAft>
                          <a:spcPts val="1000"/>
                        </a:spcAft>
                        <a:buNone/>
                      </a:pPr>
                      <a:r>
                        <a:rPr lang="en-IN" sz="2100">
                          <a:effectLst/>
                          <a:latin typeface="+mn-lt"/>
                        </a:rPr>
                        <a:t>Y. Wang, Y. Shi, Z. He, Z. Chen, and Y. Zhou - Combining temporal and spatial attention for seizure prediction</a:t>
                      </a:r>
                      <a:endParaRPr lang="en-IN" sz="2100">
                        <a:solidFill>
                          <a:srgbClr val="000000"/>
                        </a:solidFill>
                        <a:effectLst/>
                        <a:latin typeface="+mn-lt"/>
                        <a:ea typeface="Times New Roman" panose="02020603050405020304" pitchFamily="18" charset="0"/>
                        <a:cs typeface="Tunga" panose="020B0502040204020203" pitchFamily="34" charset="0"/>
                      </a:endParaRPr>
                    </a:p>
                  </a:txBody>
                  <a:tcPr marL="76248" marR="76248" marT="0" marB="0"/>
                </a:tc>
                <a:tc>
                  <a:txBody>
                    <a:bodyPr/>
                    <a:lstStyle/>
                    <a:p>
                      <a:pPr marL="0" marR="0" algn="just">
                        <a:lnSpc>
                          <a:spcPct val="150000"/>
                        </a:lnSpc>
                        <a:spcAft>
                          <a:spcPts val="1000"/>
                        </a:spcAft>
                        <a:buNone/>
                      </a:pPr>
                      <a:r>
                        <a:rPr lang="en-IN" sz="2100">
                          <a:effectLst/>
                          <a:latin typeface="+mn-lt"/>
                        </a:rPr>
                        <a:t>Captures both spatial and temporal dependencies in EEG data. Achieves high accuracy (98.25%) with very low false positives.</a:t>
                      </a:r>
                      <a:endParaRPr lang="en-IN" sz="2100">
                        <a:solidFill>
                          <a:srgbClr val="000000"/>
                        </a:solidFill>
                        <a:effectLst/>
                        <a:latin typeface="+mn-lt"/>
                        <a:ea typeface="Times New Roman" panose="02020603050405020304" pitchFamily="18" charset="0"/>
                        <a:cs typeface="Tunga" panose="020B0502040204020203" pitchFamily="34" charset="0"/>
                      </a:endParaRPr>
                    </a:p>
                  </a:txBody>
                  <a:tcPr marL="76248" marR="76248" marT="0" marB="0"/>
                </a:tc>
                <a:tc>
                  <a:txBody>
                    <a:bodyPr/>
                    <a:lstStyle/>
                    <a:p>
                      <a:pPr marL="0" marR="0" algn="just">
                        <a:lnSpc>
                          <a:spcPct val="150000"/>
                        </a:lnSpc>
                        <a:spcAft>
                          <a:spcPts val="1000"/>
                        </a:spcAft>
                        <a:buNone/>
                      </a:pPr>
                      <a:r>
                        <a:rPr lang="en-IN" sz="2100" dirty="0">
                          <a:effectLst/>
                          <a:latin typeface="+mn-lt"/>
                        </a:rPr>
                        <a:t>Model complexity is high due to combined architectures. Requires structured multi-channel EEG data.</a:t>
                      </a:r>
                      <a:endParaRPr lang="en-IN" sz="2100" dirty="0">
                        <a:solidFill>
                          <a:srgbClr val="000000"/>
                        </a:solidFill>
                        <a:effectLst/>
                        <a:latin typeface="+mn-lt"/>
                        <a:ea typeface="Times New Roman" panose="02020603050405020304" pitchFamily="18" charset="0"/>
                        <a:cs typeface="Tunga" panose="020B0502040204020203" pitchFamily="34" charset="0"/>
                      </a:endParaRPr>
                    </a:p>
                  </a:txBody>
                  <a:tcPr marL="76248" marR="76248" marT="0" marB="0"/>
                </a:tc>
                <a:extLst>
                  <a:ext uri="{0D108BD9-81ED-4DB2-BD59-A6C34878D82A}">
                    <a16:rowId xmlns:a16="http://schemas.microsoft.com/office/drawing/2014/main" val="223680537"/>
                  </a:ext>
                </a:extLst>
              </a:tr>
            </a:tbl>
          </a:graphicData>
        </a:graphic>
      </p:graphicFrame>
    </p:spTree>
    <p:extLst>
      <p:ext uri="{BB962C8B-B14F-4D97-AF65-F5344CB8AC3E}">
        <p14:creationId xmlns:p14="http://schemas.microsoft.com/office/powerpoint/2010/main" val="2986126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CC03ED9-2537-1182-5E26-AA25E53C2930}"/>
              </a:ext>
            </a:extLst>
          </p:cNvPr>
          <p:cNvGraphicFramePr>
            <a:graphicFrameLocks noGrp="1"/>
          </p:cNvGraphicFramePr>
          <p:nvPr/>
        </p:nvGraphicFramePr>
        <p:xfrm>
          <a:off x="1480009" y="33714"/>
          <a:ext cx="15327984" cy="10253472"/>
        </p:xfrm>
        <a:graphic>
          <a:graphicData uri="http://schemas.openxmlformats.org/drawingml/2006/table">
            <a:tbl>
              <a:tblPr bandRow="1">
                <a:tableStyleId>{616DA210-FB5B-4158-B5E0-FEB733F419BA}</a:tableStyleId>
              </a:tblPr>
              <a:tblGrid>
                <a:gridCol w="947394">
                  <a:extLst>
                    <a:ext uri="{9D8B030D-6E8A-4147-A177-3AD203B41FA5}">
                      <a16:colId xmlns:a16="http://schemas.microsoft.com/office/drawing/2014/main" val="3861301479"/>
                    </a:ext>
                  </a:extLst>
                </a:gridCol>
                <a:gridCol w="5161175">
                  <a:extLst>
                    <a:ext uri="{9D8B030D-6E8A-4147-A177-3AD203B41FA5}">
                      <a16:colId xmlns:a16="http://schemas.microsoft.com/office/drawing/2014/main" val="127158098"/>
                    </a:ext>
                  </a:extLst>
                </a:gridCol>
                <a:gridCol w="4666268">
                  <a:extLst>
                    <a:ext uri="{9D8B030D-6E8A-4147-A177-3AD203B41FA5}">
                      <a16:colId xmlns:a16="http://schemas.microsoft.com/office/drawing/2014/main" val="2549330279"/>
                    </a:ext>
                  </a:extLst>
                </a:gridCol>
                <a:gridCol w="4553147">
                  <a:extLst>
                    <a:ext uri="{9D8B030D-6E8A-4147-A177-3AD203B41FA5}">
                      <a16:colId xmlns:a16="http://schemas.microsoft.com/office/drawing/2014/main" val="2105090220"/>
                    </a:ext>
                  </a:extLst>
                </a:gridCol>
              </a:tblGrid>
              <a:tr h="1388841">
                <a:tc>
                  <a:txBody>
                    <a:bodyPr/>
                    <a:lstStyle/>
                    <a:p>
                      <a:pPr marL="0" marR="0" algn="just">
                        <a:lnSpc>
                          <a:spcPct val="150000"/>
                        </a:lnSpc>
                        <a:spcAft>
                          <a:spcPts val="1000"/>
                        </a:spcAft>
                        <a:buNone/>
                      </a:pPr>
                      <a:r>
                        <a:rPr lang="en-IN" sz="2100" dirty="0">
                          <a:effectLst/>
                        </a:rPr>
                        <a:t>15</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tc>
                <a:tc>
                  <a:txBody>
                    <a:bodyPr/>
                    <a:lstStyle/>
                    <a:p>
                      <a:pPr marL="0" marR="0" algn="just">
                        <a:lnSpc>
                          <a:spcPct val="150000"/>
                        </a:lnSpc>
                        <a:spcAft>
                          <a:spcPts val="1000"/>
                        </a:spcAft>
                        <a:buNone/>
                      </a:pPr>
                      <a:r>
                        <a:rPr lang="en-IN" sz="2100" dirty="0">
                          <a:effectLst/>
                        </a:rPr>
                        <a:t>L. Bai, G. Litscher, and X. Li - Epileptic Seizure Detection Using Machine Learning: A Systematic Review and Meta-Analysis</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tc>
                <a:tc>
                  <a:txBody>
                    <a:bodyPr/>
                    <a:lstStyle/>
                    <a:p>
                      <a:pPr marL="0" marR="0" algn="just">
                        <a:lnSpc>
                          <a:spcPct val="150000"/>
                        </a:lnSpc>
                        <a:spcAft>
                          <a:spcPts val="1000"/>
                        </a:spcAft>
                        <a:buNone/>
                      </a:pPr>
                      <a:r>
                        <a:rPr lang="en-IN" sz="2100">
                          <a:effectLst/>
                        </a:rPr>
                        <a:t>Improves performance through model fusion techniques. Achieves good accuracy (~96.17%).</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tc>
                <a:tc>
                  <a:txBody>
                    <a:bodyPr/>
                    <a:lstStyle/>
                    <a:p>
                      <a:pPr marL="0" marR="0" algn="just">
                        <a:lnSpc>
                          <a:spcPct val="150000"/>
                        </a:lnSpc>
                        <a:spcAft>
                          <a:spcPts val="1000"/>
                        </a:spcAft>
                        <a:buNone/>
                      </a:pPr>
                      <a:r>
                        <a:rPr lang="en-IN" sz="2100" dirty="0">
                          <a:effectLst/>
                        </a:rPr>
                        <a:t>Ensemble increases model complexity. Generalization analysis is limited.</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tc>
                <a:extLst>
                  <a:ext uri="{0D108BD9-81ED-4DB2-BD59-A6C34878D82A}">
                    <a16:rowId xmlns:a16="http://schemas.microsoft.com/office/drawing/2014/main" val="593183952"/>
                  </a:ext>
                </a:extLst>
              </a:tr>
              <a:tr h="1868901">
                <a:tc>
                  <a:txBody>
                    <a:bodyPr/>
                    <a:lstStyle/>
                    <a:p>
                      <a:pPr marL="0" marR="0" algn="just">
                        <a:lnSpc>
                          <a:spcPct val="150000"/>
                        </a:lnSpc>
                        <a:spcAft>
                          <a:spcPts val="1000"/>
                        </a:spcAft>
                        <a:buNone/>
                      </a:pPr>
                      <a:r>
                        <a:rPr lang="en-IN" sz="2100">
                          <a:effectLst/>
                        </a:rPr>
                        <a:t>16</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tc>
                <a:tc>
                  <a:txBody>
                    <a:bodyPr/>
                    <a:lstStyle/>
                    <a:p>
                      <a:pPr marL="0" marR="0" algn="just">
                        <a:lnSpc>
                          <a:spcPct val="150000"/>
                        </a:lnSpc>
                        <a:spcAft>
                          <a:spcPts val="1000"/>
                        </a:spcAft>
                        <a:buNone/>
                      </a:pPr>
                      <a:r>
                        <a:rPr lang="en-IN" sz="2100" dirty="0">
                          <a:effectLst/>
                        </a:rPr>
                        <a:t>I. Jemal, L. Abou-Abbas, Khadidja Henni, Amar </a:t>
                      </a:r>
                      <a:r>
                        <a:rPr lang="en-IN" sz="2100" dirty="0" err="1">
                          <a:effectLst/>
                        </a:rPr>
                        <a:t>Mitiche</a:t>
                      </a:r>
                      <a:r>
                        <a:rPr lang="en-IN" sz="2100" dirty="0">
                          <a:effectLst/>
                        </a:rPr>
                        <a:t>, and Neila </a:t>
                      </a:r>
                      <a:r>
                        <a:rPr lang="en-IN" sz="2100" dirty="0" err="1">
                          <a:effectLst/>
                        </a:rPr>
                        <a:t>Mezghani</a:t>
                      </a:r>
                      <a:r>
                        <a:rPr lang="en-IN" sz="2100" dirty="0">
                          <a:effectLst/>
                        </a:rPr>
                        <a:t> - Domain adaptation for EEG-based, cross-subject epileptic seizure prediction</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tc>
                <a:tc>
                  <a:txBody>
                    <a:bodyPr/>
                    <a:lstStyle/>
                    <a:p>
                      <a:pPr marL="0" marR="0" algn="just">
                        <a:lnSpc>
                          <a:spcPct val="150000"/>
                        </a:lnSpc>
                        <a:spcAft>
                          <a:spcPts val="1000"/>
                        </a:spcAft>
                        <a:buNone/>
                      </a:pPr>
                      <a:r>
                        <a:rPr lang="en-IN" sz="2100">
                          <a:effectLst/>
                        </a:rPr>
                        <a:t>Improves generalization across different patients. Achieves ~10% accuracy improvement.</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tc>
                <a:tc>
                  <a:txBody>
                    <a:bodyPr/>
                    <a:lstStyle/>
                    <a:p>
                      <a:pPr marL="0" marR="0" algn="just">
                        <a:lnSpc>
                          <a:spcPct val="150000"/>
                        </a:lnSpc>
                        <a:spcAft>
                          <a:spcPts val="1000"/>
                        </a:spcAft>
                        <a:buNone/>
                      </a:pPr>
                      <a:r>
                        <a:rPr lang="en-IN" sz="2100" dirty="0">
                          <a:effectLst/>
                        </a:rPr>
                        <a:t>Still affected by domain shift issues. Requires large multi-patient datasets.</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tc>
                <a:extLst>
                  <a:ext uri="{0D108BD9-81ED-4DB2-BD59-A6C34878D82A}">
                    <a16:rowId xmlns:a16="http://schemas.microsoft.com/office/drawing/2014/main" val="4090872616"/>
                  </a:ext>
                </a:extLst>
              </a:tr>
              <a:tr h="1868901">
                <a:tc>
                  <a:txBody>
                    <a:bodyPr/>
                    <a:lstStyle/>
                    <a:p>
                      <a:pPr marL="0" marR="0" algn="just">
                        <a:lnSpc>
                          <a:spcPct val="150000"/>
                        </a:lnSpc>
                        <a:spcAft>
                          <a:spcPts val="1000"/>
                        </a:spcAft>
                        <a:buNone/>
                      </a:pPr>
                      <a:r>
                        <a:rPr lang="en-IN" sz="2100">
                          <a:effectLst/>
                        </a:rPr>
                        <a:t>17</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tc>
                <a:tc>
                  <a:txBody>
                    <a:bodyPr/>
                    <a:lstStyle/>
                    <a:p>
                      <a:pPr marL="0" marR="0" algn="just">
                        <a:lnSpc>
                          <a:spcPct val="150000"/>
                        </a:lnSpc>
                        <a:spcAft>
                          <a:spcPts val="1000"/>
                        </a:spcAft>
                        <a:buNone/>
                      </a:pPr>
                      <a:r>
                        <a:rPr lang="en-IN" sz="2100" dirty="0">
                          <a:effectLst/>
                        </a:rPr>
                        <a:t>B. Priya </a:t>
                      </a:r>
                      <a:r>
                        <a:rPr lang="en-IN" sz="2100" dirty="0" err="1">
                          <a:effectLst/>
                        </a:rPr>
                        <a:t>Prathaban</a:t>
                      </a:r>
                      <a:r>
                        <a:rPr lang="en-IN" sz="2100" dirty="0">
                          <a:effectLst/>
                        </a:rPr>
                        <a:t> and R. Balasubramanian - Dynamic learning framework for epileptic seizure prediction using sparsity based EEG Reconstruction with Optimized CNN classifier</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tc>
                <a:tc>
                  <a:txBody>
                    <a:bodyPr/>
                    <a:lstStyle/>
                    <a:p>
                      <a:pPr marL="0" marR="0" algn="just">
                        <a:lnSpc>
                          <a:spcPct val="150000"/>
                        </a:lnSpc>
                        <a:spcAft>
                          <a:spcPts val="1000"/>
                        </a:spcAft>
                        <a:buNone/>
                      </a:pPr>
                      <a:r>
                        <a:rPr lang="en-IN" sz="2100" dirty="0">
                          <a:effectLst/>
                        </a:rPr>
                        <a:t>Provides high performance (~98% accuracy) and early prediction (~1.1 hr prior). Reduces false positives significantly.</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tc>
                <a:tc>
                  <a:txBody>
                    <a:bodyPr/>
                    <a:lstStyle/>
                    <a:p>
                      <a:pPr marL="0" marR="0" algn="just">
                        <a:lnSpc>
                          <a:spcPct val="150000"/>
                        </a:lnSpc>
                        <a:spcAft>
                          <a:spcPts val="1000"/>
                        </a:spcAft>
                        <a:buNone/>
                      </a:pPr>
                      <a:r>
                        <a:rPr lang="en-IN" sz="2100" dirty="0">
                          <a:effectLst/>
                        </a:rPr>
                        <a:t>Pipeline is complex with multiple stages. Computational cost is high due to processing steps.</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tc>
                <a:extLst>
                  <a:ext uri="{0D108BD9-81ED-4DB2-BD59-A6C34878D82A}">
                    <a16:rowId xmlns:a16="http://schemas.microsoft.com/office/drawing/2014/main" val="3081873428"/>
                  </a:ext>
                </a:extLst>
              </a:tr>
              <a:tr h="1868901">
                <a:tc>
                  <a:txBody>
                    <a:bodyPr/>
                    <a:lstStyle/>
                    <a:p>
                      <a:pPr marL="0" marR="0" algn="just">
                        <a:lnSpc>
                          <a:spcPct val="150000"/>
                        </a:lnSpc>
                        <a:spcAft>
                          <a:spcPts val="1000"/>
                        </a:spcAft>
                        <a:buNone/>
                      </a:pPr>
                      <a:r>
                        <a:rPr lang="en-IN" sz="2100">
                          <a:effectLst/>
                        </a:rPr>
                        <a:t>18</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tc>
                <a:tc>
                  <a:txBody>
                    <a:bodyPr/>
                    <a:lstStyle/>
                    <a:p>
                      <a:pPr marL="0" marR="0" algn="just">
                        <a:lnSpc>
                          <a:spcPct val="150000"/>
                        </a:lnSpc>
                        <a:spcAft>
                          <a:spcPts val="1000"/>
                        </a:spcAft>
                        <a:buNone/>
                      </a:pPr>
                      <a:r>
                        <a:rPr lang="en-IN" sz="2100">
                          <a:effectLst/>
                        </a:rPr>
                        <a:t>S. Raghu, N. Sriraam, Y. Temel, S. V. Rao, and P. L. Kubben - EEG based multi-class seizure type classification using convolutional neural network and transfer learning</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tc>
                <a:tc>
                  <a:txBody>
                    <a:bodyPr/>
                    <a:lstStyle/>
                    <a:p>
                      <a:pPr marL="0" marR="0" algn="just">
                        <a:lnSpc>
                          <a:spcPct val="150000"/>
                        </a:lnSpc>
                        <a:spcAft>
                          <a:spcPts val="1000"/>
                        </a:spcAft>
                        <a:buNone/>
                      </a:pPr>
                      <a:r>
                        <a:rPr lang="en-IN" sz="2100" dirty="0">
                          <a:effectLst/>
                        </a:rPr>
                        <a:t>Enables effective multi-class classification using pretrained models like </a:t>
                      </a:r>
                      <a:r>
                        <a:rPr lang="en-IN" sz="2100" dirty="0" err="1">
                          <a:effectLst/>
                        </a:rPr>
                        <a:t>AlexNet</a:t>
                      </a:r>
                      <a:r>
                        <a:rPr lang="en-IN" sz="2100" dirty="0">
                          <a:effectLst/>
                        </a:rPr>
                        <a:t> and InceptionV3. Improves learning efficiency through transfer learning techniques.</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tc>
                <a:tc>
                  <a:txBody>
                    <a:bodyPr/>
                    <a:lstStyle/>
                    <a:p>
                      <a:pPr marL="0" marR="0" algn="just">
                        <a:lnSpc>
                          <a:spcPct val="150000"/>
                        </a:lnSpc>
                        <a:spcAft>
                          <a:spcPts val="1000"/>
                        </a:spcAft>
                        <a:buNone/>
                      </a:pPr>
                      <a:r>
                        <a:rPr lang="en-IN" sz="2100" dirty="0">
                          <a:effectLst/>
                        </a:rPr>
                        <a:t>Achieves only moderate accuracy (~88%) compared to advanced models. Requires spectrogram conversion which adds preprocessing complexity.</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tc>
                <a:extLst>
                  <a:ext uri="{0D108BD9-81ED-4DB2-BD59-A6C34878D82A}">
                    <a16:rowId xmlns:a16="http://schemas.microsoft.com/office/drawing/2014/main" val="3194480942"/>
                  </a:ext>
                </a:extLst>
              </a:tr>
              <a:tr h="1388841">
                <a:tc>
                  <a:txBody>
                    <a:bodyPr/>
                    <a:lstStyle/>
                    <a:p>
                      <a:pPr marL="0" marR="0" algn="just">
                        <a:lnSpc>
                          <a:spcPct val="150000"/>
                        </a:lnSpc>
                        <a:spcAft>
                          <a:spcPts val="1000"/>
                        </a:spcAft>
                        <a:buNone/>
                      </a:pPr>
                      <a:r>
                        <a:rPr lang="en-IN" sz="2100">
                          <a:effectLst/>
                        </a:rPr>
                        <a:t>19</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tc>
                <a:tc>
                  <a:txBody>
                    <a:bodyPr/>
                    <a:lstStyle/>
                    <a:p>
                      <a:pPr marL="0" marR="0" algn="just">
                        <a:lnSpc>
                          <a:spcPct val="150000"/>
                        </a:lnSpc>
                        <a:spcAft>
                          <a:spcPts val="1000"/>
                        </a:spcAft>
                        <a:buNone/>
                      </a:pPr>
                      <a:r>
                        <a:rPr lang="en-IN" sz="2100">
                          <a:effectLst/>
                        </a:rPr>
                        <a:t>S. Wong et al. - EEG datasets for seizure detection and prediction— A review</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tc>
                <a:tc>
                  <a:txBody>
                    <a:bodyPr/>
                    <a:lstStyle/>
                    <a:p>
                      <a:pPr marL="0" marR="0" algn="just">
                        <a:lnSpc>
                          <a:spcPct val="150000"/>
                        </a:lnSpc>
                        <a:spcAft>
                          <a:spcPts val="1000"/>
                        </a:spcAft>
                        <a:buNone/>
                      </a:pPr>
                      <a:r>
                        <a:rPr lang="en-IN" sz="2100" dirty="0">
                          <a:effectLst/>
                        </a:rPr>
                        <a:t>Improves dataset selection and enhances reproducibility in research. Provides useful insights into ML pipeline design.</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tc>
                <a:tc>
                  <a:txBody>
                    <a:bodyPr/>
                    <a:lstStyle/>
                    <a:p>
                      <a:pPr marL="0" marR="0" algn="just">
                        <a:lnSpc>
                          <a:spcPct val="150000"/>
                        </a:lnSpc>
                        <a:spcAft>
                          <a:spcPts val="1000"/>
                        </a:spcAft>
                        <a:buNone/>
                      </a:pPr>
                      <a:r>
                        <a:rPr lang="en-IN" sz="2100" dirty="0">
                          <a:effectLst/>
                        </a:rPr>
                        <a:t>Does not include experimental validation of methods. Relies entirely on existing studies and datasets.</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2090" marR="62090" marT="0" marB="0"/>
                </a:tc>
                <a:extLst>
                  <a:ext uri="{0D108BD9-81ED-4DB2-BD59-A6C34878D82A}">
                    <a16:rowId xmlns:a16="http://schemas.microsoft.com/office/drawing/2014/main" val="943579653"/>
                  </a:ext>
                </a:extLst>
              </a:tr>
              <a:tr h="1868901">
                <a:tc>
                  <a:txBody>
                    <a:bodyPr/>
                    <a:lstStyle/>
                    <a:p>
                      <a:pPr marL="0" marR="0" algn="just">
                        <a:lnSpc>
                          <a:spcPct val="150000"/>
                        </a:lnSpc>
                        <a:spcAft>
                          <a:spcPts val="1000"/>
                        </a:spcAft>
                        <a:buNone/>
                      </a:pPr>
                      <a:r>
                        <a:rPr lang="en-US" sz="2100" dirty="0">
                          <a:solidFill>
                            <a:srgbClr val="000000"/>
                          </a:solidFill>
                          <a:effectLst/>
                        </a:rPr>
                        <a:t>2</a:t>
                      </a:r>
                      <a:r>
                        <a:rPr lang="en-IN" sz="2100" dirty="0">
                          <a:solidFill>
                            <a:srgbClr val="000000"/>
                          </a:solidFill>
                          <a:effectLst/>
                        </a:rPr>
                        <a:t>0</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102870" marR="102870" marT="0" marB="0"/>
                </a:tc>
                <a:tc>
                  <a:txBody>
                    <a:bodyPr/>
                    <a:lstStyle/>
                    <a:p>
                      <a:pPr marL="0" marR="0" algn="just">
                        <a:lnSpc>
                          <a:spcPct val="150000"/>
                        </a:lnSpc>
                        <a:spcAft>
                          <a:spcPts val="1000"/>
                        </a:spcAft>
                        <a:buNone/>
                      </a:pPr>
                      <a:r>
                        <a:rPr lang="en-IN" sz="2100">
                          <a:solidFill>
                            <a:srgbClr val="000000"/>
                          </a:solidFill>
                          <a:effectLst/>
                        </a:rPr>
                        <a:t>A. A. Ein Shoka, M. M. Dessouky, A. El-Sayed, and E. E.-D. Hemdan - EEG seizure detection: concepts, techniques, challenges, and future trends</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102870" marR="102870" marT="0" marB="0"/>
                </a:tc>
                <a:tc>
                  <a:txBody>
                    <a:bodyPr/>
                    <a:lstStyle/>
                    <a:p>
                      <a:pPr marL="0" marR="0" algn="just">
                        <a:lnSpc>
                          <a:spcPct val="150000"/>
                        </a:lnSpc>
                        <a:spcAft>
                          <a:spcPts val="1000"/>
                        </a:spcAft>
                        <a:buNone/>
                      </a:pPr>
                      <a:r>
                        <a:rPr lang="en-IN" sz="2100">
                          <a:solidFill>
                            <a:srgbClr val="000000"/>
                          </a:solidFill>
                          <a:effectLst/>
                        </a:rPr>
                        <a:t>Offers a comprehensive overview of detection pipelines and techniques. Identifies key challenges and future research directions.</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102870" marR="102870" marT="0" marB="0"/>
                </a:tc>
                <a:tc>
                  <a:txBody>
                    <a:bodyPr/>
                    <a:lstStyle/>
                    <a:p>
                      <a:pPr marL="0" marR="0" algn="just">
                        <a:lnSpc>
                          <a:spcPct val="150000"/>
                        </a:lnSpc>
                        <a:spcAft>
                          <a:spcPts val="1000"/>
                        </a:spcAft>
                        <a:buNone/>
                      </a:pPr>
                      <a:r>
                        <a:rPr lang="en-IN" sz="2100" dirty="0">
                          <a:solidFill>
                            <a:srgbClr val="000000"/>
                          </a:solidFill>
                          <a:effectLst/>
                        </a:rPr>
                        <a:t>Lacks quantitative benchmarking for comparison. Does not provide experimental performance results.</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102870" marR="102870" marT="0" marB="0"/>
                </a:tc>
                <a:extLst>
                  <a:ext uri="{0D108BD9-81ED-4DB2-BD59-A6C34878D82A}">
                    <a16:rowId xmlns:a16="http://schemas.microsoft.com/office/drawing/2014/main" val="3442230943"/>
                  </a:ext>
                </a:extLst>
              </a:tr>
            </a:tbl>
          </a:graphicData>
        </a:graphic>
      </p:graphicFrame>
    </p:spTree>
    <p:extLst>
      <p:ext uri="{BB962C8B-B14F-4D97-AF65-F5344CB8AC3E}">
        <p14:creationId xmlns:p14="http://schemas.microsoft.com/office/powerpoint/2010/main" val="1949482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0EA6F27-4AF7-BCC3-3EC9-3D960F192318}"/>
              </a:ext>
            </a:extLst>
          </p:cNvPr>
          <p:cNvGraphicFramePr>
            <a:graphicFrameLocks noGrp="1"/>
          </p:cNvGraphicFramePr>
          <p:nvPr/>
        </p:nvGraphicFramePr>
        <p:xfrm>
          <a:off x="1515359" y="496917"/>
          <a:ext cx="15257283" cy="9293352"/>
        </p:xfrm>
        <a:graphic>
          <a:graphicData uri="http://schemas.openxmlformats.org/drawingml/2006/table">
            <a:tbl>
              <a:tblPr bandRow="1">
                <a:tableStyleId>{616DA210-FB5B-4158-B5E0-FEB733F419BA}</a:tableStyleId>
              </a:tblPr>
              <a:tblGrid>
                <a:gridCol w="933254">
                  <a:extLst>
                    <a:ext uri="{9D8B030D-6E8A-4147-A177-3AD203B41FA5}">
                      <a16:colId xmlns:a16="http://schemas.microsoft.com/office/drawing/2014/main" val="822271968"/>
                    </a:ext>
                  </a:extLst>
                </a:gridCol>
                <a:gridCol w="5302577">
                  <a:extLst>
                    <a:ext uri="{9D8B030D-6E8A-4147-A177-3AD203B41FA5}">
                      <a16:colId xmlns:a16="http://schemas.microsoft.com/office/drawing/2014/main" val="1437616785"/>
                    </a:ext>
                  </a:extLst>
                </a:gridCol>
                <a:gridCol w="4723865">
                  <a:extLst>
                    <a:ext uri="{9D8B030D-6E8A-4147-A177-3AD203B41FA5}">
                      <a16:colId xmlns:a16="http://schemas.microsoft.com/office/drawing/2014/main" val="2750511826"/>
                    </a:ext>
                  </a:extLst>
                </a:gridCol>
                <a:gridCol w="4297587">
                  <a:extLst>
                    <a:ext uri="{9D8B030D-6E8A-4147-A177-3AD203B41FA5}">
                      <a16:colId xmlns:a16="http://schemas.microsoft.com/office/drawing/2014/main" val="3673034174"/>
                    </a:ext>
                  </a:extLst>
                </a:gridCol>
              </a:tblGrid>
              <a:tr h="1868901">
                <a:tc>
                  <a:txBody>
                    <a:bodyPr/>
                    <a:lstStyle/>
                    <a:p>
                      <a:pPr marL="0" marR="0" algn="just">
                        <a:lnSpc>
                          <a:spcPct val="150000"/>
                        </a:lnSpc>
                        <a:spcAft>
                          <a:spcPts val="1000"/>
                        </a:spcAft>
                        <a:buNone/>
                      </a:pPr>
                      <a:r>
                        <a:rPr lang="en-IN" sz="2100" dirty="0">
                          <a:effectLst/>
                        </a:rPr>
                        <a:t>21</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88680" marR="88680" marT="0" marB="0"/>
                </a:tc>
                <a:tc>
                  <a:txBody>
                    <a:bodyPr/>
                    <a:lstStyle/>
                    <a:p>
                      <a:pPr marL="0" marR="0" algn="just">
                        <a:lnSpc>
                          <a:spcPct val="150000"/>
                        </a:lnSpc>
                        <a:spcAft>
                          <a:spcPts val="1000"/>
                        </a:spcAft>
                        <a:buNone/>
                      </a:pPr>
                      <a:r>
                        <a:rPr lang="en-IN" sz="2100">
                          <a:effectLst/>
                        </a:rPr>
                        <a:t>W. Cao, Q. Li, A. Zhang, and T. Wang - Efficient and Accurate Epilepsy Seizure Prediction and Detection Based on Multi-Teacher Knowledge Distillation RGF-Model</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88680" marR="88680" marT="0" marB="0"/>
                </a:tc>
                <a:tc>
                  <a:txBody>
                    <a:bodyPr/>
                    <a:lstStyle/>
                    <a:p>
                      <a:pPr marL="0" marR="0" algn="just">
                        <a:lnSpc>
                          <a:spcPct val="150000"/>
                        </a:lnSpc>
                        <a:spcAft>
                          <a:spcPts val="1000"/>
                        </a:spcAft>
                        <a:buNone/>
                      </a:pPr>
                      <a:r>
                        <a:rPr lang="en-IN" sz="2100">
                          <a:effectLst/>
                        </a:rPr>
                        <a:t>Achieves very high accuracy (99%+) with lightweight and real-time capability. Efficiently transfers knowledge across models.</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88680" marR="88680" marT="0" marB="0"/>
                </a:tc>
                <a:tc>
                  <a:txBody>
                    <a:bodyPr/>
                    <a:lstStyle/>
                    <a:p>
                      <a:pPr marL="0" marR="0" algn="just">
                        <a:lnSpc>
                          <a:spcPct val="150000"/>
                        </a:lnSpc>
                        <a:spcAft>
                          <a:spcPts val="1000"/>
                        </a:spcAft>
                        <a:buNone/>
                      </a:pPr>
                      <a:r>
                        <a:rPr lang="en-IN" sz="2100" dirty="0">
                          <a:effectLst/>
                        </a:rPr>
                        <a:t>Architecture is complex and difficult to design. Implementation may require careful tuning and optimization.</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88680" marR="88680" marT="0" marB="0"/>
                </a:tc>
                <a:extLst>
                  <a:ext uri="{0D108BD9-81ED-4DB2-BD59-A6C34878D82A}">
                    <a16:rowId xmlns:a16="http://schemas.microsoft.com/office/drawing/2014/main" val="2233087765"/>
                  </a:ext>
                </a:extLst>
              </a:tr>
              <a:tr h="1868901">
                <a:tc>
                  <a:txBody>
                    <a:bodyPr/>
                    <a:lstStyle/>
                    <a:p>
                      <a:pPr marL="0" marR="0" algn="just">
                        <a:lnSpc>
                          <a:spcPct val="150000"/>
                        </a:lnSpc>
                        <a:spcAft>
                          <a:spcPts val="1000"/>
                        </a:spcAft>
                        <a:buNone/>
                      </a:pPr>
                      <a:r>
                        <a:rPr lang="en-IN" sz="2100">
                          <a:effectLst/>
                        </a:rPr>
                        <a:t>22</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88680" marR="88680" marT="0" marB="0"/>
                </a:tc>
                <a:tc>
                  <a:txBody>
                    <a:bodyPr/>
                    <a:lstStyle/>
                    <a:p>
                      <a:pPr marL="0" marR="0" algn="just">
                        <a:lnSpc>
                          <a:spcPct val="150000"/>
                        </a:lnSpc>
                        <a:spcAft>
                          <a:spcPts val="1000"/>
                        </a:spcAft>
                        <a:buNone/>
                      </a:pPr>
                      <a:r>
                        <a:rPr lang="en-IN" sz="2100">
                          <a:effectLst/>
                        </a:rPr>
                        <a:t>N. McCallan et al. - Epileptic multi-seizure type classification using electroencephalogram signals from the Temple University Hospital Seizure Corpus: A review</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88680" marR="88680" marT="0" marB="0"/>
                </a:tc>
                <a:tc>
                  <a:txBody>
                    <a:bodyPr/>
                    <a:lstStyle/>
                    <a:p>
                      <a:pPr marL="0" marR="0" algn="just">
                        <a:lnSpc>
                          <a:spcPct val="150000"/>
                        </a:lnSpc>
                        <a:spcAft>
                          <a:spcPts val="1000"/>
                        </a:spcAft>
                        <a:buNone/>
                      </a:pPr>
                      <a:r>
                        <a:rPr lang="en-IN" sz="2100">
                          <a:effectLst/>
                        </a:rPr>
                        <a:t>Highlights best-performing deep learning models for seizure classification. Provides comparative insights across multiple approaches.</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88680" marR="88680" marT="0" marB="0"/>
                </a:tc>
                <a:tc>
                  <a:txBody>
                    <a:bodyPr/>
                    <a:lstStyle/>
                    <a:p>
                      <a:pPr marL="0" marR="0" algn="just">
                        <a:lnSpc>
                          <a:spcPct val="150000"/>
                        </a:lnSpc>
                        <a:spcAft>
                          <a:spcPts val="1000"/>
                        </a:spcAft>
                        <a:buNone/>
                      </a:pPr>
                      <a:r>
                        <a:rPr lang="en-IN" sz="2100" dirty="0">
                          <a:effectLst/>
                        </a:rPr>
                        <a:t>Lacks standardization across studies and datasets. Results may not be directly comparable.</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88680" marR="88680" marT="0" marB="0"/>
                </a:tc>
                <a:extLst>
                  <a:ext uri="{0D108BD9-81ED-4DB2-BD59-A6C34878D82A}">
                    <a16:rowId xmlns:a16="http://schemas.microsoft.com/office/drawing/2014/main" val="305500094"/>
                  </a:ext>
                </a:extLst>
              </a:tr>
              <a:tr h="1388841">
                <a:tc>
                  <a:txBody>
                    <a:bodyPr/>
                    <a:lstStyle/>
                    <a:p>
                      <a:pPr marL="0" marR="0" algn="just">
                        <a:lnSpc>
                          <a:spcPct val="150000"/>
                        </a:lnSpc>
                        <a:spcAft>
                          <a:spcPts val="1000"/>
                        </a:spcAft>
                        <a:buNone/>
                      </a:pPr>
                      <a:r>
                        <a:rPr lang="en-IN" sz="2100">
                          <a:effectLst/>
                        </a:rPr>
                        <a:t>23</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88680" marR="88680" marT="0" marB="0"/>
                </a:tc>
                <a:tc>
                  <a:txBody>
                    <a:bodyPr/>
                    <a:lstStyle/>
                    <a:p>
                      <a:pPr marL="0" marR="0" algn="just">
                        <a:lnSpc>
                          <a:spcPct val="150000"/>
                        </a:lnSpc>
                        <a:spcAft>
                          <a:spcPts val="1000"/>
                        </a:spcAft>
                        <a:buNone/>
                      </a:pPr>
                      <a:r>
                        <a:rPr lang="en-IN" sz="2100">
                          <a:effectLst/>
                        </a:rPr>
                        <a:t>M. Zhou et al. - Epileptic Seizure Detection Based on EEG Signals and CNN</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88680" marR="88680" marT="0" marB="0"/>
                </a:tc>
                <a:tc>
                  <a:txBody>
                    <a:bodyPr/>
                    <a:lstStyle/>
                    <a:p>
                      <a:pPr marL="0" marR="0" algn="just">
                        <a:lnSpc>
                          <a:spcPct val="150000"/>
                        </a:lnSpc>
                        <a:spcAft>
                          <a:spcPts val="1000"/>
                        </a:spcAft>
                        <a:buNone/>
                      </a:pPr>
                      <a:r>
                        <a:rPr lang="en-IN" sz="2100">
                          <a:effectLst/>
                        </a:rPr>
                        <a:t>Achieves high accuracy (~97%) without manual feature extraction. Learns features directly from raw EEG signals.</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88680" marR="88680" marT="0" marB="0"/>
                </a:tc>
                <a:tc>
                  <a:txBody>
                    <a:bodyPr/>
                    <a:lstStyle/>
                    <a:p>
                      <a:pPr marL="0" marR="0" algn="just">
                        <a:lnSpc>
                          <a:spcPct val="150000"/>
                        </a:lnSpc>
                        <a:spcAft>
                          <a:spcPts val="1000"/>
                        </a:spcAft>
                        <a:buNone/>
                      </a:pPr>
                      <a:r>
                        <a:rPr lang="en-IN" sz="2100" dirty="0">
                          <a:effectLst/>
                        </a:rPr>
                        <a:t>Performance depends heavily on signal representation. Different domains may affect accuracy.</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88680" marR="88680" marT="0" marB="0"/>
                </a:tc>
                <a:extLst>
                  <a:ext uri="{0D108BD9-81ED-4DB2-BD59-A6C34878D82A}">
                    <a16:rowId xmlns:a16="http://schemas.microsoft.com/office/drawing/2014/main" val="1263144592"/>
                  </a:ext>
                </a:extLst>
              </a:tr>
              <a:tr h="1388841">
                <a:tc>
                  <a:txBody>
                    <a:bodyPr/>
                    <a:lstStyle/>
                    <a:p>
                      <a:pPr marL="0" marR="0" algn="just">
                        <a:lnSpc>
                          <a:spcPct val="150000"/>
                        </a:lnSpc>
                        <a:spcAft>
                          <a:spcPts val="1000"/>
                        </a:spcAft>
                        <a:buNone/>
                      </a:pPr>
                      <a:r>
                        <a:rPr lang="en-IN" sz="2100">
                          <a:effectLst/>
                        </a:rPr>
                        <a:t>24</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88680" marR="88680" marT="0" marB="0"/>
                </a:tc>
                <a:tc>
                  <a:txBody>
                    <a:bodyPr/>
                    <a:lstStyle/>
                    <a:p>
                      <a:pPr marL="0" marR="0" algn="just">
                        <a:lnSpc>
                          <a:spcPct val="150000"/>
                        </a:lnSpc>
                        <a:spcAft>
                          <a:spcPts val="1000"/>
                        </a:spcAft>
                        <a:buNone/>
                      </a:pPr>
                      <a:r>
                        <a:rPr lang="en-IN" sz="2100">
                          <a:effectLst/>
                        </a:rPr>
                        <a:t>A. T. Tzallas, M. G. Tsipouras, and D. I. Fotiadis - Epileptic Seizure Detection in EEGs Using Time–Frequency Analysis</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88680" marR="88680" marT="0" marB="0"/>
                </a:tc>
                <a:tc>
                  <a:txBody>
                    <a:bodyPr/>
                    <a:lstStyle/>
                    <a:p>
                      <a:pPr marL="0" marR="0" algn="just">
                        <a:lnSpc>
                          <a:spcPct val="150000"/>
                        </a:lnSpc>
                        <a:spcAft>
                          <a:spcPts val="1000"/>
                        </a:spcAft>
                        <a:buNone/>
                      </a:pPr>
                      <a:r>
                        <a:rPr lang="en-IN" sz="2100">
                          <a:effectLst/>
                        </a:rPr>
                        <a:t>Effectively handles non-stationary EEG signals using time-frequency methods. Improves feature representation quality.</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88680" marR="88680" marT="0" marB="0"/>
                </a:tc>
                <a:tc>
                  <a:txBody>
                    <a:bodyPr/>
                    <a:lstStyle/>
                    <a:p>
                      <a:pPr marL="0" marR="0" algn="just">
                        <a:lnSpc>
                          <a:spcPct val="150000"/>
                        </a:lnSpc>
                        <a:spcAft>
                          <a:spcPts val="1000"/>
                        </a:spcAft>
                        <a:buNone/>
                      </a:pPr>
                      <a:r>
                        <a:rPr lang="en-IN" sz="2100" dirty="0">
                          <a:effectLst/>
                        </a:rPr>
                        <a:t>Feature extraction pipeline is complex and time-consuming. Requires multiple transformation steps.</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88680" marR="88680" marT="0" marB="0"/>
                </a:tc>
                <a:extLst>
                  <a:ext uri="{0D108BD9-81ED-4DB2-BD59-A6C34878D82A}">
                    <a16:rowId xmlns:a16="http://schemas.microsoft.com/office/drawing/2014/main" val="2324173715"/>
                  </a:ext>
                </a:extLst>
              </a:tr>
              <a:tr h="1388841">
                <a:tc>
                  <a:txBody>
                    <a:bodyPr/>
                    <a:lstStyle/>
                    <a:p>
                      <a:pPr marL="0" marR="0" algn="just">
                        <a:lnSpc>
                          <a:spcPct val="150000"/>
                        </a:lnSpc>
                        <a:spcAft>
                          <a:spcPts val="1000"/>
                        </a:spcAft>
                        <a:buNone/>
                      </a:pPr>
                      <a:r>
                        <a:rPr lang="en-IN" sz="2100">
                          <a:effectLst/>
                        </a:rPr>
                        <a:t>25</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88680" marR="88680" marT="0" marB="0"/>
                </a:tc>
                <a:tc>
                  <a:txBody>
                    <a:bodyPr/>
                    <a:lstStyle/>
                    <a:p>
                      <a:pPr marL="0" marR="0" algn="just">
                        <a:lnSpc>
                          <a:spcPct val="150000"/>
                        </a:lnSpc>
                        <a:spcAft>
                          <a:spcPts val="1000"/>
                        </a:spcAft>
                        <a:buNone/>
                      </a:pPr>
                      <a:r>
                        <a:rPr lang="en-IN" sz="2100">
                          <a:effectLst/>
                        </a:rPr>
                        <a:t>A. Subasi, J. Kevric, and M. Abdullah Canbaz - Epileptic seizure detection using hybrid machine learning methods</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88680" marR="88680" marT="0" marB="0"/>
                </a:tc>
                <a:tc>
                  <a:txBody>
                    <a:bodyPr/>
                    <a:lstStyle/>
                    <a:p>
                      <a:pPr marL="0" marR="0" algn="just">
                        <a:lnSpc>
                          <a:spcPct val="150000"/>
                        </a:lnSpc>
                        <a:spcAft>
                          <a:spcPts val="1000"/>
                        </a:spcAft>
                        <a:buNone/>
                      </a:pPr>
                      <a:r>
                        <a:rPr lang="en-IN" sz="2100">
                          <a:effectLst/>
                        </a:rPr>
                        <a:t>Achieves very high accuracy (~99.38%) with optimized parameters. Combines DWT and SVM effectively.</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88680" marR="88680" marT="0" marB="0"/>
                </a:tc>
                <a:tc>
                  <a:txBody>
                    <a:bodyPr/>
                    <a:lstStyle/>
                    <a:p>
                      <a:pPr marL="0" marR="0" algn="just">
                        <a:lnSpc>
                          <a:spcPct val="150000"/>
                        </a:lnSpc>
                        <a:spcAft>
                          <a:spcPts val="1000"/>
                        </a:spcAft>
                        <a:buNone/>
                      </a:pPr>
                      <a:r>
                        <a:rPr lang="en-IN" sz="2100" dirty="0">
                          <a:effectLst/>
                        </a:rPr>
                        <a:t>Requires handcrafted features which limit automation. Model performance depends on feature quality.</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88680" marR="88680" marT="0" marB="0"/>
                </a:tc>
                <a:extLst>
                  <a:ext uri="{0D108BD9-81ED-4DB2-BD59-A6C34878D82A}">
                    <a16:rowId xmlns:a16="http://schemas.microsoft.com/office/drawing/2014/main" val="1442621700"/>
                  </a:ext>
                </a:extLst>
              </a:tr>
              <a:tr h="1388841">
                <a:tc>
                  <a:txBody>
                    <a:bodyPr/>
                    <a:lstStyle/>
                    <a:p>
                      <a:pPr marL="0" marR="0" algn="just">
                        <a:lnSpc>
                          <a:spcPct val="150000"/>
                        </a:lnSpc>
                        <a:spcAft>
                          <a:spcPts val="1000"/>
                        </a:spcAft>
                        <a:buNone/>
                      </a:pPr>
                      <a:r>
                        <a:rPr lang="en-IN" sz="2100" dirty="0">
                          <a:solidFill>
                            <a:srgbClr val="000000"/>
                          </a:solidFill>
                          <a:effectLst/>
                        </a:rPr>
                        <a:t>26</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102870" marR="102870" marT="0" marB="0"/>
                </a:tc>
                <a:tc>
                  <a:txBody>
                    <a:bodyPr/>
                    <a:lstStyle/>
                    <a:p>
                      <a:pPr marL="0" marR="0" algn="just">
                        <a:lnSpc>
                          <a:spcPct val="150000"/>
                        </a:lnSpc>
                        <a:spcAft>
                          <a:spcPts val="1000"/>
                        </a:spcAft>
                        <a:buNone/>
                      </a:pPr>
                      <a:r>
                        <a:rPr lang="en-IN" sz="2100" dirty="0">
                          <a:solidFill>
                            <a:srgbClr val="000000"/>
                          </a:solidFill>
                          <a:effectLst/>
                        </a:rPr>
                        <a:t>M. S. Farooq, A. Zulfiqar, and S. Riaz - Epileptic Seizure Detection Using Machine Learning: Taxonomy, Opportunities, and Challenges</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102870" marR="102870" marT="0" marB="0"/>
                </a:tc>
                <a:tc>
                  <a:txBody>
                    <a:bodyPr/>
                    <a:lstStyle/>
                    <a:p>
                      <a:pPr marL="0" marR="0" algn="just">
                        <a:lnSpc>
                          <a:spcPct val="150000"/>
                        </a:lnSpc>
                        <a:spcAft>
                          <a:spcPts val="1000"/>
                        </a:spcAft>
                        <a:buNone/>
                      </a:pPr>
                      <a:r>
                        <a:rPr lang="en-IN" sz="2100">
                          <a:solidFill>
                            <a:srgbClr val="000000"/>
                          </a:solidFill>
                          <a:effectLst/>
                        </a:rPr>
                        <a:t>Provides a comprehensive taxonomy and identifies research gaps. Helps guide future work in seizure detection.</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102870" marR="102870" marT="0" marB="0"/>
                </a:tc>
                <a:tc>
                  <a:txBody>
                    <a:bodyPr/>
                    <a:lstStyle/>
                    <a:p>
                      <a:pPr marL="0" marR="0" algn="just">
                        <a:lnSpc>
                          <a:spcPct val="150000"/>
                        </a:lnSpc>
                        <a:spcAft>
                          <a:spcPts val="1000"/>
                        </a:spcAft>
                        <a:buNone/>
                      </a:pPr>
                      <a:r>
                        <a:rPr lang="en-IN" sz="2100" dirty="0">
                          <a:solidFill>
                            <a:srgbClr val="000000"/>
                          </a:solidFill>
                          <a:effectLst/>
                        </a:rPr>
                        <a:t>Does not include experimental validation. Focus remains theoretical and descriptive.</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102870" marR="102870" marT="0" marB="0"/>
                </a:tc>
                <a:extLst>
                  <a:ext uri="{0D108BD9-81ED-4DB2-BD59-A6C34878D82A}">
                    <a16:rowId xmlns:a16="http://schemas.microsoft.com/office/drawing/2014/main" val="1918707139"/>
                  </a:ext>
                </a:extLst>
              </a:tr>
            </a:tbl>
          </a:graphicData>
        </a:graphic>
      </p:graphicFrame>
    </p:spTree>
    <p:extLst>
      <p:ext uri="{BB962C8B-B14F-4D97-AF65-F5344CB8AC3E}">
        <p14:creationId xmlns:p14="http://schemas.microsoft.com/office/powerpoint/2010/main" val="2268946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5BF4022-8D1A-F566-8E3E-DDFB7F3AA85A}"/>
              </a:ext>
            </a:extLst>
          </p:cNvPr>
          <p:cNvGraphicFramePr>
            <a:graphicFrameLocks noGrp="1"/>
          </p:cNvGraphicFramePr>
          <p:nvPr/>
        </p:nvGraphicFramePr>
        <p:xfrm>
          <a:off x="1557779" y="33714"/>
          <a:ext cx="15172442" cy="10253472"/>
        </p:xfrm>
        <a:graphic>
          <a:graphicData uri="http://schemas.openxmlformats.org/drawingml/2006/table">
            <a:tbl>
              <a:tblPr bandRow="1">
                <a:tableStyleId>{616DA210-FB5B-4158-B5E0-FEB733F419BA}</a:tableStyleId>
              </a:tblPr>
              <a:tblGrid>
                <a:gridCol w="876693">
                  <a:extLst>
                    <a:ext uri="{9D8B030D-6E8A-4147-A177-3AD203B41FA5}">
                      <a16:colId xmlns:a16="http://schemas.microsoft.com/office/drawing/2014/main" val="3268345557"/>
                    </a:ext>
                  </a:extLst>
                </a:gridCol>
                <a:gridCol w="4920792">
                  <a:extLst>
                    <a:ext uri="{9D8B030D-6E8A-4147-A177-3AD203B41FA5}">
                      <a16:colId xmlns:a16="http://schemas.microsoft.com/office/drawing/2014/main" val="2519892921"/>
                    </a:ext>
                  </a:extLst>
                </a:gridCol>
                <a:gridCol w="5048054">
                  <a:extLst>
                    <a:ext uri="{9D8B030D-6E8A-4147-A177-3AD203B41FA5}">
                      <a16:colId xmlns:a16="http://schemas.microsoft.com/office/drawing/2014/main" val="3882108872"/>
                    </a:ext>
                  </a:extLst>
                </a:gridCol>
                <a:gridCol w="4326903">
                  <a:extLst>
                    <a:ext uri="{9D8B030D-6E8A-4147-A177-3AD203B41FA5}">
                      <a16:colId xmlns:a16="http://schemas.microsoft.com/office/drawing/2014/main" val="3553521671"/>
                    </a:ext>
                  </a:extLst>
                </a:gridCol>
              </a:tblGrid>
              <a:tr h="1388841">
                <a:tc>
                  <a:txBody>
                    <a:bodyPr/>
                    <a:lstStyle/>
                    <a:p>
                      <a:pPr marL="0" marR="0" algn="just">
                        <a:lnSpc>
                          <a:spcPct val="150000"/>
                        </a:lnSpc>
                        <a:spcAft>
                          <a:spcPts val="1000"/>
                        </a:spcAft>
                        <a:buNone/>
                      </a:pPr>
                      <a:r>
                        <a:rPr lang="en-IN" sz="2100" dirty="0">
                          <a:effectLst/>
                        </a:rPr>
                        <a:t>27</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a:effectLst/>
                        </a:rPr>
                        <a:t>E. Ali, M. Angelova, and Chandan Karmakar - Epileptic seizure detection using CHB-MIT dataset: The overlooked perspectives</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a:effectLst/>
                        </a:rPr>
                        <a:t>Performs real-world evaluation handling imbalance and variability. Provides practical insights using Random Forest.</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a:effectLst/>
                        </a:rPr>
                        <a:t>Shows moderate sensitivity (~75%) in detection. Pipeline is relatively complex.</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extLst>
                  <a:ext uri="{0D108BD9-81ED-4DB2-BD59-A6C34878D82A}">
                    <a16:rowId xmlns:a16="http://schemas.microsoft.com/office/drawing/2014/main" val="4067831345"/>
                  </a:ext>
                </a:extLst>
              </a:tr>
              <a:tr h="1388841">
                <a:tc>
                  <a:txBody>
                    <a:bodyPr/>
                    <a:lstStyle/>
                    <a:p>
                      <a:pPr marL="0" marR="0" algn="just">
                        <a:lnSpc>
                          <a:spcPct val="150000"/>
                        </a:lnSpc>
                        <a:spcAft>
                          <a:spcPts val="1000"/>
                        </a:spcAft>
                        <a:buNone/>
                      </a:pPr>
                      <a:r>
                        <a:rPr lang="en-IN" sz="2100">
                          <a:effectLst/>
                        </a:rPr>
                        <a:t>28</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a:effectLst/>
                        </a:rPr>
                        <a:t>A. Shoeibi et al. - Epileptic Seizures Detection Using Deep Learning Techniques: A Review</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a:effectLst/>
                        </a:rPr>
                        <a:t>Provides a comprehensive overview of deep learning models. Identifies best-performing architectures for seizure detection.</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a:effectLst/>
                        </a:rPr>
                        <a:t>No experimental validation is included. Analysis remains high-level and descriptive.</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extLst>
                  <a:ext uri="{0D108BD9-81ED-4DB2-BD59-A6C34878D82A}">
                    <a16:rowId xmlns:a16="http://schemas.microsoft.com/office/drawing/2014/main" val="1119273680"/>
                  </a:ext>
                </a:extLst>
              </a:tr>
              <a:tr h="2348961">
                <a:tc>
                  <a:txBody>
                    <a:bodyPr/>
                    <a:lstStyle/>
                    <a:p>
                      <a:pPr marL="0" marR="0" algn="just">
                        <a:lnSpc>
                          <a:spcPct val="150000"/>
                        </a:lnSpc>
                        <a:spcAft>
                          <a:spcPts val="1000"/>
                        </a:spcAft>
                        <a:buNone/>
                      </a:pPr>
                      <a:r>
                        <a:rPr lang="en-IN" sz="2100">
                          <a:effectLst/>
                        </a:rPr>
                        <a:t>29</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a:effectLst/>
                        </a:rPr>
                        <a:t>T. K. Murugan and A. Kameswaran - Employing convolutional neural networks and explainable artificial intelligence for the detection of seizures from electroencephalogram signal</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a:effectLst/>
                        </a:rPr>
                        <a:t>Improves interpretability and clinical trust using XAI techniques. Maintains good accuracy in detection.</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a:effectLst/>
                        </a:rPr>
                        <a:t>Adds extra complexity due to explainability methods. Performance depends on feature quality.</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extLst>
                  <a:ext uri="{0D108BD9-81ED-4DB2-BD59-A6C34878D82A}">
                    <a16:rowId xmlns:a16="http://schemas.microsoft.com/office/drawing/2014/main" val="1667418406"/>
                  </a:ext>
                </a:extLst>
              </a:tr>
              <a:tr h="1868901">
                <a:tc>
                  <a:txBody>
                    <a:bodyPr/>
                    <a:lstStyle/>
                    <a:p>
                      <a:pPr marL="0" marR="0" algn="just">
                        <a:lnSpc>
                          <a:spcPct val="150000"/>
                        </a:lnSpc>
                        <a:spcAft>
                          <a:spcPts val="1000"/>
                        </a:spcAft>
                        <a:buNone/>
                      </a:pPr>
                      <a:r>
                        <a:rPr lang="en-IN" sz="2100">
                          <a:effectLst/>
                        </a:rPr>
                        <a:t>30</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a:effectLst/>
                        </a:rPr>
                        <a:t>S. Cuyckens, R. Antonio, C. Fang, and M. Verhelst - iEEG Seizure Detection with a Sparse Hyperdimensional Computing Accelerator</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a:effectLst/>
                        </a:rPr>
                        <a:t>Offers very low energy consumption and supports real-time detection. Suitable for hardware-efficient implementations.</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a:effectLst/>
                        </a:rPr>
                        <a:t>Implementation is complex and hardware-dependent. Validation scope is limited.</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extLst>
                  <a:ext uri="{0D108BD9-81ED-4DB2-BD59-A6C34878D82A}">
                    <a16:rowId xmlns:a16="http://schemas.microsoft.com/office/drawing/2014/main" val="3959743774"/>
                  </a:ext>
                </a:extLst>
              </a:tr>
              <a:tr h="1388841">
                <a:tc>
                  <a:txBody>
                    <a:bodyPr/>
                    <a:lstStyle/>
                    <a:p>
                      <a:pPr marL="0" marR="0" algn="just">
                        <a:lnSpc>
                          <a:spcPct val="150000"/>
                        </a:lnSpc>
                        <a:spcAft>
                          <a:spcPts val="1000"/>
                        </a:spcAft>
                        <a:buNone/>
                      </a:pPr>
                      <a:r>
                        <a:rPr lang="en-IN" sz="2100">
                          <a:effectLst/>
                        </a:rPr>
                        <a:t>31</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a:effectLst/>
                        </a:rPr>
                        <a:t>P. Thodoroff, J. Pineau, and A. Lim - Learning Robust Features using Deep Learning for Automatic Seizure Detection</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a:effectLst/>
                        </a:rPr>
                        <a:t>Learns robust cross-patient features without manual extraction. Improves generalization across datasets.</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a:effectLst/>
                        </a:rPr>
                        <a:t>Computationally intensive and resource-demanding. Performance depends on data quality.</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extLst>
                  <a:ext uri="{0D108BD9-81ED-4DB2-BD59-A6C34878D82A}">
                    <a16:rowId xmlns:a16="http://schemas.microsoft.com/office/drawing/2014/main" val="2558847949"/>
                  </a:ext>
                </a:extLst>
              </a:tr>
              <a:tr h="1868901">
                <a:tc>
                  <a:txBody>
                    <a:bodyPr/>
                    <a:lstStyle/>
                    <a:p>
                      <a:pPr marL="0" marR="0" algn="just">
                        <a:lnSpc>
                          <a:spcPct val="150000"/>
                        </a:lnSpc>
                        <a:spcAft>
                          <a:spcPts val="1000"/>
                        </a:spcAft>
                        <a:buNone/>
                      </a:pPr>
                      <a:r>
                        <a:rPr lang="en-IN" sz="2100">
                          <a:effectLst/>
                        </a:rPr>
                        <a:t>32</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a:effectLst/>
                        </a:rPr>
                        <a:t>Th. Sverrisson and S. Gudmundsson - LookAroundNet: Extending Temporal Context with Transformers for Clinically Viable EEG Seizure Detection</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a:effectLst/>
                        </a:rPr>
                        <a:t>Captures long-range dependencies and improves generalization. Provides strong performance using temporal context modeling.</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dirty="0">
                          <a:effectLst/>
                        </a:rPr>
                        <a:t>High computational cost due to transformer models. Requires large-scale datasets.</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extLst>
                  <a:ext uri="{0D108BD9-81ED-4DB2-BD59-A6C34878D82A}">
                    <a16:rowId xmlns:a16="http://schemas.microsoft.com/office/drawing/2014/main" val="1841410352"/>
                  </a:ext>
                </a:extLst>
              </a:tr>
            </a:tbl>
          </a:graphicData>
        </a:graphic>
      </p:graphicFrame>
    </p:spTree>
    <p:extLst>
      <p:ext uri="{BB962C8B-B14F-4D97-AF65-F5344CB8AC3E}">
        <p14:creationId xmlns:p14="http://schemas.microsoft.com/office/powerpoint/2010/main" val="3985681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2AE1AED-D3B3-C06B-9998-4A003E098FC5}"/>
              </a:ext>
            </a:extLst>
          </p:cNvPr>
          <p:cNvGraphicFramePr>
            <a:graphicFrameLocks noGrp="1"/>
          </p:cNvGraphicFramePr>
          <p:nvPr/>
        </p:nvGraphicFramePr>
        <p:xfrm>
          <a:off x="1557779" y="231218"/>
          <a:ext cx="15172442" cy="9824720"/>
        </p:xfrm>
        <a:graphic>
          <a:graphicData uri="http://schemas.openxmlformats.org/drawingml/2006/table">
            <a:tbl>
              <a:tblPr bandRow="1">
                <a:tableStyleId>{616DA210-FB5B-4158-B5E0-FEB733F419BA}</a:tableStyleId>
              </a:tblPr>
              <a:tblGrid>
                <a:gridCol w="749432">
                  <a:extLst>
                    <a:ext uri="{9D8B030D-6E8A-4147-A177-3AD203B41FA5}">
                      <a16:colId xmlns:a16="http://schemas.microsoft.com/office/drawing/2014/main" val="2154354433"/>
                    </a:ext>
                  </a:extLst>
                </a:gridCol>
                <a:gridCol w="4807671">
                  <a:extLst>
                    <a:ext uri="{9D8B030D-6E8A-4147-A177-3AD203B41FA5}">
                      <a16:colId xmlns:a16="http://schemas.microsoft.com/office/drawing/2014/main" val="4173672146"/>
                    </a:ext>
                  </a:extLst>
                </a:gridCol>
                <a:gridCol w="5104614">
                  <a:extLst>
                    <a:ext uri="{9D8B030D-6E8A-4147-A177-3AD203B41FA5}">
                      <a16:colId xmlns:a16="http://schemas.microsoft.com/office/drawing/2014/main" val="1233841521"/>
                    </a:ext>
                  </a:extLst>
                </a:gridCol>
                <a:gridCol w="4510725">
                  <a:extLst>
                    <a:ext uri="{9D8B030D-6E8A-4147-A177-3AD203B41FA5}">
                      <a16:colId xmlns:a16="http://schemas.microsoft.com/office/drawing/2014/main" val="3497072982"/>
                    </a:ext>
                  </a:extLst>
                </a:gridCol>
              </a:tblGrid>
              <a:tr h="1868901">
                <a:tc>
                  <a:txBody>
                    <a:bodyPr/>
                    <a:lstStyle/>
                    <a:p>
                      <a:pPr marL="0" marR="0" algn="just">
                        <a:lnSpc>
                          <a:spcPct val="150000"/>
                        </a:lnSpc>
                        <a:spcAft>
                          <a:spcPts val="1000"/>
                        </a:spcAft>
                        <a:buNone/>
                      </a:pPr>
                      <a:r>
                        <a:rPr lang="en-IN" sz="2100" dirty="0">
                          <a:effectLst/>
                        </a:rPr>
                        <a:t>33</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dirty="0">
                          <a:effectLst/>
                        </a:rPr>
                        <a:t>Giorgos Giannakakis, Vangelis </a:t>
                      </a:r>
                      <a:r>
                        <a:rPr lang="en-IN" sz="2100" dirty="0" err="1">
                          <a:effectLst/>
                        </a:rPr>
                        <a:t>Sakkalis</a:t>
                      </a:r>
                      <a:r>
                        <a:rPr lang="en-IN" sz="2100" dirty="0">
                          <a:effectLst/>
                        </a:rPr>
                        <a:t>, M. </a:t>
                      </a:r>
                      <a:r>
                        <a:rPr lang="en-IN" sz="2100" dirty="0" err="1">
                          <a:effectLst/>
                        </a:rPr>
                        <a:t>Pediaditis</a:t>
                      </a:r>
                      <a:r>
                        <a:rPr lang="en-IN" sz="2100" dirty="0">
                          <a:effectLst/>
                        </a:rPr>
                        <a:t>, and Manolis </a:t>
                      </a:r>
                      <a:r>
                        <a:rPr lang="en-IN" sz="2100" dirty="0" err="1">
                          <a:effectLst/>
                        </a:rPr>
                        <a:t>Tsiknakis</a:t>
                      </a:r>
                      <a:r>
                        <a:rPr lang="en-IN" sz="2100" dirty="0">
                          <a:effectLst/>
                        </a:rPr>
                        <a:t> - Methods for Seizure Detection and Prediction: An Overview</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dirty="0">
                          <a:effectLst/>
                        </a:rPr>
                        <a:t>Provides a comprehensive comparison of detection methods. Achieves high accuracy using engineered features.</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a:effectLst/>
                        </a:rPr>
                        <a:t>Relies on handcrafted features rather than deep learning. Limited modern DL-based insights.</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extLst>
                  <a:ext uri="{0D108BD9-81ED-4DB2-BD59-A6C34878D82A}">
                    <a16:rowId xmlns:a16="http://schemas.microsoft.com/office/drawing/2014/main" val="4170778303"/>
                  </a:ext>
                </a:extLst>
              </a:tr>
              <a:tr h="1868901">
                <a:tc>
                  <a:txBody>
                    <a:bodyPr/>
                    <a:lstStyle/>
                    <a:p>
                      <a:pPr marL="0" marR="0" algn="just">
                        <a:lnSpc>
                          <a:spcPct val="150000"/>
                        </a:lnSpc>
                        <a:spcAft>
                          <a:spcPts val="1000"/>
                        </a:spcAft>
                        <a:buNone/>
                      </a:pPr>
                      <a:r>
                        <a:rPr lang="en-IN" sz="2100" dirty="0">
                          <a:effectLst/>
                        </a:rPr>
                        <a:t>34</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dirty="0">
                          <a:effectLst/>
                        </a:rPr>
                        <a:t>Y. Yang, K. Guo, Z. Fang, H. Lin, M. Grosser, and J. Lu - Multi-model Transfer Learning and Genotypic Analysis for Seizure Type Classification</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dirty="0">
                          <a:effectLst/>
                        </a:rPr>
                        <a:t>Improves accuracy by 13–16% and handles data scarcity. Combines multiple models for better performance.</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a:effectLst/>
                        </a:rPr>
                        <a:t>Architecture is complex and difficult to manage. Requires multi-source data integration.</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extLst>
                  <a:ext uri="{0D108BD9-81ED-4DB2-BD59-A6C34878D82A}">
                    <a16:rowId xmlns:a16="http://schemas.microsoft.com/office/drawing/2014/main" val="3888843141"/>
                  </a:ext>
                </a:extLst>
              </a:tr>
              <a:tr h="1868901">
                <a:tc>
                  <a:txBody>
                    <a:bodyPr/>
                    <a:lstStyle/>
                    <a:p>
                      <a:pPr marL="0" marR="0" algn="just">
                        <a:lnSpc>
                          <a:spcPct val="150000"/>
                        </a:lnSpc>
                        <a:spcAft>
                          <a:spcPts val="1000"/>
                        </a:spcAft>
                        <a:buNone/>
                      </a:pPr>
                      <a:r>
                        <a:rPr lang="en-IN" sz="2100">
                          <a:effectLst/>
                        </a:rPr>
                        <a:t>35</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dirty="0">
                          <a:effectLst/>
                        </a:rPr>
                        <a:t>D. </a:t>
                      </a:r>
                      <a:r>
                        <a:rPr lang="en-IN" sz="2100" dirty="0" err="1">
                          <a:effectLst/>
                        </a:rPr>
                        <a:t>Ahmedt</a:t>
                      </a:r>
                      <a:r>
                        <a:rPr lang="en-IN" sz="2100" dirty="0">
                          <a:effectLst/>
                        </a:rPr>
                        <a:t>-Aristizabal, T. Fernando, S. Denman, L. Petersson, M. J. </a:t>
                      </a:r>
                      <a:r>
                        <a:rPr lang="en-IN" sz="2100" dirty="0" err="1">
                          <a:effectLst/>
                        </a:rPr>
                        <a:t>Aburn</a:t>
                      </a:r>
                      <a:r>
                        <a:rPr lang="en-IN" sz="2100" dirty="0">
                          <a:effectLst/>
                        </a:rPr>
                        <a:t>, and C. Fookes - Neural Memory Networks for Seizure Type Classification</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dirty="0">
                          <a:effectLst/>
                        </a:rPr>
                        <a:t>Captures long-term dependencies and achieves high F1-score (~0.945). Enhances sequence </a:t>
                      </a:r>
                      <a:r>
                        <a:rPr lang="en-IN" sz="2100" dirty="0" err="1">
                          <a:effectLst/>
                        </a:rPr>
                        <a:t>modeling</a:t>
                      </a:r>
                      <a:r>
                        <a:rPr lang="en-IN" sz="2100" dirty="0">
                          <a:effectLst/>
                        </a:rPr>
                        <a:t> capability.</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dirty="0">
                          <a:effectLst/>
                        </a:rPr>
                        <a:t>High model complexity increases computation. Limited dataset availability affects training.</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extLst>
                  <a:ext uri="{0D108BD9-81ED-4DB2-BD59-A6C34878D82A}">
                    <a16:rowId xmlns:a16="http://schemas.microsoft.com/office/drawing/2014/main" val="1975005661"/>
                  </a:ext>
                </a:extLst>
              </a:tr>
              <a:tr h="1868901">
                <a:tc>
                  <a:txBody>
                    <a:bodyPr/>
                    <a:lstStyle/>
                    <a:p>
                      <a:pPr marL="0" marR="0" algn="just">
                        <a:lnSpc>
                          <a:spcPct val="150000"/>
                        </a:lnSpc>
                        <a:spcAft>
                          <a:spcPts val="1000"/>
                        </a:spcAft>
                        <a:buNone/>
                      </a:pPr>
                      <a:r>
                        <a:rPr lang="en-IN" sz="2100">
                          <a:effectLst/>
                        </a:rPr>
                        <a:t>36</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dirty="0">
                          <a:effectLst/>
                        </a:rPr>
                        <a:t>S. Ghosh, V. Singh, and O. S. Powar - Seizure detection using EEG on the CHB-MIT dataset via multi-domain feature engineering and classical machine learning</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a:effectLst/>
                        </a:rPr>
                        <a:t>Provides interpretable results with low latency. Supports patient-independent evaluation.</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dirty="0">
                          <a:effectLst/>
                        </a:rPr>
                        <a:t>Lower accuracy compared to deep learning models. Performance may be limited.</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extLst>
                  <a:ext uri="{0D108BD9-81ED-4DB2-BD59-A6C34878D82A}">
                    <a16:rowId xmlns:a16="http://schemas.microsoft.com/office/drawing/2014/main" val="992603648"/>
                  </a:ext>
                </a:extLst>
              </a:tr>
              <a:tr h="2348961">
                <a:tc>
                  <a:txBody>
                    <a:bodyPr/>
                    <a:lstStyle/>
                    <a:p>
                      <a:pPr marL="0" marR="0" algn="just">
                        <a:lnSpc>
                          <a:spcPct val="150000"/>
                        </a:lnSpc>
                        <a:spcAft>
                          <a:spcPts val="1000"/>
                        </a:spcAft>
                        <a:buNone/>
                      </a:pPr>
                      <a:r>
                        <a:rPr lang="en-IN" sz="2100">
                          <a:effectLst/>
                        </a:rPr>
                        <a:t>37</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dirty="0">
                          <a:effectLst/>
                        </a:rPr>
                        <a:t>M. L. Scheuer, S. B. Wilson, A. Antony, G. </a:t>
                      </a:r>
                      <a:r>
                        <a:rPr lang="en-IN" sz="2100" dirty="0" err="1">
                          <a:effectLst/>
                        </a:rPr>
                        <a:t>Ghearing</a:t>
                      </a:r>
                      <a:r>
                        <a:rPr lang="en-IN" sz="2100" dirty="0">
                          <a:effectLst/>
                        </a:rPr>
                        <a:t>, A. Urban, and A. I. </a:t>
                      </a:r>
                      <a:r>
                        <a:rPr lang="en-IN" sz="2100" dirty="0" err="1">
                          <a:effectLst/>
                        </a:rPr>
                        <a:t>Bagić</a:t>
                      </a:r>
                      <a:r>
                        <a:rPr lang="en-IN" sz="2100" dirty="0">
                          <a:effectLst/>
                        </a:rPr>
                        <a:t> - Seizure Detection: </a:t>
                      </a:r>
                      <a:r>
                        <a:rPr lang="en-IN" sz="2100" dirty="0" err="1">
                          <a:effectLst/>
                        </a:rPr>
                        <a:t>Interreader</a:t>
                      </a:r>
                      <a:r>
                        <a:rPr lang="en-IN" sz="2100" dirty="0">
                          <a:effectLst/>
                        </a:rPr>
                        <a:t> Agreement and Detection Algorithm Assessments Using a Large Dataset</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dirty="0">
                          <a:effectLst/>
                        </a:rPr>
                        <a:t>Demonstrates expert-level algorithm performance. Compares human and algorithm outputs effectively.</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tc>
                  <a:txBody>
                    <a:bodyPr/>
                    <a:lstStyle/>
                    <a:p>
                      <a:pPr marL="0" marR="0" algn="just">
                        <a:lnSpc>
                          <a:spcPct val="150000"/>
                        </a:lnSpc>
                        <a:spcAft>
                          <a:spcPts val="1000"/>
                        </a:spcAft>
                        <a:buNone/>
                      </a:pPr>
                      <a:r>
                        <a:rPr lang="en-IN" sz="2100" dirty="0">
                          <a:effectLst/>
                        </a:rPr>
                        <a:t>Highlights variability and lack of perfect ground truth. Evaluation uncertainty remains.</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64545" marR="64545" marT="0" marB="0"/>
                </a:tc>
                <a:extLst>
                  <a:ext uri="{0D108BD9-81ED-4DB2-BD59-A6C34878D82A}">
                    <a16:rowId xmlns:a16="http://schemas.microsoft.com/office/drawing/2014/main" val="1474047613"/>
                  </a:ext>
                </a:extLst>
              </a:tr>
            </a:tbl>
          </a:graphicData>
        </a:graphic>
      </p:graphicFrame>
    </p:spTree>
    <p:extLst>
      <p:ext uri="{BB962C8B-B14F-4D97-AF65-F5344CB8AC3E}">
        <p14:creationId xmlns:p14="http://schemas.microsoft.com/office/powerpoint/2010/main" val="352663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8247C19-D228-3700-02A8-20A5A4227103}"/>
              </a:ext>
            </a:extLst>
          </p:cNvPr>
          <p:cNvGraphicFramePr>
            <a:graphicFrameLocks noGrp="1"/>
          </p:cNvGraphicFramePr>
          <p:nvPr/>
        </p:nvGraphicFramePr>
        <p:xfrm>
          <a:off x="1414021" y="401667"/>
          <a:ext cx="15257286" cy="9483821"/>
        </p:xfrm>
        <a:graphic>
          <a:graphicData uri="http://schemas.openxmlformats.org/drawingml/2006/table">
            <a:tbl>
              <a:tblPr bandRow="1">
                <a:tableStyleId>{616DA210-FB5B-4158-B5E0-FEB733F419BA}</a:tableStyleId>
              </a:tblPr>
              <a:tblGrid>
                <a:gridCol w="989816">
                  <a:extLst>
                    <a:ext uri="{9D8B030D-6E8A-4147-A177-3AD203B41FA5}">
                      <a16:colId xmlns:a16="http://schemas.microsoft.com/office/drawing/2014/main" val="3983595451"/>
                    </a:ext>
                  </a:extLst>
                </a:gridCol>
                <a:gridCol w="4652129">
                  <a:extLst>
                    <a:ext uri="{9D8B030D-6E8A-4147-A177-3AD203B41FA5}">
                      <a16:colId xmlns:a16="http://schemas.microsoft.com/office/drawing/2014/main" val="2552264966"/>
                    </a:ext>
                  </a:extLst>
                </a:gridCol>
                <a:gridCol w="4894077">
                  <a:extLst>
                    <a:ext uri="{9D8B030D-6E8A-4147-A177-3AD203B41FA5}">
                      <a16:colId xmlns:a16="http://schemas.microsoft.com/office/drawing/2014/main" val="3628587205"/>
                    </a:ext>
                  </a:extLst>
                </a:gridCol>
                <a:gridCol w="4721264">
                  <a:extLst>
                    <a:ext uri="{9D8B030D-6E8A-4147-A177-3AD203B41FA5}">
                      <a16:colId xmlns:a16="http://schemas.microsoft.com/office/drawing/2014/main" val="2181490471"/>
                    </a:ext>
                  </a:extLst>
                </a:gridCol>
              </a:tblGrid>
              <a:tr h="1868901">
                <a:tc>
                  <a:txBody>
                    <a:bodyPr/>
                    <a:lstStyle/>
                    <a:p>
                      <a:pPr marL="0" marR="0" algn="just">
                        <a:lnSpc>
                          <a:spcPct val="150000"/>
                        </a:lnSpc>
                        <a:spcAft>
                          <a:spcPts val="1000"/>
                        </a:spcAft>
                        <a:buNone/>
                      </a:pPr>
                      <a:r>
                        <a:rPr lang="en-IN" sz="2100" dirty="0">
                          <a:effectLst/>
                        </a:rPr>
                        <a:t>38</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tc>
                  <a:txBody>
                    <a:bodyPr/>
                    <a:lstStyle/>
                    <a:p>
                      <a:pPr marL="0" marR="0" algn="just">
                        <a:lnSpc>
                          <a:spcPct val="150000"/>
                        </a:lnSpc>
                        <a:spcAft>
                          <a:spcPts val="1000"/>
                        </a:spcAft>
                        <a:buNone/>
                      </a:pPr>
                      <a:r>
                        <a:rPr lang="en-IN" sz="2100">
                          <a:effectLst/>
                        </a:rPr>
                        <a:t>S. Roy, U. Asif, J. Tang, and S. Harrer - Seizure Type Classification Using EEG Signals and Machine Learning: Setting a Benchmark</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tc>
                  <a:txBody>
                    <a:bodyPr/>
                    <a:lstStyle/>
                    <a:p>
                      <a:pPr marL="0" marR="0" algn="just">
                        <a:lnSpc>
                          <a:spcPct val="150000"/>
                        </a:lnSpc>
                        <a:spcAft>
                          <a:spcPts val="1000"/>
                        </a:spcAft>
                        <a:buNone/>
                      </a:pPr>
                      <a:r>
                        <a:rPr lang="en-IN" sz="2100">
                          <a:effectLst/>
                        </a:rPr>
                        <a:t>Provides benchmark study for multi-class classification. Uses multiple ML models for comparison.</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tc>
                  <a:txBody>
                    <a:bodyPr/>
                    <a:lstStyle/>
                    <a:p>
                      <a:pPr marL="0" marR="0" algn="just">
                        <a:lnSpc>
                          <a:spcPct val="150000"/>
                        </a:lnSpc>
                        <a:spcAft>
                          <a:spcPts val="1000"/>
                        </a:spcAft>
                        <a:buNone/>
                      </a:pPr>
                      <a:r>
                        <a:rPr lang="en-IN" sz="2100" dirty="0">
                          <a:effectLst/>
                        </a:rPr>
                        <a:t>Poor generalization in patient-wise validation. Performance varies across datasets.</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extLst>
                  <a:ext uri="{0D108BD9-81ED-4DB2-BD59-A6C34878D82A}">
                    <a16:rowId xmlns:a16="http://schemas.microsoft.com/office/drawing/2014/main" val="2870234805"/>
                  </a:ext>
                </a:extLst>
              </a:tr>
              <a:tr h="1388841">
                <a:tc>
                  <a:txBody>
                    <a:bodyPr/>
                    <a:lstStyle/>
                    <a:p>
                      <a:pPr marL="0" marR="0" algn="just">
                        <a:lnSpc>
                          <a:spcPct val="150000"/>
                        </a:lnSpc>
                        <a:spcAft>
                          <a:spcPts val="1000"/>
                        </a:spcAft>
                        <a:buNone/>
                      </a:pPr>
                      <a:r>
                        <a:rPr lang="en-IN" sz="2100" dirty="0">
                          <a:effectLst/>
                        </a:rPr>
                        <a:t>39</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tc>
                  <a:txBody>
                    <a:bodyPr/>
                    <a:lstStyle/>
                    <a:p>
                      <a:pPr marL="0" marR="0" algn="just">
                        <a:lnSpc>
                          <a:spcPct val="150000"/>
                        </a:lnSpc>
                        <a:spcAft>
                          <a:spcPts val="1000"/>
                        </a:spcAft>
                        <a:buNone/>
                      </a:pPr>
                      <a:r>
                        <a:rPr lang="en-IN" sz="2100">
                          <a:effectLst/>
                        </a:rPr>
                        <a:t>C. Baumgartner and J. P. Koren - Seizure detection using scalp-EEG</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tc>
                  <a:txBody>
                    <a:bodyPr/>
                    <a:lstStyle/>
                    <a:p>
                      <a:pPr marL="0" marR="0" algn="just">
                        <a:lnSpc>
                          <a:spcPct val="150000"/>
                        </a:lnSpc>
                        <a:spcAft>
                          <a:spcPts val="1000"/>
                        </a:spcAft>
                        <a:buNone/>
                      </a:pPr>
                      <a:r>
                        <a:rPr lang="en-IN" sz="2100">
                          <a:effectLst/>
                        </a:rPr>
                        <a:t>Provides clinical insights and performance ranges. Useful for understanding real-world applications.</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tc>
                  <a:txBody>
                    <a:bodyPr/>
                    <a:lstStyle/>
                    <a:p>
                      <a:pPr marL="0" marR="0" algn="just">
                        <a:lnSpc>
                          <a:spcPct val="150000"/>
                        </a:lnSpc>
                        <a:spcAft>
                          <a:spcPts val="1000"/>
                        </a:spcAft>
                        <a:buNone/>
                      </a:pPr>
                      <a:r>
                        <a:rPr lang="en-IN" sz="2100">
                          <a:effectLst/>
                        </a:rPr>
                        <a:t>Not a specific model and lacks implementation details. Limited practical usability.</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extLst>
                  <a:ext uri="{0D108BD9-81ED-4DB2-BD59-A6C34878D82A}">
                    <a16:rowId xmlns:a16="http://schemas.microsoft.com/office/drawing/2014/main" val="850131471"/>
                  </a:ext>
                </a:extLst>
              </a:tr>
              <a:tr h="1388841">
                <a:tc>
                  <a:txBody>
                    <a:bodyPr/>
                    <a:lstStyle/>
                    <a:p>
                      <a:pPr marL="0" marR="0" algn="just">
                        <a:lnSpc>
                          <a:spcPct val="150000"/>
                        </a:lnSpc>
                        <a:spcAft>
                          <a:spcPts val="1000"/>
                        </a:spcAft>
                        <a:buNone/>
                      </a:pPr>
                      <a:r>
                        <a:rPr lang="en-IN" sz="2100">
                          <a:effectLst/>
                        </a:rPr>
                        <a:t>40</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tc>
                  <a:txBody>
                    <a:bodyPr/>
                    <a:lstStyle/>
                    <a:p>
                      <a:pPr marL="0" marR="0" algn="just">
                        <a:lnSpc>
                          <a:spcPct val="150000"/>
                        </a:lnSpc>
                        <a:spcAft>
                          <a:spcPts val="1000"/>
                        </a:spcAft>
                        <a:buNone/>
                      </a:pPr>
                      <a:r>
                        <a:rPr lang="en-IN" sz="2100">
                          <a:effectLst/>
                        </a:rPr>
                        <a:t>U. Asif, S. Roy, J. Tang, and S. Harrer - SeizureNet: Multi-Spectral Deep Feature Learning for Seizure Type Classification</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tc>
                  <a:txBody>
                    <a:bodyPr/>
                    <a:lstStyle/>
                    <a:p>
                      <a:pPr marL="0" marR="0" algn="just">
                        <a:lnSpc>
                          <a:spcPct val="150000"/>
                        </a:lnSpc>
                        <a:spcAft>
                          <a:spcPts val="1000"/>
                        </a:spcAft>
                        <a:buNone/>
                      </a:pPr>
                      <a:r>
                        <a:rPr lang="en-IN" sz="2100">
                          <a:effectLst/>
                        </a:rPr>
                        <a:t>Achieves high F1-score (~0.94) with strong feature representation. Uses multi-spectral features effectively.</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tc>
                  <a:txBody>
                    <a:bodyPr/>
                    <a:lstStyle/>
                    <a:p>
                      <a:pPr marL="0" marR="0" algn="just">
                        <a:lnSpc>
                          <a:spcPct val="150000"/>
                        </a:lnSpc>
                        <a:spcAft>
                          <a:spcPts val="1000"/>
                        </a:spcAft>
                        <a:buNone/>
                      </a:pPr>
                      <a:r>
                        <a:rPr lang="en-IN" sz="2100">
                          <a:effectLst/>
                        </a:rPr>
                        <a:t>Shows moderate generalization performance. Patient-wise F1-score is relatively low (~0.59).</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extLst>
                  <a:ext uri="{0D108BD9-81ED-4DB2-BD59-A6C34878D82A}">
                    <a16:rowId xmlns:a16="http://schemas.microsoft.com/office/drawing/2014/main" val="2219939120"/>
                  </a:ext>
                </a:extLst>
              </a:tr>
              <a:tr h="2059401">
                <a:tc>
                  <a:txBody>
                    <a:bodyPr/>
                    <a:lstStyle/>
                    <a:p>
                      <a:pPr marL="0" marR="0" algn="just">
                        <a:lnSpc>
                          <a:spcPct val="150000"/>
                        </a:lnSpc>
                        <a:spcAft>
                          <a:spcPts val="1000"/>
                        </a:spcAft>
                        <a:buNone/>
                      </a:pPr>
                      <a:r>
                        <a:rPr lang="en-IN" sz="2100">
                          <a:effectLst/>
                        </a:rPr>
                        <a:t>41</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tc>
                  <a:txBody>
                    <a:bodyPr/>
                    <a:lstStyle/>
                    <a:p>
                      <a:pPr marL="0" marR="0" algn="just">
                        <a:lnSpc>
                          <a:spcPct val="150000"/>
                        </a:lnSpc>
                        <a:spcAft>
                          <a:spcPts val="1000"/>
                        </a:spcAft>
                        <a:buNone/>
                      </a:pPr>
                      <a:r>
                        <a:rPr lang="en-IN" sz="2100">
                          <a:effectLst/>
                        </a:rPr>
                        <a:t>SeizureTransformer: Scaling U-Net with Transformer for Simultaneous Time-Step Level Seizure Detection from Long EEG Recordings</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tc>
                  <a:txBody>
                    <a:bodyPr/>
                    <a:lstStyle/>
                    <a:p>
                      <a:pPr marL="0" marR="0" algn="just">
                        <a:lnSpc>
                          <a:spcPct val="150000"/>
                        </a:lnSpc>
                        <a:spcAft>
                          <a:spcPts val="1000"/>
                        </a:spcAft>
                        <a:buNone/>
                      </a:pPr>
                      <a:r>
                        <a:rPr lang="en-IN" sz="2100">
                          <a:effectLst/>
                        </a:rPr>
                        <a:t>Captures long-range dependencies and achieves state-of-the-art performance. Combines CNN and transformer effectively.</a:t>
                      </a:r>
                    </a:p>
                    <a:p>
                      <a:pPr marL="0" marR="0" indent="457200" algn="just">
                        <a:lnSpc>
                          <a:spcPct val="150000"/>
                        </a:lnSpc>
                        <a:spcAft>
                          <a:spcPts val="1000"/>
                        </a:spcAft>
                        <a:buNone/>
                      </a:pPr>
                      <a:r>
                        <a:rPr lang="en-IN" sz="2100">
                          <a:effectLst/>
                        </a:rPr>
                        <a:t> </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tc>
                  <a:txBody>
                    <a:bodyPr/>
                    <a:lstStyle/>
                    <a:p>
                      <a:pPr marL="0" marR="0" algn="just">
                        <a:lnSpc>
                          <a:spcPct val="150000"/>
                        </a:lnSpc>
                        <a:spcAft>
                          <a:spcPts val="1000"/>
                        </a:spcAft>
                        <a:buNone/>
                      </a:pPr>
                      <a:r>
                        <a:rPr lang="en-IN" sz="2100">
                          <a:effectLst/>
                        </a:rPr>
                        <a:t>High computational cost and complex architecture. Requires significant resources.</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extLst>
                  <a:ext uri="{0D108BD9-81ED-4DB2-BD59-A6C34878D82A}">
                    <a16:rowId xmlns:a16="http://schemas.microsoft.com/office/drawing/2014/main" val="514812474"/>
                  </a:ext>
                </a:extLst>
              </a:tr>
              <a:tr h="1388841">
                <a:tc>
                  <a:txBody>
                    <a:bodyPr/>
                    <a:lstStyle/>
                    <a:p>
                      <a:pPr marL="0" marR="0" algn="just">
                        <a:lnSpc>
                          <a:spcPct val="150000"/>
                        </a:lnSpc>
                        <a:spcAft>
                          <a:spcPts val="1000"/>
                        </a:spcAft>
                        <a:buNone/>
                      </a:pPr>
                      <a:r>
                        <a:rPr lang="en-IN" sz="2100">
                          <a:effectLst/>
                        </a:rPr>
                        <a:t>42</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tc>
                  <a:txBody>
                    <a:bodyPr/>
                    <a:lstStyle/>
                    <a:p>
                      <a:pPr marL="0" marR="0" algn="just">
                        <a:lnSpc>
                          <a:spcPct val="150000"/>
                        </a:lnSpc>
                        <a:spcAft>
                          <a:spcPts val="1000"/>
                        </a:spcAft>
                        <a:buNone/>
                      </a:pPr>
                      <a:r>
                        <a:rPr lang="en-IN" sz="2100">
                          <a:effectLst/>
                        </a:rPr>
                        <a:t>W. Weng et al. - Self-supervised Learning for Electroencephalogram: A Systematic Survey</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tc>
                  <a:txBody>
                    <a:bodyPr/>
                    <a:lstStyle/>
                    <a:p>
                      <a:pPr marL="0" marR="0" algn="just">
                        <a:lnSpc>
                          <a:spcPct val="150000"/>
                        </a:lnSpc>
                        <a:spcAft>
                          <a:spcPts val="1000"/>
                        </a:spcAft>
                        <a:buNone/>
                      </a:pPr>
                      <a:r>
                        <a:rPr lang="en-IN" sz="2100">
                          <a:effectLst/>
                        </a:rPr>
                        <a:t>Reduces dependency on labeled data and improves generalization. Explores multiple SSL strategies.</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tc>
                  <a:txBody>
                    <a:bodyPr/>
                    <a:lstStyle/>
                    <a:p>
                      <a:pPr marL="0" marR="0" algn="just">
                        <a:lnSpc>
                          <a:spcPct val="150000"/>
                        </a:lnSpc>
                        <a:spcAft>
                          <a:spcPts val="1000"/>
                        </a:spcAft>
                        <a:buNone/>
                      </a:pPr>
                      <a:r>
                        <a:rPr lang="en-IN" sz="2100">
                          <a:effectLst/>
                        </a:rPr>
                        <a:t>Requires careful design of pretext tasks. Training process is complex.</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extLst>
                  <a:ext uri="{0D108BD9-81ED-4DB2-BD59-A6C34878D82A}">
                    <a16:rowId xmlns:a16="http://schemas.microsoft.com/office/drawing/2014/main" val="2534149213"/>
                  </a:ext>
                </a:extLst>
              </a:tr>
              <a:tr h="1388841">
                <a:tc>
                  <a:txBody>
                    <a:bodyPr/>
                    <a:lstStyle/>
                    <a:p>
                      <a:pPr marL="0" marR="0" algn="just">
                        <a:lnSpc>
                          <a:spcPct val="150000"/>
                        </a:lnSpc>
                        <a:spcAft>
                          <a:spcPts val="1000"/>
                        </a:spcAft>
                        <a:buNone/>
                      </a:pPr>
                      <a:r>
                        <a:rPr lang="en-IN" sz="2100">
                          <a:effectLst/>
                        </a:rPr>
                        <a:t>43</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tc>
                  <a:txBody>
                    <a:bodyPr/>
                    <a:lstStyle/>
                    <a:p>
                      <a:pPr marL="0" marR="0" algn="just">
                        <a:lnSpc>
                          <a:spcPct val="150000"/>
                        </a:lnSpc>
                        <a:spcAft>
                          <a:spcPts val="1000"/>
                        </a:spcAft>
                        <a:buNone/>
                      </a:pPr>
                      <a:r>
                        <a:rPr lang="en-IN" sz="2100">
                          <a:effectLst/>
                        </a:rPr>
                        <a:t>J. J. Falco-Walter, I. E. Scheffer, and R. S. Fisher - The new definition and classification of seizures and epilepsy</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tc>
                  <a:txBody>
                    <a:bodyPr/>
                    <a:lstStyle/>
                    <a:p>
                      <a:pPr marL="0" marR="0" algn="just">
                        <a:lnSpc>
                          <a:spcPct val="150000"/>
                        </a:lnSpc>
                        <a:spcAft>
                          <a:spcPts val="1000"/>
                        </a:spcAft>
                        <a:buNone/>
                      </a:pPr>
                      <a:r>
                        <a:rPr lang="en-IN" sz="2100">
                          <a:effectLst/>
                        </a:rPr>
                        <a:t>Provides standardized labels improving dataset consistency. Supports better machine learning applications.</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tc>
                  <a:txBody>
                    <a:bodyPr/>
                    <a:lstStyle/>
                    <a:p>
                      <a:pPr marL="0" marR="0" algn="just">
                        <a:lnSpc>
                          <a:spcPct val="150000"/>
                        </a:lnSpc>
                        <a:spcAft>
                          <a:spcPts val="1000"/>
                        </a:spcAft>
                        <a:buNone/>
                      </a:pPr>
                      <a:r>
                        <a:rPr lang="en-IN" sz="2100" dirty="0">
                          <a:effectLst/>
                        </a:rPr>
                        <a:t>Not a predictive model or algorithm. Lacks computational framework.</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75045" marR="75045" marT="0" marB="0"/>
                </a:tc>
                <a:extLst>
                  <a:ext uri="{0D108BD9-81ED-4DB2-BD59-A6C34878D82A}">
                    <a16:rowId xmlns:a16="http://schemas.microsoft.com/office/drawing/2014/main" val="3123028892"/>
                  </a:ext>
                </a:extLst>
              </a:tr>
            </a:tbl>
          </a:graphicData>
        </a:graphic>
      </p:graphicFrame>
    </p:spTree>
    <p:extLst>
      <p:ext uri="{BB962C8B-B14F-4D97-AF65-F5344CB8AC3E}">
        <p14:creationId xmlns:p14="http://schemas.microsoft.com/office/powerpoint/2010/main" val="3884101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CD05AAB-EAC3-8936-6381-BA7EB00A0453}"/>
              </a:ext>
            </a:extLst>
          </p:cNvPr>
          <p:cNvGraphicFramePr>
            <a:graphicFrameLocks noGrp="1"/>
          </p:cNvGraphicFramePr>
          <p:nvPr/>
        </p:nvGraphicFramePr>
        <p:xfrm>
          <a:off x="1257300" y="2580179"/>
          <a:ext cx="15773402" cy="4646676"/>
        </p:xfrm>
        <a:graphic>
          <a:graphicData uri="http://schemas.openxmlformats.org/drawingml/2006/table">
            <a:tbl>
              <a:tblPr bandRow="1">
                <a:tableStyleId>{616DA210-FB5B-4158-B5E0-FEB733F419BA}</a:tableStyleId>
              </a:tblPr>
              <a:tblGrid>
                <a:gridCol w="1089974">
                  <a:extLst>
                    <a:ext uri="{9D8B030D-6E8A-4147-A177-3AD203B41FA5}">
                      <a16:colId xmlns:a16="http://schemas.microsoft.com/office/drawing/2014/main" val="220222169"/>
                    </a:ext>
                  </a:extLst>
                </a:gridCol>
                <a:gridCol w="6150683">
                  <a:extLst>
                    <a:ext uri="{9D8B030D-6E8A-4147-A177-3AD203B41FA5}">
                      <a16:colId xmlns:a16="http://schemas.microsoft.com/office/drawing/2014/main" val="3792208409"/>
                    </a:ext>
                  </a:extLst>
                </a:gridCol>
                <a:gridCol w="4174436">
                  <a:extLst>
                    <a:ext uri="{9D8B030D-6E8A-4147-A177-3AD203B41FA5}">
                      <a16:colId xmlns:a16="http://schemas.microsoft.com/office/drawing/2014/main" val="4034676966"/>
                    </a:ext>
                  </a:extLst>
                </a:gridCol>
                <a:gridCol w="4358309">
                  <a:extLst>
                    <a:ext uri="{9D8B030D-6E8A-4147-A177-3AD203B41FA5}">
                      <a16:colId xmlns:a16="http://schemas.microsoft.com/office/drawing/2014/main" val="325097602"/>
                    </a:ext>
                  </a:extLst>
                </a:gridCol>
              </a:tblGrid>
              <a:tr h="1388841">
                <a:tc>
                  <a:txBody>
                    <a:bodyPr/>
                    <a:lstStyle/>
                    <a:p>
                      <a:pPr marL="0" marR="0" algn="just">
                        <a:lnSpc>
                          <a:spcPct val="150000"/>
                        </a:lnSpc>
                        <a:spcAft>
                          <a:spcPts val="1000"/>
                        </a:spcAft>
                        <a:buNone/>
                      </a:pPr>
                      <a:r>
                        <a:rPr lang="en-IN" sz="2100">
                          <a:effectLst/>
                        </a:rPr>
                        <a:t>44</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102870" marR="102870" marT="0" marB="0"/>
                </a:tc>
                <a:tc>
                  <a:txBody>
                    <a:bodyPr/>
                    <a:lstStyle/>
                    <a:p>
                      <a:pPr marL="0" marR="0" algn="just">
                        <a:lnSpc>
                          <a:spcPct val="150000"/>
                        </a:lnSpc>
                        <a:spcAft>
                          <a:spcPts val="1000"/>
                        </a:spcAft>
                        <a:buNone/>
                      </a:pPr>
                      <a:r>
                        <a:rPr lang="en-IN" sz="2100">
                          <a:effectLst/>
                        </a:rPr>
                        <a:t>L. Wei and C. Mooney - Transfer Learning-based Seizure Detection on Multiple Channels of Paediatric EEGs</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102870" marR="102870" marT="0" marB="0"/>
                </a:tc>
                <a:tc>
                  <a:txBody>
                    <a:bodyPr/>
                    <a:lstStyle/>
                    <a:p>
                      <a:pPr marL="0" marR="0" algn="just">
                        <a:lnSpc>
                          <a:spcPct val="150000"/>
                        </a:lnSpc>
                        <a:spcAft>
                          <a:spcPts val="1000"/>
                        </a:spcAft>
                        <a:buNone/>
                      </a:pPr>
                      <a:r>
                        <a:rPr lang="en-IN" sz="2100">
                          <a:effectLst/>
                        </a:rPr>
                        <a:t>Achieves good accuracy (~85%) with reduced training cost. Supports multi-channel data fusion.</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102870" marR="102870" marT="0" marB="0"/>
                </a:tc>
                <a:tc>
                  <a:txBody>
                    <a:bodyPr/>
                    <a:lstStyle/>
                    <a:p>
                      <a:pPr marL="0" marR="0" algn="just">
                        <a:lnSpc>
                          <a:spcPct val="150000"/>
                        </a:lnSpc>
                        <a:spcAft>
                          <a:spcPts val="1000"/>
                        </a:spcAft>
                        <a:buNone/>
                      </a:pPr>
                      <a:r>
                        <a:rPr lang="en-IN" sz="2100" dirty="0">
                          <a:effectLst/>
                        </a:rPr>
                        <a:t>Depends on spectrogram transformation. Scalability is moderate.</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102870" marR="102870" marT="0" marB="0"/>
                </a:tc>
                <a:extLst>
                  <a:ext uri="{0D108BD9-81ED-4DB2-BD59-A6C34878D82A}">
                    <a16:rowId xmlns:a16="http://schemas.microsoft.com/office/drawing/2014/main" val="3994745246"/>
                  </a:ext>
                </a:extLst>
              </a:tr>
              <a:tr h="1388841">
                <a:tc>
                  <a:txBody>
                    <a:bodyPr/>
                    <a:lstStyle/>
                    <a:p>
                      <a:pPr marL="0" marR="0" algn="just">
                        <a:lnSpc>
                          <a:spcPct val="150000"/>
                        </a:lnSpc>
                        <a:spcAft>
                          <a:spcPts val="1000"/>
                        </a:spcAft>
                        <a:buNone/>
                      </a:pPr>
                      <a:r>
                        <a:rPr lang="en-IN" sz="2100">
                          <a:effectLst/>
                        </a:rPr>
                        <a:t>45</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102870" marR="102870" marT="0" marB="0"/>
                </a:tc>
                <a:tc>
                  <a:txBody>
                    <a:bodyPr/>
                    <a:lstStyle/>
                    <a:p>
                      <a:pPr marL="0" marR="0" algn="just">
                        <a:lnSpc>
                          <a:spcPct val="150000"/>
                        </a:lnSpc>
                        <a:spcAft>
                          <a:spcPts val="1000"/>
                        </a:spcAft>
                        <a:buNone/>
                      </a:pPr>
                      <a:r>
                        <a:rPr lang="en-IN" sz="2100">
                          <a:effectLst/>
                        </a:rPr>
                        <a:t>H. Banville, O. Chehab, A. Hyvärinen, D.-A. Engemann, and A. Gramfort - Uncovering the structure of clinical EEG signals with self-supervised learning</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102870" marR="102870" marT="0" marB="0"/>
                </a:tc>
                <a:tc>
                  <a:txBody>
                    <a:bodyPr/>
                    <a:lstStyle/>
                    <a:p>
                      <a:pPr marL="0" marR="0" algn="just">
                        <a:lnSpc>
                          <a:spcPct val="150000"/>
                        </a:lnSpc>
                        <a:spcAft>
                          <a:spcPts val="1000"/>
                        </a:spcAft>
                        <a:buNone/>
                      </a:pPr>
                      <a:r>
                        <a:rPr lang="en-IN" sz="2100">
                          <a:effectLst/>
                        </a:rPr>
                        <a:t>Works effectively with unlabeled data and learns robust features. Provides strong generalization.</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102870" marR="102870" marT="0" marB="0"/>
                </a:tc>
                <a:tc>
                  <a:txBody>
                    <a:bodyPr/>
                    <a:lstStyle/>
                    <a:p>
                      <a:pPr marL="0" marR="0" algn="just">
                        <a:lnSpc>
                          <a:spcPct val="150000"/>
                        </a:lnSpc>
                        <a:spcAft>
                          <a:spcPts val="1000"/>
                        </a:spcAft>
                        <a:buNone/>
                      </a:pPr>
                      <a:r>
                        <a:rPr lang="en-IN" sz="2100" dirty="0">
                          <a:effectLst/>
                        </a:rPr>
                        <a:t>Training is complex and requires careful task design. Computational effort is high</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102870" marR="102870" marT="0" marB="0"/>
                </a:tc>
                <a:extLst>
                  <a:ext uri="{0D108BD9-81ED-4DB2-BD59-A6C34878D82A}">
                    <a16:rowId xmlns:a16="http://schemas.microsoft.com/office/drawing/2014/main" val="3613530914"/>
                  </a:ext>
                </a:extLst>
              </a:tr>
              <a:tr h="1868901">
                <a:tc>
                  <a:txBody>
                    <a:bodyPr/>
                    <a:lstStyle/>
                    <a:p>
                      <a:pPr marL="0" marR="0" algn="just">
                        <a:lnSpc>
                          <a:spcPct val="150000"/>
                        </a:lnSpc>
                        <a:spcAft>
                          <a:spcPts val="1000"/>
                        </a:spcAft>
                        <a:buNone/>
                      </a:pPr>
                      <a:r>
                        <a:rPr lang="en-IN" sz="2100">
                          <a:effectLst/>
                        </a:rPr>
                        <a:t>46</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102870" marR="102870" marT="0" marB="0"/>
                </a:tc>
                <a:tc>
                  <a:txBody>
                    <a:bodyPr/>
                    <a:lstStyle/>
                    <a:p>
                      <a:pPr marL="0" marR="0" algn="just">
                        <a:lnSpc>
                          <a:spcPct val="150000"/>
                        </a:lnSpc>
                        <a:spcAft>
                          <a:spcPts val="1000"/>
                        </a:spcAft>
                        <a:buNone/>
                      </a:pPr>
                      <a:r>
                        <a:rPr lang="en-IN" sz="2100">
                          <a:effectLst/>
                        </a:rPr>
                        <a:t>A. Shoeibi et al. - Automatic Diagnosis of Schizophrenia in EEG Signals Using CNN-LSTM Models</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102870" marR="102870" marT="0" marB="0"/>
                </a:tc>
                <a:tc>
                  <a:txBody>
                    <a:bodyPr/>
                    <a:lstStyle/>
                    <a:p>
                      <a:pPr marL="0" marR="0" algn="just">
                        <a:lnSpc>
                          <a:spcPct val="150000"/>
                        </a:lnSpc>
                        <a:spcAft>
                          <a:spcPts val="1000"/>
                        </a:spcAft>
                        <a:buNone/>
                      </a:pPr>
                      <a:r>
                        <a:rPr lang="en-IN" sz="2100">
                          <a:effectLst/>
                        </a:rPr>
                        <a:t>Achieves very high accuracy (~99.25%) with strong spatial-temporal learning. Reduces need for manual feature extraction.</a:t>
                      </a:r>
                      <a:endParaRPr lang="en-IN" sz="210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102870" marR="102870" marT="0" marB="0"/>
                </a:tc>
                <a:tc>
                  <a:txBody>
                    <a:bodyPr/>
                    <a:lstStyle/>
                    <a:p>
                      <a:pPr marL="0" marR="0" algn="just">
                        <a:lnSpc>
                          <a:spcPct val="150000"/>
                        </a:lnSpc>
                        <a:spcAft>
                          <a:spcPts val="1000"/>
                        </a:spcAft>
                        <a:buNone/>
                      </a:pPr>
                      <a:r>
                        <a:rPr lang="en-IN" sz="2100" dirty="0">
                          <a:effectLst/>
                        </a:rPr>
                        <a:t>Dataset is small (28 subjects) limiting generalization. Focuses only on binary classification.	</a:t>
                      </a:r>
                      <a:endParaRPr lang="en-IN" sz="2100" dirty="0">
                        <a:solidFill>
                          <a:srgbClr val="000000"/>
                        </a:solidFill>
                        <a:effectLst/>
                        <a:latin typeface="Times New Roman" panose="02020603050405020304" pitchFamily="18" charset="0"/>
                        <a:ea typeface="Times New Roman" panose="02020603050405020304" pitchFamily="18" charset="0"/>
                        <a:cs typeface="Tunga" panose="020B0502040204020203" pitchFamily="34" charset="0"/>
                      </a:endParaRPr>
                    </a:p>
                  </a:txBody>
                  <a:tcPr marL="102870" marR="102870" marT="0" marB="0"/>
                </a:tc>
                <a:extLst>
                  <a:ext uri="{0D108BD9-81ED-4DB2-BD59-A6C34878D82A}">
                    <a16:rowId xmlns:a16="http://schemas.microsoft.com/office/drawing/2014/main" val="2451375081"/>
                  </a:ext>
                </a:extLst>
              </a:tr>
            </a:tbl>
          </a:graphicData>
        </a:graphic>
      </p:graphicFrame>
    </p:spTree>
    <p:extLst>
      <p:ext uri="{BB962C8B-B14F-4D97-AF65-F5344CB8AC3E}">
        <p14:creationId xmlns:p14="http://schemas.microsoft.com/office/powerpoint/2010/main" val="2587189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073678-5276-A8C2-F2A5-C8359924BA06}"/>
              </a:ext>
            </a:extLst>
          </p:cNvPr>
          <p:cNvSpPr>
            <a:spLocks noGrp="1"/>
          </p:cNvSpPr>
          <p:nvPr>
            <p:ph type="dt" sz="half" idx="10"/>
          </p:nvPr>
        </p:nvSpPr>
        <p:spPr/>
        <p:txBody>
          <a:bodyPr/>
          <a:lstStyle/>
          <a:p>
            <a:fld id="{2F94297E-87B1-45DD-85FA-F98211548008}" type="datetime3">
              <a:rPr lang="en-US" smtClean="0"/>
              <a:t>26 October 2026</a:t>
            </a:fld>
            <a:endParaRPr lang="en-US" dirty="0"/>
          </a:p>
        </p:txBody>
      </p:sp>
      <p:sp>
        <p:nvSpPr>
          <p:cNvPr id="3" name="Footer Placeholder 2">
            <a:extLst>
              <a:ext uri="{FF2B5EF4-FFF2-40B4-BE49-F238E27FC236}">
                <a16:creationId xmlns:a16="http://schemas.microsoft.com/office/drawing/2014/main" id="{D61FE82B-55EA-D696-3B9A-4CF2CC9CF2F0}"/>
              </a:ext>
            </a:extLst>
          </p:cNvPr>
          <p:cNvSpPr>
            <a:spLocks noGrp="1"/>
          </p:cNvSpPr>
          <p:nvPr>
            <p:ph type="ftr" sz="quarter" idx="11"/>
          </p:nvPr>
        </p:nvSpPr>
        <p:spPr/>
        <p:txBody>
          <a:bodyPr/>
          <a:lstStyle/>
          <a:p>
            <a:r>
              <a:rPr lang="en-IN" dirty="0"/>
              <a:t>Dept. of CSE</a:t>
            </a:r>
          </a:p>
        </p:txBody>
      </p:sp>
      <p:sp>
        <p:nvSpPr>
          <p:cNvPr id="4" name="Slide Number Placeholder 3">
            <a:extLst>
              <a:ext uri="{FF2B5EF4-FFF2-40B4-BE49-F238E27FC236}">
                <a16:creationId xmlns:a16="http://schemas.microsoft.com/office/drawing/2014/main" id="{40D4715A-7998-8486-4413-2F1C80BA881E}"/>
              </a:ext>
            </a:extLst>
          </p:cNvPr>
          <p:cNvSpPr>
            <a:spLocks noGrp="1"/>
          </p:cNvSpPr>
          <p:nvPr>
            <p:ph type="sldNum" sz="quarter" idx="12"/>
          </p:nvPr>
        </p:nvSpPr>
        <p:spPr/>
        <p:txBody>
          <a:bodyPr/>
          <a:lstStyle/>
          <a:p>
            <a:fld id="{B6F15528-21DE-4FAA-801E-634DDDAF4B2B}" type="slidenum">
              <a:rPr lang="en-IN" smtClean="0"/>
              <a:pPr/>
              <a:t>15</a:t>
            </a:fld>
            <a:endParaRPr lang="en-IN" dirty="0"/>
          </a:p>
        </p:txBody>
      </p:sp>
      <p:sp>
        <p:nvSpPr>
          <p:cNvPr id="5" name="object 5">
            <a:extLst>
              <a:ext uri="{FF2B5EF4-FFF2-40B4-BE49-F238E27FC236}">
                <a16:creationId xmlns:a16="http://schemas.microsoft.com/office/drawing/2014/main" id="{C297FA6E-3B33-5745-A03A-9D9392B283B5}"/>
              </a:ext>
            </a:extLst>
          </p:cNvPr>
          <p:cNvSpPr txBox="1">
            <a:spLocks/>
          </p:cNvSpPr>
          <p:nvPr/>
        </p:nvSpPr>
        <p:spPr>
          <a:xfrm>
            <a:off x="995947" y="34946"/>
            <a:ext cx="16129000" cy="1243930"/>
          </a:xfrm>
          <a:prstGeom prst="rect">
            <a:avLst/>
          </a:prstGeom>
        </p:spPr>
        <p:txBody>
          <a:bodyPr vert="horz" wrap="square" lIns="0" tIns="12700" rIns="0" bIns="0" rtlCol="0">
            <a:sp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marL="12700" algn="ctr">
              <a:lnSpc>
                <a:spcPct val="100000"/>
              </a:lnSpc>
              <a:spcBef>
                <a:spcPts val="100"/>
              </a:spcBef>
            </a:pPr>
            <a:r>
              <a:rPr lang="en-US" sz="8000" b="1" dirty="0">
                <a:solidFill>
                  <a:schemeClr val="bg2">
                    <a:lumMod val="10000"/>
                  </a:schemeClr>
                </a:solidFill>
                <a:latin typeface="Times New Roman" panose="02020603050405020304" pitchFamily="18" charset="0"/>
                <a:cs typeface="Times New Roman" panose="02020603050405020304" pitchFamily="18" charset="0"/>
              </a:rPr>
              <a:t>Architecture diagram </a:t>
            </a:r>
          </a:p>
        </p:txBody>
      </p:sp>
      <p:pic>
        <p:nvPicPr>
          <p:cNvPr id="7" name="Picture 6">
            <a:extLst>
              <a:ext uri="{FF2B5EF4-FFF2-40B4-BE49-F238E27FC236}">
                <a16:creationId xmlns:a16="http://schemas.microsoft.com/office/drawing/2014/main" id="{20399FE5-9D4E-5FDD-3AB0-3BCBF78790B3}"/>
              </a:ext>
            </a:extLst>
          </p:cNvPr>
          <p:cNvPicPr>
            <a:picLocks noChangeAspect="1"/>
          </p:cNvPicPr>
          <p:nvPr/>
        </p:nvPicPr>
        <p:blipFill>
          <a:blip r:embed="rId2">
            <a:extLst>
              <a:ext uri="{28A0092B-C50C-407E-A947-70E740481C1C}">
                <a14:useLocalDpi xmlns:a14="http://schemas.microsoft.com/office/drawing/2010/main" val="0"/>
              </a:ext>
            </a:extLst>
          </a:blip>
          <a:srcRect t="3332" b="4331"/>
          <a:stretch>
            <a:fillRect/>
          </a:stretch>
        </p:blipFill>
        <p:spPr>
          <a:xfrm>
            <a:off x="4953000" y="1257300"/>
            <a:ext cx="8192433" cy="8411651"/>
          </a:xfrm>
          <a:prstGeom prst="rect">
            <a:avLst/>
          </a:prstGeom>
        </p:spPr>
      </p:pic>
    </p:spTree>
    <p:extLst>
      <p:ext uri="{BB962C8B-B14F-4D97-AF65-F5344CB8AC3E}">
        <p14:creationId xmlns:p14="http://schemas.microsoft.com/office/powerpoint/2010/main" val="1066348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25798-EDB8-B707-7C57-82D9BB7E38F5}"/>
            </a:ext>
          </a:extLst>
        </p:cNvPr>
        <p:cNvGrpSpPr/>
        <p:nvPr/>
      </p:nvGrpSpPr>
      <p:grpSpPr>
        <a:xfrm>
          <a:off x="0" y="0"/>
          <a:ext cx="0" cy="0"/>
          <a:chOff x="0" y="0"/>
          <a:chExt cx="0" cy="0"/>
        </a:xfrm>
      </p:grpSpPr>
      <p:sp>
        <p:nvSpPr>
          <p:cNvPr id="13" name="Subtitle 12">
            <a:extLst>
              <a:ext uri="{FF2B5EF4-FFF2-40B4-BE49-F238E27FC236}">
                <a16:creationId xmlns:a16="http://schemas.microsoft.com/office/drawing/2014/main" id="{18B7466B-C9DC-4257-060D-705ECDD41453}"/>
              </a:ext>
            </a:extLst>
          </p:cNvPr>
          <p:cNvSpPr>
            <a:spLocks noGrp="1"/>
          </p:cNvSpPr>
          <p:nvPr>
            <p:ph type="subTitle" idx="1"/>
          </p:nvPr>
        </p:nvSpPr>
        <p:spPr>
          <a:xfrm>
            <a:off x="2057400" y="803406"/>
            <a:ext cx="13373099" cy="1295400"/>
          </a:xfrm>
        </p:spPr>
        <p:txBody>
          <a:bodyPr>
            <a:normAutofit/>
          </a:bodyPr>
          <a:lstStyle/>
          <a:p>
            <a:r>
              <a:rPr lang="en-IN" sz="8000" b="1" dirty="0">
                <a:latin typeface="Times New Roman" panose="02020603050405020304" pitchFamily="18" charset="0"/>
                <a:cs typeface="Times New Roman" panose="02020603050405020304" pitchFamily="18" charset="0"/>
              </a:rPr>
              <a:t>Expected Outcomes </a:t>
            </a:r>
            <a:endParaRPr lang="en-IN" sz="8000" i="1"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F408469E-4869-3963-35B1-A4CB05700A23}"/>
              </a:ext>
            </a:extLst>
          </p:cNvPr>
          <p:cNvSpPr>
            <a:spLocks noGrp="1"/>
          </p:cNvSpPr>
          <p:nvPr>
            <p:ph type="dt" sz="half" idx="10"/>
          </p:nvPr>
        </p:nvSpPr>
        <p:spPr/>
        <p:txBody>
          <a:bodyPr/>
          <a:lstStyle/>
          <a:p>
            <a:fld id="{329A0061-5C20-4BFA-8D13-4B871A15E322}"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39F03182-9E6C-3B06-981A-94ED2CB13FEC}"/>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a:extLst>
              <a:ext uri="{FF2B5EF4-FFF2-40B4-BE49-F238E27FC236}">
                <a16:creationId xmlns:a16="http://schemas.microsoft.com/office/drawing/2014/main" id="{7CBD49B1-1739-5A2C-1307-31D78C86E243}"/>
              </a:ext>
            </a:extLst>
          </p:cNvPr>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16</a:t>
            </a:fld>
            <a:endParaRPr lang="en-IN"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99169561-7000-AAFD-69E4-A77662C88D57}"/>
              </a:ext>
            </a:extLst>
          </p:cNvPr>
          <p:cNvSpPr txBox="1"/>
          <p:nvPr/>
        </p:nvSpPr>
        <p:spPr>
          <a:xfrm>
            <a:off x="1257300" y="2247900"/>
            <a:ext cx="15773400" cy="6845913"/>
          </a:xfrm>
          <a:prstGeom prst="rect">
            <a:avLst/>
          </a:prstGeom>
          <a:noFill/>
        </p:spPr>
        <p:txBody>
          <a:bodyPr wrap="square" rtlCol="0">
            <a:spAutoFit/>
          </a:bodyPr>
          <a:lstStyle/>
          <a:p>
            <a:pPr marL="571500" marR="100330" indent="-571500" algn="just">
              <a:lnSpc>
                <a:spcPct val="150000"/>
              </a:lnSpc>
              <a:spcAft>
                <a:spcPts val="800"/>
              </a:spcAft>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A standardized and pre-processed EEG dataset with cleaned, filtered, normalized, and segmented seizure recordings suitable for deep learning analysis. </a:t>
            </a:r>
          </a:p>
          <a:p>
            <a:pPr marL="571500" marR="100330" indent="-571500" algn="just">
              <a:lnSpc>
                <a:spcPct val="150000"/>
              </a:lnSpc>
              <a:spcAft>
                <a:spcPts val="800"/>
              </a:spcAft>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A functional hierarchical deep learning framework capable of performing seizure detection followed by seizure subtype classification using transfer learning. </a:t>
            </a:r>
          </a:p>
          <a:p>
            <a:pPr marL="571500" marR="100330" indent="-571500" algn="just">
              <a:lnSpc>
                <a:spcPct val="150000"/>
              </a:lnSpc>
              <a:spcAft>
                <a:spcPts val="800"/>
              </a:spcAft>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An evaluated automated multi-class seizure classification system with validated performance metrics (e.g., accuracy, precision, recall, F1-score) using subject wise cross validation. </a:t>
            </a:r>
          </a:p>
        </p:txBody>
      </p:sp>
    </p:spTree>
    <p:extLst>
      <p:ext uri="{BB962C8B-B14F-4D97-AF65-F5344CB8AC3E}">
        <p14:creationId xmlns:p14="http://schemas.microsoft.com/office/powerpoint/2010/main" val="42768649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17</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System Architecture</a:t>
            </a:r>
          </a:p>
        </p:txBody>
      </p:sp>
      <p:sp>
        <p:nvSpPr>
          <p:cNvPr id="10" name="Rounded Rectangle 9"/>
          <p:cNvSpPr/>
          <p:nvPr/>
        </p:nvSpPr>
        <p:spPr>
          <a:xfrm>
            <a:off x="1257000" y="1700000"/>
            <a:ext cx="4700000" cy="800000"/>
          </a:xfrm>
          <a:prstGeom prst="roundRect">
            <a:avLst>
              <a:gd name="adj" fmla="val 12000"/>
            </a:avLst>
          </a:prstGeom>
          <a:solidFill>
            <a:srgbClr val="E7E6E6"/>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000" b="1" i="0">
                <a:solidFill>
                  <a:srgbClr val="1A1A1A"/>
                </a:solidFill>
                <a:latin typeface="Times New Roman"/>
                <a:cs typeface="Times New Roman"/>
              </a:rPr>
              <a:t>Data &amp; Preprocessing</a:t>
            </a:r>
          </a:p>
        </p:txBody>
      </p:sp>
      <p:sp>
        <p:nvSpPr>
          <p:cNvPr id="11" name="Rounded Rectangle 10"/>
          <p:cNvSpPr/>
          <p:nvPr/>
        </p:nvSpPr>
        <p:spPr>
          <a:xfrm>
            <a:off x="1257000" y="2900000"/>
            <a:ext cx="4700000" cy="1050000"/>
          </a:xfrm>
          <a:prstGeom prst="roundRect">
            <a:avLst>
              <a:gd name="adj" fmla="val 12000"/>
            </a:avLst>
          </a:prstGeom>
          <a:solidFill>
            <a:srgbClr val="FFFFFF"/>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0" i="0">
                <a:solidFill>
                  <a:srgbClr val="1A1A1A"/>
                </a:solidFill>
                <a:latin typeface="Times New Roman"/>
                <a:cs typeface="Times New Roman"/>
              </a:rPr>
              <a:t>CHB-MIT + Siena</a:t>
            </a:r>
          </a:p>
          <a:p>
            <a:pPr algn="ctr"/>
            <a:r>
              <a:rPr sz="2400" b="0" i="0">
                <a:solidFill>
                  <a:srgbClr val="1A1A1A"/>
                </a:solidFill>
                <a:latin typeface="Times New Roman"/>
                <a:cs typeface="Times New Roman"/>
              </a:rPr>
              <a:t>scalp EEG</a:t>
            </a:r>
          </a:p>
        </p:txBody>
      </p:sp>
      <p:cxnSp>
        <p:nvCxnSpPr>
          <p:cNvPr id="12" name="Connector 11"/>
          <p:cNvCxnSpPr/>
          <p:nvPr/>
        </p:nvCxnSpPr>
        <p:spPr>
          <a:xfrm>
            <a:off x="3607000" y="3950000"/>
            <a:ext cx="0" cy="450000"/>
          </a:xfrm>
          <a:prstGeom prst="line">
            <a:avLst/>
          </a:prstGeom>
          <a:ln w="25400">
            <a:solidFill>
              <a:srgbClr val="1A1A1A"/>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257000" y="4400000"/>
            <a:ext cx="4700000" cy="1050000"/>
          </a:xfrm>
          <a:prstGeom prst="roundRect">
            <a:avLst>
              <a:gd name="adj" fmla="val 12000"/>
            </a:avLst>
          </a:prstGeom>
          <a:solidFill>
            <a:srgbClr val="FFFFFF"/>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0" i="0">
                <a:solidFill>
                  <a:srgbClr val="1A1A1A"/>
                </a:solidFill>
                <a:latin typeface="Times New Roman"/>
                <a:cs typeface="Times New Roman"/>
              </a:rPr>
              <a:t>18-channel bipolar</a:t>
            </a:r>
          </a:p>
          <a:p>
            <a:pPr algn="ctr"/>
            <a:r>
              <a:rPr sz="2400" b="0" i="0">
                <a:solidFill>
                  <a:srgbClr val="1A1A1A"/>
                </a:solidFill>
                <a:latin typeface="Times New Roman"/>
                <a:cs typeface="Times New Roman"/>
              </a:rPr>
              <a:t>(double-banana) montage</a:t>
            </a:r>
          </a:p>
        </p:txBody>
      </p:sp>
      <p:cxnSp>
        <p:nvCxnSpPr>
          <p:cNvPr id="14" name="Connector 13"/>
          <p:cNvCxnSpPr/>
          <p:nvPr/>
        </p:nvCxnSpPr>
        <p:spPr>
          <a:xfrm>
            <a:off x="3607000" y="5450000"/>
            <a:ext cx="0" cy="450000"/>
          </a:xfrm>
          <a:prstGeom prst="line">
            <a:avLst/>
          </a:prstGeom>
          <a:ln w="25400">
            <a:solidFill>
              <a:srgbClr val="1A1A1A"/>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257000" y="5900000"/>
            <a:ext cx="4700000" cy="1050000"/>
          </a:xfrm>
          <a:prstGeom prst="roundRect">
            <a:avLst>
              <a:gd name="adj" fmla="val 12000"/>
            </a:avLst>
          </a:prstGeom>
          <a:solidFill>
            <a:srgbClr val="FFFFFF"/>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0" i="0">
                <a:solidFill>
                  <a:srgbClr val="1A1A1A"/>
                </a:solidFill>
                <a:latin typeface="Times New Roman"/>
                <a:cs typeface="Times New Roman"/>
              </a:rPr>
              <a:t>Notch + 0.5–45 Hz bandpass</a:t>
            </a:r>
          </a:p>
          <a:p>
            <a:pPr algn="ctr"/>
            <a:r>
              <a:rPr sz="2400" b="0" i="0">
                <a:solidFill>
                  <a:srgbClr val="1A1A1A"/>
                </a:solidFill>
                <a:latin typeface="Times New Roman"/>
                <a:cs typeface="Times New Roman"/>
              </a:rPr>
              <a:t>Resample to 256 Hz</a:t>
            </a:r>
          </a:p>
        </p:txBody>
      </p:sp>
      <p:cxnSp>
        <p:nvCxnSpPr>
          <p:cNvPr id="16" name="Connector 15"/>
          <p:cNvCxnSpPr/>
          <p:nvPr/>
        </p:nvCxnSpPr>
        <p:spPr>
          <a:xfrm>
            <a:off x="3607000" y="6950000"/>
            <a:ext cx="0" cy="450000"/>
          </a:xfrm>
          <a:prstGeom prst="line">
            <a:avLst/>
          </a:prstGeom>
          <a:ln w="25400">
            <a:solidFill>
              <a:srgbClr val="1A1A1A"/>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257000" y="7400000"/>
            <a:ext cx="4700000" cy="1050000"/>
          </a:xfrm>
          <a:prstGeom prst="roundRect">
            <a:avLst>
              <a:gd name="adj" fmla="val 12000"/>
            </a:avLst>
          </a:prstGeom>
          <a:solidFill>
            <a:srgbClr val="FFFFFF"/>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0" i="0">
                <a:solidFill>
                  <a:srgbClr val="1A1A1A"/>
                </a:solidFill>
                <a:latin typeface="Times New Roman"/>
                <a:cs typeface="Times New Roman"/>
              </a:rPr>
              <a:t>Windowing +</a:t>
            </a:r>
          </a:p>
          <a:p>
            <a:pPr algn="ctr"/>
            <a:r>
              <a:rPr sz="2400" b="0" i="0">
                <a:solidFill>
                  <a:srgbClr val="1A1A1A"/>
                </a:solidFill>
                <a:latin typeface="Times New Roman"/>
                <a:cs typeface="Times New Roman"/>
              </a:rPr>
              <a:t>artifact rejection</a:t>
            </a:r>
          </a:p>
        </p:txBody>
      </p:sp>
      <p:cxnSp>
        <p:nvCxnSpPr>
          <p:cNvPr id="18" name="Connector 17"/>
          <p:cNvCxnSpPr/>
          <p:nvPr/>
        </p:nvCxnSpPr>
        <p:spPr>
          <a:xfrm>
            <a:off x="6017000" y="2100000"/>
            <a:ext cx="717000" cy="0"/>
          </a:xfrm>
          <a:prstGeom prst="line">
            <a:avLst/>
          </a:prstGeom>
          <a:ln w="25400">
            <a:solidFill>
              <a:srgbClr val="1A1A1A"/>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794000" y="1700000"/>
            <a:ext cx="4700000" cy="800000"/>
          </a:xfrm>
          <a:prstGeom prst="roundRect">
            <a:avLst>
              <a:gd name="adj" fmla="val 12000"/>
            </a:avLst>
          </a:prstGeom>
          <a:solidFill>
            <a:srgbClr val="E7E6E6"/>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000" b="1" i="0">
                <a:solidFill>
                  <a:srgbClr val="1A1A1A"/>
                </a:solidFill>
                <a:latin typeface="Times New Roman"/>
                <a:cs typeface="Times New Roman"/>
              </a:rPr>
              <a:t>Stage 1: Detection</a:t>
            </a:r>
          </a:p>
        </p:txBody>
      </p:sp>
      <p:sp>
        <p:nvSpPr>
          <p:cNvPr id="20" name="Rounded Rectangle 19"/>
          <p:cNvSpPr/>
          <p:nvPr/>
        </p:nvSpPr>
        <p:spPr>
          <a:xfrm>
            <a:off x="6794000" y="2900000"/>
            <a:ext cx="4700000" cy="1050000"/>
          </a:xfrm>
          <a:prstGeom prst="roundRect">
            <a:avLst>
              <a:gd name="adj" fmla="val 12000"/>
            </a:avLst>
          </a:prstGeom>
          <a:solidFill>
            <a:srgbClr val="FFFFFF"/>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0" i="0">
                <a:solidFill>
                  <a:srgbClr val="1A1A1A"/>
                </a:solidFill>
                <a:latin typeface="Times New Roman"/>
                <a:cs typeface="Times New Roman"/>
              </a:rPr>
              <a:t>4 s windows</a:t>
            </a:r>
          </a:p>
          <a:p>
            <a:pPr algn="ctr"/>
            <a:r>
              <a:rPr sz="2400" b="0" i="0">
                <a:solidFill>
                  <a:srgbClr val="1A1A1A"/>
                </a:solidFill>
                <a:latin typeface="Times New Roman"/>
                <a:cs typeface="Times New Roman"/>
              </a:rPr>
              <a:t>18 × 1024 samples</a:t>
            </a:r>
          </a:p>
        </p:txBody>
      </p:sp>
      <p:cxnSp>
        <p:nvCxnSpPr>
          <p:cNvPr id="21" name="Connector 20"/>
          <p:cNvCxnSpPr/>
          <p:nvPr/>
        </p:nvCxnSpPr>
        <p:spPr>
          <a:xfrm>
            <a:off x="9144000" y="3950000"/>
            <a:ext cx="0" cy="450000"/>
          </a:xfrm>
          <a:prstGeom prst="line">
            <a:avLst/>
          </a:prstGeom>
          <a:ln w="25400">
            <a:solidFill>
              <a:srgbClr val="1A1A1A"/>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794000" y="4400000"/>
            <a:ext cx="4700000" cy="1050000"/>
          </a:xfrm>
          <a:prstGeom prst="roundRect">
            <a:avLst>
              <a:gd name="adj" fmla="val 12000"/>
            </a:avLst>
          </a:prstGeom>
          <a:solidFill>
            <a:srgbClr val="FFFFFF"/>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0" i="0">
                <a:solidFill>
                  <a:srgbClr val="1A1A1A"/>
                </a:solidFill>
                <a:latin typeface="Times New Roman"/>
                <a:cs typeface="Times New Roman"/>
              </a:rPr>
              <a:t>CRNN backbone</a:t>
            </a:r>
          </a:p>
          <a:p>
            <a:pPr algn="ctr"/>
            <a:r>
              <a:rPr sz="2400" b="0" i="0">
                <a:solidFill>
                  <a:srgbClr val="1A1A1A"/>
                </a:solidFill>
                <a:latin typeface="Times New Roman"/>
                <a:cs typeface="Times New Roman"/>
              </a:rPr>
              <a:t>Conv → BiLSTM → Attention</a:t>
            </a:r>
          </a:p>
        </p:txBody>
      </p:sp>
      <p:cxnSp>
        <p:nvCxnSpPr>
          <p:cNvPr id="23" name="Connector 22"/>
          <p:cNvCxnSpPr/>
          <p:nvPr/>
        </p:nvCxnSpPr>
        <p:spPr>
          <a:xfrm>
            <a:off x="9144000" y="5450000"/>
            <a:ext cx="0" cy="450000"/>
          </a:xfrm>
          <a:prstGeom prst="line">
            <a:avLst/>
          </a:prstGeom>
          <a:ln w="25400">
            <a:solidFill>
              <a:srgbClr val="1A1A1A"/>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794000" y="5900000"/>
            <a:ext cx="4700000" cy="1050000"/>
          </a:xfrm>
          <a:prstGeom prst="roundRect">
            <a:avLst>
              <a:gd name="adj" fmla="val 12000"/>
            </a:avLst>
          </a:prstGeom>
          <a:solidFill>
            <a:srgbClr val="FFFFFF"/>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0" i="0">
                <a:solidFill>
                  <a:srgbClr val="1A1A1A"/>
                </a:solidFill>
                <a:latin typeface="Times New Roman"/>
                <a:cs typeface="Times New Roman"/>
              </a:rPr>
              <a:t>Focal loss training</a:t>
            </a:r>
          </a:p>
          <a:p>
            <a:pPr algn="ctr"/>
            <a:r>
              <a:rPr sz="2400" b="0" i="0">
                <a:solidFill>
                  <a:srgbClr val="1A1A1A"/>
                </a:solidFill>
                <a:latin typeface="Times New Roman"/>
                <a:cs typeface="Times New Roman"/>
              </a:rPr>
              <a:t>Threshold = 0.65</a:t>
            </a:r>
          </a:p>
        </p:txBody>
      </p:sp>
      <p:cxnSp>
        <p:nvCxnSpPr>
          <p:cNvPr id="25" name="Connector 24"/>
          <p:cNvCxnSpPr/>
          <p:nvPr/>
        </p:nvCxnSpPr>
        <p:spPr>
          <a:xfrm>
            <a:off x="9144000" y="6950000"/>
            <a:ext cx="0" cy="450000"/>
          </a:xfrm>
          <a:prstGeom prst="line">
            <a:avLst/>
          </a:prstGeom>
          <a:ln w="25400">
            <a:solidFill>
              <a:srgbClr val="1A1A1A"/>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794000" y="7400000"/>
            <a:ext cx="4700000" cy="1050000"/>
          </a:xfrm>
          <a:prstGeom prst="roundRect">
            <a:avLst>
              <a:gd name="adj" fmla="val 12000"/>
            </a:avLst>
          </a:prstGeom>
          <a:solidFill>
            <a:srgbClr val="FBE4E4"/>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0" i="0">
                <a:solidFill>
                  <a:srgbClr val="1A1A1A"/>
                </a:solidFill>
                <a:latin typeface="Times New Roman"/>
                <a:cs typeface="Times New Roman"/>
              </a:rPr>
              <a:t>Seizure / Non-seizure</a:t>
            </a:r>
          </a:p>
        </p:txBody>
      </p:sp>
      <p:cxnSp>
        <p:nvCxnSpPr>
          <p:cNvPr id="27" name="Connector 26"/>
          <p:cNvCxnSpPr/>
          <p:nvPr/>
        </p:nvCxnSpPr>
        <p:spPr>
          <a:xfrm>
            <a:off x="11554000" y="2100000"/>
            <a:ext cx="717000" cy="0"/>
          </a:xfrm>
          <a:prstGeom prst="line">
            <a:avLst/>
          </a:prstGeom>
          <a:ln w="25400">
            <a:solidFill>
              <a:srgbClr val="1A1A1A"/>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2331000" y="1700000"/>
            <a:ext cx="4700000" cy="800000"/>
          </a:xfrm>
          <a:prstGeom prst="roundRect">
            <a:avLst>
              <a:gd name="adj" fmla="val 12000"/>
            </a:avLst>
          </a:prstGeom>
          <a:solidFill>
            <a:srgbClr val="E7E6E6"/>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000" b="1" i="0">
                <a:solidFill>
                  <a:srgbClr val="1A1A1A"/>
                </a:solidFill>
                <a:latin typeface="Times New Roman"/>
                <a:cs typeface="Times New Roman"/>
              </a:rPr>
              <a:t>Stage 2: Subtype</a:t>
            </a:r>
          </a:p>
        </p:txBody>
      </p:sp>
      <p:sp>
        <p:nvSpPr>
          <p:cNvPr id="29" name="Rounded Rectangle 28"/>
          <p:cNvSpPr/>
          <p:nvPr/>
        </p:nvSpPr>
        <p:spPr>
          <a:xfrm>
            <a:off x="12331000" y="2900000"/>
            <a:ext cx="4700000" cy="1050000"/>
          </a:xfrm>
          <a:prstGeom prst="roundRect">
            <a:avLst>
              <a:gd name="adj" fmla="val 12000"/>
            </a:avLst>
          </a:prstGeom>
          <a:solidFill>
            <a:srgbClr val="FFFFFF"/>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0" i="0">
                <a:solidFill>
                  <a:srgbClr val="1A1A1A"/>
                </a:solidFill>
                <a:latin typeface="Times New Roman"/>
                <a:cs typeface="Times New Roman"/>
              </a:rPr>
              <a:t>Frozen + fine-tuned CRNN</a:t>
            </a:r>
          </a:p>
          <a:p>
            <a:pPr algn="ctr"/>
            <a:r>
              <a:rPr sz="2400" b="0" i="0">
                <a:solidFill>
                  <a:srgbClr val="1A1A1A"/>
                </a:solidFill>
                <a:latin typeface="Times New Roman"/>
                <a:cs typeface="Times New Roman"/>
              </a:rPr>
              <a:t>128-D + 128-D = 256-D</a:t>
            </a:r>
          </a:p>
        </p:txBody>
      </p:sp>
      <p:cxnSp>
        <p:nvCxnSpPr>
          <p:cNvPr id="30" name="Connector 29"/>
          <p:cNvCxnSpPr/>
          <p:nvPr/>
        </p:nvCxnSpPr>
        <p:spPr>
          <a:xfrm>
            <a:off x="14681000" y="3950000"/>
            <a:ext cx="0" cy="450000"/>
          </a:xfrm>
          <a:prstGeom prst="line">
            <a:avLst/>
          </a:prstGeom>
          <a:ln w="25400">
            <a:solidFill>
              <a:srgbClr val="1A1A1A"/>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2331000" y="4400000"/>
            <a:ext cx="4700000" cy="1050000"/>
          </a:xfrm>
          <a:prstGeom prst="roundRect">
            <a:avLst>
              <a:gd name="adj" fmla="val 12000"/>
            </a:avLst>
          </a:prstGeom>
          <a:solidFill>
            <a:srgbClr val="FFFFFF"/>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0" i="0">
                <a:solidFill>
                  <a:srgbClr val="1A1A1A"/>
                </a:solidFill>
                <a:latin typeface="Times New Roman"/>
                <a:cs typeface="Times New Roman"/>
              </a:rPr>
              <a:t>Latent-space SMOTE</a:t>
            </a:r>
          </a:p>
          <a:p>
            <a:pPr algn="ctr"/>
            <a:r>
              <a:rPr sz="2400" b="0" i="0">
                <a:solidFill>
                  <a:srgbClr val="1A1A1A"/>
                </a:solidFill>
                <a:latin typeface="Times New Roman"/>
                <a:cs typeface="Times New Roman"/>
              </a:rPr>
              <a:t>(training split only)</a:t>
            </a:r>
          </a:p>
        </p:txBody>
      </p:sp>
      <p:cxnSp>
        <p:nvCxnSpPr>
          <p:cNvPr id="32" name="Connector 31"/>
          <p:cNvCxnSpPr/>
          <p:nvPr/>
        </p:nvCxnSpPr>
        <p:spPr>
          <a:xfrm>
            <a:off x="14681000" y="5450000"/>
            <a:ext cx="0" cy="450000"/>
          </a:xfrm>
          <a:prstGeom prst="line">
            <a:avLst/>
          </a:prstGeom>
          <a:ln w="25400">
            <a:solidFill>
              <a:srgbClr val="1A1A1A"/>
            </a:solidFill>
            <a:tailEnd type="triangle"/>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2331000" y="5900000"/>
            <a:ext cx="4700000" cy="1050000"/>
          </a:xfrm>
          <a:prstGeom prst="roundRect">
            <a:avLst>
              <a:gd name="adj" fmla="val 12000"/>
            </a:avLst>
          </a:prstGeom>
          <a:solidFill>
            <a:srgbClr val="FFFFFF"/>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0" i="0">
                <a:solidFill>
                  <a:srgbClr val="1A1A1A"/>
                </a:solidFill>
                <a:latin typeface="Times New Roman"/>
                <a:cs typeface="Times New Roman"/>
              </a:rPr>
              <a:t>HistGradientBoosting</a:t>
            </a:r>
          </a:p>
          <a:p>
            <a:pPr algn="ctr"/>
            <a:r>
              <a:rPr sz="2400" b="0" i="0">
                <a:solidFill>
                  <a:srgbClr val="1A1A1A"/>
                </a:solidFill>
                <a:latin typeface="Times New Roman"/>
                <a:cs typeface="Times New Roman"/>
              </a:rPr>
              <a:t>classifier</a:t>
            </a:r>
          </a:p>
        </p:txBody>
      </p:sp>
      <p:cxnSp>
        <p:nvCxnSpPr>
          <p:cNvPr id="34" name="Connector 33"/>
          <p:cNvCxnSpPr/>
          <p:nvPr/>
        </p:nvCxnSpPr>
        <p:spPr>
          <a:xfrm>
            <a:off x="14681000" y="6950000"/>
            <a:ext cx="0" cy="450000"/>
          </a:xfrm>
          <a:prstGeom prst="line">
            <a:avLst/>
          </a:prstGeom>
          <a:ln w="25400">
            <a:solidFill>
              <a:srgbClr val="1A1A1A"/>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12331000" y="7400000"/>
            <a:ext cx="4700000" cy="1050000"/>
          </a:xfrm>
          <a:prstGeom prst="roundRect">
            <a:avLst>
              <a:gd name="adj" fmla="val 12000"/>
            </a:avLst>
          </a:prstGeom>
          <a:solidFill>
            <a:srgbClr val="FBE4E4"/>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0" i="0">
                <a:solidFill>
                  <a:srgbClr val="1A1A1A"/>
                </a:solidFill>
                <a:latin typeface="Times New Roman"/>
                <a:cs typeface="Times New Roman"/>
              </a:rPr>
              <a:t>Focal Aware · Focal Impaired</a:t>
            </a:r>
          </a:p>
          <a:p>
            <a:pPr algn="ctr"/>
            <a:r>
              <a:rPr sz="2400" b="0" i="0">
                <a:solidFill>
                  <a:srgbClr val="1A1A1A"/>
                </a:solidFill>
                <a:latin typeface="Times New Roman"/>
                <a:cs typeface="Times New Roman"/>
              </a:rPr>
              <a:t>Awareness · FBTC</a:t>
            </a:r>
          </a:p>
        </p:txBody>
      </p:sp>
      <p:sp>
        <p:nvSpPr>
          <p:cNvPr id="36" name="TextBox 35"/>
          <p:cNvSpPr txBox="1"/>
          <p:nvPr/>
        </p:nvSpPr>
        <p:spPr>
          <a:xfrm>
            <a:off x="1257300" y="8750000"/>
            <a:ext cx="15773400" cy="500000"/>
          </a:xfrm>
          <a:prstGeom prst="rect">
            <a:avLst/>
          </a:prstGeom>
          <a:noFill/>
        </p:spPr>
        <p:txBody>
          <a:bodyPr wrap="square">
            <a:spAutoFit/>
          </a:bodyPr>
          <a:lstStyle/>
          <a:p>
            <a:pPr algn="ctr"/>
            <a:r>
              <a:rPr sz="2600" b="0" i="1">
                <a:solidFill>
                  <a:srgbClr val="1A1A1A"/>
                </a:solidFill>
                <a:latin typeface="Times New Roman"/>
                <a:cs typeface="Times New Roman"/>
              </a:rPr>
              <a:t>Only windows flagged as seizure by Stage 1 are passed to the subtype stage.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18</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Datasets</a:t>
            </a:r>
          </a:p>
        </p:txBody>
      </p:sp>
      <p:graphicFrame>
        <p:nvGraphicFramePr>
          <p:cNvPr id="10" name="Table 9"/>
          <p:cNvGraphicFramePr>
            <a:graphicFrameLocks noGrp="1"/>
          </p:cNvGraphicFramePr>
          <p:nvPr/>
        </p:nvGraphicFramePr>
        <p:xfrm>
          <a:off x="1257300" y="1650000"/>
          <a:ext cx="15773399" cy="3600000"/>
        </p:xfrm>
        <a:graphic>
          <a:graphicData uri="http://schemas.openxmlformats.org/drawingml/2006/table">
            <a:tbl>
              <a:tblPr>
                <a:tableStyleId>{5940675A-B579-460E-94D1-54222C63F5DA}</a:tableStyleId>
              </a:tblPr>
              <a:tblGrid>
                <a:gridCol w="3043989">
                  <a:extLst>
                    <a:ext uri="{9D8B030D-6E8A-4147-A177-3AD203B41FA5}">
                      <a16:colId xmlns:a16="http://schemas.microsoft.com/office/drawing/2014/main" val="20000"/>
                    </a:ext>
                  </a:extLst>
                </a:gridCol>
                <a:gridCol w="5534526">
                  <a:extLst>
                    <a:ext uri="{9D8B030D-6E8A-4147-A177-3AD203B41FA5}">
                      <a16:colId xmlns:a16="http://schemas.microsoft.com/office/drawing/2014/main" val="20001"/>
                    </a:ext>
                  </a:extLst>
                </a:gridCol>
                <a:gridCol w="7194884">
                  <a:extLst>
                    <a:ext uri="{9D8B030D-6E8A-4147-A177-3AD203B41FA5}">
                      <a16:colId xmlns:a16="http://schemas.microsoft.com/office/drawing/2014/main" val="20002"/>
                    </a:ext>
                  </a:extLst>
                </a:gridCol>
              </a:tblGrid>
              <a:tr h="720000">
                <a:tc>
                  <a:txBody>
                    <a:bodyPr/>
                    <a:lstStyle/>
                    <a:p>
                      <a:pPr algn="ctr"/>
                      <a:endParaRP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600" b="1" i="0">
                          <a:solidFill>
                            <a:srgbClr val="1A1A1A"/>
                          </a:solidFill>
                          <a:latin typeface="Times New Roman"/>
                          <a:cs typeface="Times New Roman"/>
                        </a:rPr>
                        <a:t>CHB-MIT Scalp EEG</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600" b="1" i="0">
                          <a:solidFill>
                            <a:srgbClr val="1A1A1A"/>
                          </a:solidFill>
                          <a:latin typeface="Times New Roman"/>
                          <a:cs typeface="Times New Roman"/>
                        </a:rPr>
                        <a:t>Siena Scalp EEG</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extLst>
                  <a:ext uri="{0D108BD9-81ED-4DB2-BD59-A6C34878D82A}">
                    <a16:rowId xmlns:a16="http://schemas.microsoft.com/office/drawing/2014/main" val="10000"/>
                  </a:ext>
                </a:extLst>
              </a:tr>
              <a:tr h="720000">
                <a:tc>
                  <a:txBody>
                    <a:bodyPr/>
                    <a:lstStyle/>
                    <a:p>
                      <a:pPr algn="l"/>
                      <a:r>
                        <a:rPr sz="2600" b="1" i="0">
                          <a:solidFill>
                            <a:srgbClr val="1A1A1A"/>
                          </a:solidFill>
                          <a:latin typeface="Times New Roman"/>
                          <a:cs typeface="Times New Roman"/>
                        </a:rPr>
                        <a:t>Subjects</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24 (paediatric)</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14 (adult); 13 with usable subtype labels</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1"/>
                  </a:ext>
                </a:extLst>
              </a:tr>
              <a:tr h="720000">
                <a:tc>
                  <a:txBody>
                    <a:bodyPr/>
                    <a:lstStyle/>
                    <a:p>
                      <a:pPr algn="l"/>
                      <a:r>
                        <a:rPr sz="2600" b="1" i="0">
                          <a:solidFill>
                            <a:srgbClr val="1A1A1A"/>
                          </a:solidFill>
                          <a:latin typeface="Times New Roman"/>
                          <a:cs typeface="Times New Roman"/>
                        </a:rPr>
                        <a:t>Native format</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18-ch bipolar, 256 Hz</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Monopolar 10–20 referential, 512 Hz</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2"/>
                  </a:ext>
                </a:extLst>
              </a:tr>
              <a:tr h="720000">
                <a:tc>
                  <a:txBody>
                    <a:bodyPr/>
                    <a:lstStyle/>
                    <a:p>
                      <a:pPr algn="l"/>
                      <a:r>
                        <a:rPr sz="2600" b="1" i="0">
                          <a:solidFill>
                            <a:srgbClr val="1A1A1A"/>
                          </a:solidFill>
                          <a:latin typeface="Times New Roman"/>
                          <a:cs typeface="Times New Roman"/>
                        </a:rPr>
                        <a:t>Labels</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Seizure / non-seizure</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ILAE seizure type per patient</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3"/>
                  </a:ext>
                </a:extLst>
              </a:tr>
              <a:tr h="720000">
                <a:tc>
                  <a:txBody>
                    <a:bodyPr/>
                    <a:lstStyle/>
                    <a:p>
                      <a:pPr algn="l"/>
                      <a:r>
                        <a:rPr sz="2600" b="1" i="0">
                          <a:solidFill>
                            <a:srgbClr val="1A1A1A"/>
                          </a:solidFill>
                          <a:latin typeface="Times New Roman"/>
                          <a:cs typeface="Times New Roman"/>
                        </a:rPr>
                        <a:t>Used for</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Stage 1 detection</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Stage 1 detection + Stage 2 subtype</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1257300" y="5500000"/>
            <a:ext cx="15773400" cy="7400000"/>
          </a:xfrm>
          <a:prstGeom prst="rect">
            <a:avLst/>
          </a:prstGeom>
          <a:noFill/>
        </p:spPr>
        <p:txBody>
          <a:bodyPr wrap="square">
            <a:spAutoFit/>
          </a:bodyPr>
          <a:lstStyle/>
          <a:p>
            <a:pPr marL="571500" indent="-571500">
              <a:lnSpc>
                <a:spcPct val="115000"/>
              </a:lnSpc>
              <a:spcAft>
                <a:spcPts val="600"/>
              </a:spcAft>
              <a:buFont typeface="Arial"/>
              <a:buChar char="•"/>
            </a:pPr>
            <a:r>
              <a:rPr sz="3000" b="1" i="0">
                <a:solidFill>
                  <a:srgbClr val="1A1A1A"/>
                </a:solidFill>
                <a:latin typeface="Times New Roman"/>
                <a:cs typeface="Times New Roman"/>
              </a:rPr>
              <a:t>Stage 1: </a:t>
            </a:r>
            <a:r>
              <a:rPr sz="3000" b="0" i="0">
                <a:solidFill>
                  <a:srgbClr val="1A1A1A"/>
                </a:solidFill>
                <a:latin typeface="Times New Roman"/>
                <a:cs typeface="Times New Roman"/>
              </a:rPr>
              <a:t>928,154 four-second windows from both datasets (subject-level train / val / test split).</a:t>
            </a:r>
          </a:p>
          <a:p>
            <a:pPr marL="571500" indent="-571500">
              <a:lnSpc>
                <a:spcPct val="115000"/>
              </a:lnSpc>
              <a:spcAft>
                <a:spcPts val="600"/>
              </a:spcAft>
              <a:buFont typeface="Arial"/>
              <a:buChar char="•"/>
            </a:pPr>
            <a:r>
              <a:rPr sz="3000" b="1" i="0">
                <a:solidFill>
                  <a:srgbClr val="1A1A1A"/>
                </a:solidFill>
                <a:latin typeface="Times New Roman"/>
                <a:cs typeface="Times New Roman"/>
              </a:rPr>
              <a:t>Stage 2: </a:t>
            </a:r>
            <a:r>
              <a:rPr sz="3000" b="0" i="0">
                <a:solidFill>
                  <a:srgbClr val="1A1A1A"/>
                </a:solidFill>
                <a:latin typeface="Times New Roman"/>
                <a:cs typeface="Times New Roman"/>
              </a:rPr>
              <a:t>1,824 ten-second seizure windows from Siena only.</a:t>
            </a:r>
          </a:p>
          <a:p>
            <a:pPr marL="571500" indent="-571500">
              <a:lnSpc>
                <a:spcPct val="115000"/>
              </a:lnSpc>
              <a:spcAft>
                <a:spcPts val="600"/>
              </a:spcAft>
              <a:buFont typeface="Arial"/>
              <a:buChar char="•"/>
            </a:pPr>
            <a:r>
              <a:rPr sz="3000" b="1" i="0">
                <a:solidFill>
                  <a:srgbClr val="1A1A1A"/>
                </a:solidFill>
                <a:latin typeface="Times New Roman"/>
                <a:cs typeface="Times New Roman"/>
              </a:rPr>
              <a:t>Class imbalance: </a:t>
            </a:r>
            <a:r>
              <a:rPr sz="3000" b="0" i="0">
                <a:solidFill>
                  <a:srgbClr val="1A1A1A"/>
                </a:solidFill>
                <a:latin typeface="Times New Roman"/>
                <a:cs typeface="Times New Roman"/>
              </a:rPr>
              <a:t>Focal Impaired Awareness (11 patients) vs Focal Aware (1) and FBTC (1).</a:t>
            </a:r>
          </a:p>
          <a:p>
            <a:pPr marL="571500" indent="-571500">
              <a:lnSpc>
                <a:spcPct val="115000"/>
              </a:lnSpc>
              <a:spcAft>
                <a:spcPts val="600"/>
              </a:spcAft>
              <a:buFont typeface="Arial"/>
              <a:buChar char="•"/>
            </a:pPr>
            <a:r>
              <a:rPr sz="3000" b="1" i="0">
                <a:solidFill>
                  <a:srgbClr val="1A1A1A"/>
                </a:solidFill>
                <a:latin typeface="Times New Roman"/>
                <a:cs typeface="Times New Roman"/>
              </a:rPr>
              <a:t>Test set (subtype): </a:t>
            </a:r>
            <a:r>
              <a:rPr sz="3000" b="0" i="0">
                <a:solidFill>
                  <a:srgbClr val="1A1A1A"/>
                </a:solidFill>
                <a:latin typeface="Times New Roman"/>
                <a:cs typeface="Times New Roman"/>
              </a:rPr>
              <a:t>550 windows – 16 FA, 497 FIA, 37 FBTC.</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19</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Preprocessing Pipeline</a:t>
            </a:r>
          </a:p>
        </p:txBody>
      </p:sp>
      <p:sp>
        <p:nvSpPr>
          <p:cNvPr id="10" name="TextBox 9"/>
          <p:cNvSpPr txBox="1"/>
          <p:nvPr/>
        </p:nvSpPr>
        <p:spPr>
          <a:xfrm>
            <a:off x="1257300" y="1750000"/>
            <a:ext cx="15773400" cy="7400000"/>
          </a:xfrm>
          <a:prstGeom prst="rect">
            <a:avLst/>
          </a:prstGeom>
          <a:noFill/>
        </p:spPr>
        <p:txBody>
          <a:bodyPr wrap="square">
            <a:spAutoFit/>
          </a:bodyPr>
          <a:lstStyle/>
          <a:p>
            <a:pPr marL="571500" indent="-571500">
              <a:lnSpc>
                <a:spcPct val="112000"/>
              </a:lnSpc>
              <a:spcAft>
                <a:spcPts val="600"/>
              </a:spcAft>
              <a:buFont typeface="Arial"/>
              <a:buChar char="•"/>
            </a:pPr>
            <a:r>
              <a:rPr sz="3000" b="1" i="0">
                <a:solidFill>
                  <a:srgbClr val="1A1A1A"/>
                </a:solidFill>
                <a:latin typeface="Times New Roman"/>
                <a:cs typeface="Times New Roman"/>
              </a:rPr>
              <a:t>Montage harmonization: </a:t>
            </a:r>
            <a:r>
              <a:rPr sz="3000" b="0" i="0">
                <a:solidFill>
                  <a:srgbClr val="1A1A1A"/>
                </a:solidFill>
                <a:latin typeface="Times New Roman"/>
                <a:cs typeface="Times New Roman"/>
              </a:rPr>
              <a:t>Both datasets mapped to an 18-channel longitudinal bipolar (double-banana) montage in a fixed anatomical order.</a:t>
            </a:r>
          </a:p>
          <a:p>
            <a:pPr marL="571500" indent="-571500">
              <a:lnSpc>
                <a:spcPct val="112000"/>
              </a:lnSpc>
              <a:spcAft>
                <a:spcPts val="600"/>
              </a:spcAft>
              <a:buFont typeface="Arial"/>
              <a:buChar char="•"/>
            </a:pPr>
            <a:r>
              <a:rPr sz="3000" b="1" i="0">
                <a:solidFill>
                  <a:srgbClr val="1A1A1A"/>
                </a:solidFill>
                <a:latin typeface="Times New Roman"/>
                <a:cs typeface="Times New Roman"/>
              </a:rPr>
              <a:t>Filtering: </a:t>
            </a:r>
            <a:r>
              <a:rPr sz="3000" b="0" i="0">
                <a:solidFill>
                  <a:srgbClr val="1A1A1A"/>
                </a:solidFill>
                <a:latin typeface="Times New Roman"/>
                <a:cs typeface="Times New Roman"/>
              </a:rPr>
              <a:t>Notch filter (60 Hz CHB-MIT / 50 Hz Siena), then 0.5–45 Hz zero-phase FIR bandpass, so that seizure-onset timing is not shifted.</a:t>
            </a:r>
          </a:p>
          <a:p>
            <a:pPr marL="571500" indent="-571500">
              <a:lnSpc>
                <a:spcPct val="112000"/>
              </a:lnSpc>
              <a:spcAft>
                <a:spcPts val="600"/>
              </a:spcAft>
              <a:buFont typeface="Arial"/>
              <a:buChar char="•"/>
            </a:pPr>
            <a:r>
              <a:rPr sz="3000" b="1" i="0">
                <a:solidFill>
                  <a:srgbClr val="1A1A1A"/>
                </a:solidFill>
                <a:latin typeface="Times New Roman"/>
                <a:cs typeface="Times New Roman"/>
              </a:rPr>
              <a:t>Resampling: </a:t>
            </a:r>
            <a:r>
              <a:rPr sz="3000" b="0" i="0">
                <a:solidFill>
                  <a:srgbClr val="1A1A1A"/>
                </a:solidFill>
                <a:latin typeface="Times New Roman"/>
                <a:cs typeface="Times New Roman"/>
              </a:rPr>
              <a:t>Siena (512 Hz) downsampled to 256 Hz, applied last.</a:t>
            </a:r>
          </a:p>
          <a:p>
            <a:pPr marL="571500" indent="-571500">
              <a:lnSpc>
                <a:spcPct val="112000"/>
              </a:lnSpc>
              <a:spcAft>
                <a:spcPts val="600"/>
              </a:spcAft>
              <a:buFont typeface="Arial"/>
              <a:buChar char="•"/>
            </a:pPr>
            <a:r>
              <a:rPr sz="3000" b="1" i="0">
                <a:solidFill>
                  <a:srgbClr val="1A1A1A"/>
                </a:solidFill>
                <a:latin typeface="Times New Roman"/>
                <a:cs typeface="Times New Roman"/>
              </a:rPr>
              <a:t>Stage 1 windows: </a:t>
            </a:r>
            <a:r>
              <a:rPr sz="3000" b="0" i="0">
                <a:solidFill>
                  <a:srgbClr val="1A1A1A"/>
                </a:solidFill>
                <a:latin typeface="Times New Roman"/>
                <a:cs typeface="Times New Roman"/>
              </a:rPr>
              <a:t>4 s; background stride 4 s, seizure stride 1 s; label = seizure if ≥ 50 % overlap; ±5 min around seizures excluded from the normal class.</a:t>
            </a:r>
          </a:p>
          <a:p>
            <a:pPr marL="571500" indent="-571500">
              <a:lnSpc>
                <a:spcPct val="112000"/>
              </a:lnSpc>
              <a:spcAft>
                <a:spcPts val="600"/>
              </a:spcAft>
              <a:buFont typeface="Arial"/>
              <a:buChar char="•"/>
            </a:pPr>
            <a:r>
              <a:rPr sz="3000" b="1" i="0">
                <a:solidFill>
                  <a:srgbClr val="1A1A1A"/>
                </a:solidFill>
                <a:latin typeface="Times New Roman"/>
                <a:cs typeface="Times New Roman"/>
              </a:rPr>
              <a:t>Stage 2 windows: </a:t>
            </a:r>
            <a:r>
              <a:rPr sz="3000" b="0" i="0">
                <a:solidFill>
                  <a:srgbClr val="1A1A1A"/>
                </a:solidFill>
                <a:latin typeface="Times New Roman"/>
                <a:cs typeface="Times New Roman"/>
              </a:rPr>
              <a:t>10 s with 2 s stride, Siena seizure events only.</a:t>
            </a:r>
          </a:p>
          <a:p>
            <a:pPr marL="571500" indent="-571500">
              <a:lnSpc>
                <a:spcPct val="112000"/>
              </a:lnSpc>
              <a:spcAft>
                <a:spcPts val="600"/>
              </a:spcAft>
              <a:buFont typeface="Arial"/>
              <a:buChar char="•"/>
            </a:pPr>
            <a:r>
              <a:rPr sz="3000" b="1" i="0">
                <a:solidFill>
                  <a:srgbClr val="1A1A1A"/>
                </a:solidFill>
                <a:latin typeface="Times New Roman"/>
                <a:cs typeface="Times New Roman"/>
              </a:rPr>
              <a:t>Artifact rejection: </a:t>
            </a:r>
            <a:r>
              <a:rPr sz="3000" b="0" i="0">
                <a:solidFill>
                  <a:srgbClr val="1A1A1A"/>
                </a:solidFill>
                <a:latin typeface="Times New Roman"/>
                <a:cs typeface="Times New Roman"/>
              </a:rPr>
              <a:t>Peak-to-peak threshold calibrated on the data (a fixed 500 µV cutoff would have discarded real seizures).</a:t>
            </a:r>
          </a:p>
          <a:p>
            <a:pPr marL="571500" indent="-571500">
              <a:lnSpc>
                <a:spcPct val="112000"/>
              </a:lnSpc>
              <a:spcAft>
                <a:spcPts val="600"/>
              </a:spcAft>
              <a:buFont typeface="Arial"/>
              <a:buChar char="•"/>
            </a:pPr>
            <a:r>
              <a:rPr sz="3000" b="1" i="0">
                <a:solidFill>
                  <a:srgbClr val="1A1A1A"/>
                </a:solidFill>
                <a:latin typeface="Times New Roman"/>
                <a:cs typeface="Times New Roman"/>
              </a:rPr>
              <a:t>Normalization: </a:t>
            </a:r>
            <a:r>
              <a:rPr sz="3000" b="0" i="0">
                <a:solidFill>
                  <a:srgbClr val="1A1A1A"/>
                </a:solidFill>
                <a:latin typeface="Times New Roman"/>
                <a:cs typeface="Times New Roman"/>
              </a:rPr>
              <a:t>Per-channel z-score at training 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20</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CRNN Backbone</a:t>
            </a:r>
          </a:p>
        </p:txBody>
      </p:sp>
      <p:graphicFrame>
        <p:nvGraphicFramePr>
          <p:cNvPr id="10" name="Table 9"/>
          <p:cNvGraphicFramePr>
            <a:graphicFrameLocks noGrp="1"/>
          </p:cNvGraphicFramePr>
          <p:nvPr/>
        </p:nvGraphicFramePr>
        <p:xfrm>
          <a:off x="1257300" y="1650000"/>
          <a:ext cx="9599999" cy="4962000"/>
        </p:xfrm>
        <a:graphic>
          <a:graphicData uri="http://schemas.openxmlformats.org/drawingml/2006/table">
            <a:tbl>
              <a:tblPr>
                <a:tableStyleId>{5940675A-B579-460E-94D1-54222C63F5DA}</a:tableStyleId>
              </a:tblPr>
              <a:tblGrid>
                <a:gridCol w="2471287">
                  <a:extLst>
                    <a:ext uri="{9D8B030D-6E8A-4147-A177-3AD203B41FA5}">
                      <a16:colId xmlns:a16="http://schemas.microsoft.com/office/drawing/2014/main" val="20000"/>
                    </a:ext>
                  </a:extLst>
                </a:gridCol>
                <a:gridCol w="5322772">
                  <a:extLst>
                    <a:ext uri="{9D8B030D-6E8A-4147-A177-3AD203B41FA5}">
                      <a16:colId xmlns:a16="http://schemas.microsoft.com/office/drawing/2014/main" val="20001"/>
                    </a:ext>
                  </a:extLst>
                </a:gridCol>
                <a:gridCol w="1805940">
                  <a:extLst>
                    <a:ext uri="{9D8B030D-6E8A-4147-A177-3AD203B41FA5}">
                      <a16:colId xmlns:a16="http://schemas.microsoft.com/office/drawing/2014/main" val="20002"/>
                    </a:ext>
                  </a:extLst>
                </a:gridCol>
              </a:tblGrid>
              <a:tr h="700000">
                <a:tc>
                  <a:txBody>
                    <a:bodyPr/>
                    <a:lstStyle/>
                    <a:p>
                      <a:pPr algn="ctr"/>
                      <a:r>
                        <a:rPr sz="2200" b="1" i="0">
                          <a:solidFill>
                            <a:srgbClr val="1A1A1A"/>
                          </a:solidFill>
                          <a:latin typeface="Times New Roman"/>
                          <a:cs typeface="Times New Roman"/>
                        </a:rPr>
                        <a:t>Layer</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200" b="1" i="0">
                          <a:solidFill>
                            <a:srgbClr val="1A1A1A"/>
                          </a:solidFill>
                          <a:latin typeface="Times New Roman"/>
                          <a:cs typeface="Times New Roman"/>
                        </a:rPr>
                        <a:t>Configuration</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200" b="1" i="0">
                          <a:solidFill>
                            <a:srgbClr val="1A1A1A"/>
                          </a:solidFill>
                          <a:latin typeface="Times New Roman"/>
                          <a:cs typeface="Times New Roman"/>
                        </a:rPr>
                        <a:t>Output</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extLst>
                  <a:ext uri="{0D108BD9-81ED-4DB2-BD59-A6C34878D82A}">
                    <a16:rowId xmlns:a16="http://schemas.microsoft.com/office/drawing/2014/main" val="10000"/>
                  </a:ext>
                </a:extLst>
              </a:tr>
              <a:tr h="700000">
                <a:tc>
                  <a:txBody>
                    <a:bodyPr/>
                    <a:lstStyle/>
                    <a:p>
                      <a:pPr algn="l"/>
                      <a:r>
                        <a:rPr sz="2200" b="0" i="0">
                          <a:solidFill>
                            <a:srgbClr val="1A1A1A"/>
                          </a:solidFill>
                          <a:latin typeface="Times New Roman"/>
                          <a:cs typeface="Times New Roman"/>
                        </a:rPr>
                        <a:t>Conv Block 1</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Conv1d 18→32, k = 63, s = 2</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32</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1"/>
                  </a:ext>
                </a:extLst>
              </a:tr>
              <a:tr h="700000">
                <a:tc>
                  <a:txBody>
                    <a:bodyPr/>
                    <a:lstStyle/>
                    <a:p>
                      <a:pPr algn="l"/>
                      <a:r>
                        <a:rPr sz="2200" b="0" i="0">
                          <a:solidFill>
                            <a:srgbClr val="1A1A1A"/>
                          </a:solidFill>
                          <a:latin typeface="Times New Roman"/>
                          <a:cs typeface="Times New Roman"/>
                        </a:rPr>
                        <a:t>Conv Block 2</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Conv1d 32→64, k = 31, s = 2</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64</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2"/>
                  </a:ext>
                </a:extLst>
              </a:tr>
              <a:tr h="700000">
                <a:tc>
                  <a:txBody>
                    <a:bodyPr/>
                    <a:lstStyle/>
                    <a:p>
                      <a:pPr algn="l"/>
                      <a:r>
                        <a:rPr sz="2200" b="0" i="0">
                          <a:solidFill>
                            <a:srgbClr val="1A1A1A"/>
                          </a:solidFill>
                          <a:latin typeface="Times New Roman"/>
                          <a:cs typeface="Times New Roman"/>
                        </a:rPr>
                        <a:t>Conv Block 3</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Conv1d 64→128, k = 15, s = 2</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128</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3"/>
                  </a:ext>
                </a:extLst>
              </a:tr>
              <a:tr h="700000">
                <a:tc>
                  <a:txBody>
                    <a:bodyPr/>
                    <a:lstStyle/>
                    <a:p>
                      <a:pPr algn="l"/>
                      <a:r>
                        <a:rPr sz="2200" b="0" i="0">
                          <a:solidFill>
                            <a:srgbClr val="1A1A1A"/>
                          </a:solidFill>
                          <a:latin typeface="Times New Roman"/>
                          <a:cs typeface="Times New Roman"/>
                        </a:rPr>
                        <a:t>Conv Block 4</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Conv1d 128→128, k = 7, s = 2</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128</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4"/>
                  </a:ext>
                </a:extLst>
              </a:tr>
              <a:tr h="700000">
                <a:tc>
                  <a:txBody>
                    <a:bodyPr/>
                    <a:lstStyle/>
                    <a:p>
                      <a:pPr algn="l"/>
                      <a:r>
                        <a:rPr sz="2200" b="0" i="0">
                          <a:solidFill>
                            <a:srgbClr val="1A1A1A"/>
                          </a:solidFill>
                          <a:latin typeface="Times New Roman"/>
                          <a:cs typeface="Times New Roman"/>
                        </a:rPr>
                        <a:t>Bi-LSTM</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1 layer, 64 hidden units per direction</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128</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5"/>
                  </a:ext>
                </a:extLst>
              </a:tr>
              <a:tr h="700000">
                <a:tc>
                  <a:txBody>
                    <a:bodyPr/>
                    <a:lstStyle/>
                    <a:p>
                      <a:pPr algn="l"/>
                      <a:r>
                        <a:rPr sz="2200" b="0" i="0">
                          <a:solidFill>
                            <a:srgbClr val="1A1A1A"/>
                          </a:solidFill>
                          <a:latin typeface="Times New Roman"/>
                          <a:cs typeface="Times New Roman"/>
                        </a:rPr>
                        <a:t>Attention Pool</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Linear → Tanh → Linear → softmax over time</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128-D vector</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11" name="TextBox 10"/>
          <p:cNvSpPr txBox="1"/>
          <p:nvPr/>
        </p:nvSpPr>
        <p:spPr>
          <a:xfrm>
            <a:off x="11200000" y="1650000"/>
            <a:ext cx="5900000" cy="7400000"/>
          </a:xfrm>
          <a:prstGeom prst="rect">
            <a:avLst/>
          </a:prstGeom>
          <a:noFill/>
        </p:spPr>
        <p:txBody>
          <a:bodyPr wrap="square">
            <a:spAutoFit/>
          </a:bodyPr>
          <a:lstStyle/>
          <a:p>
            <a:pPr marL="571500" indent="-571500">
              <a:lnSpc>
                <a:spcPct val="110000"/>
              </a:lnSpc>
              <a:spcAft>
                <a:spcPts val="600"/>
              </a:spcAft>
              <a:buFont typeface="Arial"/>
              <a:buChar char="•"/>
            </a:pPr>
            <a:r>
              <a:rPr sz="2800" b="0" i="0">
                <a:solidFill>
                  <a:srgbClr val="1A1A1A"/>
                </a:solidFill>
                <a:latin typeface="Times New Roman"/>
                <a:cs typeface="Times New Roman"/>
              </a:rPr>
              <a:t>Each conv block: BatchNorm → ReLU → Dropout (0.1).</a:t>
            </a:r>
          </a:p>
          <a:p>
            <a:pPr marL="571500" indent="-571500">
              <a:lnSpc>
                <a:spcPct val="110000"/>
              </a:lnSpc>
              <a:spcAft>
                <a:spcPts val="600"/>
              </a:spcAft>
              <a:buFont typeface="Arial"/>
              <a:buChar char="•"/>
            </a:pPr>
            <a:r>
              <a:rPr sz="2800" b="0" i="0">
                <a:solidFill>
                  <a:srgbClr val="1A1A1A"/>
                </a:solidFill>
                <a:latin typeface="Times New Roman"/>
                <a:cs typeface="Times New Roman"/>
              </a:rPr>
              <a:t>Time axis downsampled 16×.</a:t>
            </a:r>
          </a:p>
          <a:p>
            <a:pPr marL="571500" indent="-571500">
              <a:lnSpc>
                <a:spcPct val="110000"/>
              </a:lnSpc>
              <a:spcAft>
                <a:spcPts val="600"/>
              </a:spcAft>
              <a:buFont typeface="Arial"/>
              <a:buChar char="•"/>
            </a:pPr>
            <a:r>
              <a:rPr sz="2800" b="0" i="0">
                <a:solidFill>
                  <a:srgbClr val="1A1A1A"/>
                </a:solidFill>
                <a:latin typeface="Times New Roman"/>
                <a:cs typeface="Times New Roman"/>
              </a:rPr>
              <a:t>445,697 parameters per backbone.</a:t>
            </a:r>
          </a:p>
          <a:p>
            <a:pPr marL="571500" indent="-571500">
              <a:lnSpc>
                <a:spcPct val="110000"/>
              </a:lnSpc>
              <a:spcAft>
                <a:spcPts val="600"/>
              </a:spcAft>
              <a:buFont typeface="Arial"/>
              <a:buChar char="•"/>
            </a:pPr>
            <a:r>
              <a:rPr sz="2800" b="0" i="0">
                <a:solidFill>
                  <a:srgbClr val="1A1A1A"/>
                </a:solidFill>
                <a:latin typeface="Times New Roman"/>
                <a:cs typeface="Times New Roman"/>
              </a:rPr>
              <a:t>Attention pooling makes the backbone length-agnostic (1024-sample detection and 2560-sample subtype windows).</a:t>
            </a:r>
          </a:p>
        </p:txBody>
      </p:sp>
      <p:sp>
        <p:nvSpPr>
          <p:cNvPr id="12" name="TextBox 11"/>
          <p:cNvSpPr txBox="1"/>
          <p:nvPr/>
        </p:nvSpPr>
        <p:spPr>
          <a:xfrm>
            <a:off x="1257300" y="7000000"/>
            <a:ext cx="15773400" cy="600000"/>
          </a:xfrm>
          <a:prstGeom prst="rect">
            <a:avLst/>
          </a:prstGeom>
          <a:noFill/>
        </p:spPr>
        <p:txBody>
          <a:bodyPr wrap="square">
            <a:spAutoFit/>
          </a:bodyPr>
          <a:lstStyle/>
          <a:p>
            <a:pPr algn="ctr"/>
            <a:r>
              <a:rPr sz="2600" b="0" i="1">
                <a:solidFill>
                  <a:srgbClr val="1A1A1A"/>
                </a:solidFill>
                <a:latin typeface="Times New Roman"/>
                <a:cs typeface="Times New Roman"/>
              </a:rPr>
              <a:t>Detection head: focal loss (γ = 2), balanced sampling, Adam with ReduceLROnPlateau, 25 epochs.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21</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Hierarchical Training &amp; Dual-Embedding Fusion</a:t>
            </a:r>
          </a:p>
        </p:txBody>
      </p:sp>
      <p:sp>
        <p:nvSpPr>
          <p:cNvPr id="10" name="TextBox 9"/>
          <p:cNvSpPr txBox="1"/>
          <p:nvPr/>
        </p:nvSpPr>
        <p:spPr>
          <a:xfrm>
            <a:off x="1257300" y="1750000"/>
            <a:ext cx="15773400" cy="7400000"/>
          </a:xfrm>
          <a:prstGeom prst="rect">
            <a:avLst/>
          </a:prstGeom>
          <a:noFill/>
        </p:spPr>
        <p:txBody>
          <a:bodyPr wrap="square">
            <a:spAutoFit/>
          </a:bodyPr>
          <a:lstStyle/>
          <a:p>
            <a:pPr marL="571500" indent="-571500">
              <a:lnSpc>
                <a:spcPct val="115000"/>
              </a:lnSpc>
              <a:spcAft>
                <a:spcPts val="600"/>
              </a:spcAft>
              <a:buFont typeface="Arial"/>
              <a:buChar char="•"/>
            </a:pPr>
            <a:r>
              <a:rPr sz="3000" b="1" i="0">
                <a:solidFill>
                  <a:srgbClr val="1A1A1A"/>
                </a:solidFill>
                <a:latin typeface="Times New Roman"/>
                <a:cs typeface="Times New Roman"/>
              </a:rPr>
              <a:t>Phase A – Detection pretraining: </a:t>
            </a:r>
            <a:r>
              <a:rPr sz="3000" b="0" i="0">
                <a:solidFill>
                  <a:srgbClr val="1A1A1A"/>
                </a:solidFill>
                <a:latin typeface="Times New Roman"/>
                <a:cs typeface="Times New Roman"/>
              </a:rPr>
              <a:t>CRNN trained on all 928,154 windows (CHB-MIT + Siena) for seizure vs non-seizure.</a:t>
            </a:r>
          </a:p>
          <a:p>
            <a:pPr marL="571500" indent="-571500">
              <a:lnSpc>
                <a:spcPct val="115000"/>
              </a:lnSpc>
              <a:spcAft>
                <a:spcPts val="600"/>
              </a:spcAft>
              <a:buFont typeface="Arial"/>
              <a:buChar char="•"/>
            </a:pPr>
            <a:r>
              <a:rPr sz="3000" b="1" i="0">
                <a:solidFill>
                  <a:srgbClr val="1A1A1A"/>
                </a:solidFill>
                <a:latin typeface="Times New Roman"/>
                <a:cs typeface="Times New Roman"/>
              </a:rPr>
              <a:t>Phase B – Subtype fine-tuning: </a:t>
            </a:r>
            <a:r>
              <a:rPr sz="3000" b="0" i="0">
                <a:solidFill>
                  <a:srgbClr val="1A1A1A"/>
                </a:solidFill>
                <a:latin typeface="Times New Roman"/>
                <a:cs typeface="Times New Roman"/>
              </a:rPr>
              <a:t>Copy of the Phase A backbone; Conv Blocks 1–2 frozen, Blocks 3–4 + Bi-LSTM + attention fine-tuned on Siena subtype windows (40 epochs).</a:t>
            </a:r>
          </a:p>
          <a:p>
            <a:pPr marL="571500" indent="-571500">
              <a:lnSpc>
                <a:spcPct val="115000"/>
              </a:lnSpc>
              <a:spcAft>
                <a:spcPts val="600"/>
              </a:spcAft>
              <a:buFont typeface="Arial"/>
              <a:buChar char="•"/>
            </a:pPr>
            <a:r>
              <a:rPr sz="3000" b="1" i="0">
                <a:solidFill>
                  <a:srgbClr val="1A1A1A"/>
                </a:solidFill>
                <a:latin typeface="Times New Roman"/>
                <a:cs typeface="Times New Roman"/>
              </a:rPr>
              <a:t>Dual-embedding fusion: </a:t>
            </a:r>
            <a:r>
              <a:rPr sz="3000" b="0" i="0">
                <a:solidFill>
                  <a:srgbClr val="1A1A1A"/>
                </a:solidFill>
                <a:latin typeface="Times New Roman"/>
                <a:cs typeface="Times New Roman"/>
              </a:rPr>
              <a:t>Both backbones frozen; their 128-D context vectors are concatenated into a 256-D representation.</a:t>
            </a:r>
          </a:p>
          <a:p>
            <a:pPr marL="571500" indent="-571500">
              <a:lnSpc>
                <a:spcPct val="115000"/>
              </a:lnSpc>
              <a:spcAft>
                <a:spcPts val="600"/>
              </a:spcAft>
              <a:buFont typeface="Arial"/>
              <a:buChar char="•"/>
            </a:pPr>
            <a:r>
              <a:rPr sz="3000" b="1" i="0">
                <a:solidFill>
                  <a:srgbClr val="1A1A1A"/>
                </a:solidFill>
                <a:latin typeface="Times New Roman"/>
                <a:cs typeface="Times New Roman"/>
              </a:rPr>
              <a:t>Why: </a:t>
            </a:r>
            <a:r>
              <a:rPr sz="3000" b="0" i="0">
                <a:solidFill>
                  <a:srgbClr val="1A1A1A"/>
                </a:solidFill>
                <a:latin typeface="Times New Roman"/>
                <a:cs typeface="Times New Roman"/>
              </a:rPr>
              <a:t>the detection backbone keeps low-amplitude Focal Aware patterns, while the fine-tuned backbone separates FBTC. Neither alone does both.</a:t>
            </a:r>
          </a:p>
        </p:txBody>
      </p:sp>
      <p:sp>
        <p:nvSpPr>
          <p:cNvPr id="11" name="Rounded Rectangle 10"/>
          <p:cNvSpPr/>
          <p:nvPr/>
        </p:nvSpPr>
        <p:spPr>
          <a:xfrm>
            <a:off x="4257300" y="7400000"/>
            <a:ext cx="9773400" cy="1000000"/>
          </a:xfrm>
          <a:prstGeom prst="roundRect">
            <a:avLst>
              <a:gd name="adj" fmla="val 12000"/>
            </a:avLst>
          </a:prstGeom>
          <a:solidFill>
            <a:srgbClr val="FBE4E4"/>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400" b="1" i="0">
                <a:solidFill>
                  <a:srgbClr val="1A1A1A"/>
                </a:solidFill>
                <a:latin typeface="Times New Roman"/>
                <a:cs typeface="Times New Roman"/>
              </a:rPr>
              <a:t>z  =  [ e_frozen  ‖  e_fine-tuned ]  ∈  R²⁵⁶</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22</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Proposed Model: EEG-HDC v4 Dataflow</a:t>
            </a:r>
          </a:p>
        </p:txBody>
      </p:sp>
      <p:pic>
        <p:nvPicPr>
          <p:cNvPr id="10" name="Picture 9" descr="crnn_smote_v4_architecture.png"/>
          <p:cNvPicPr>
            <a:picLocks noChangeAspect="1"/>
          </p:cNvPicPr>
          <p:nvPr/>
        </p:nvPicPr>
        <p:blipFill>
          <a:blip r:embed="rId3"/>
          <a:stretch>
            <a:fillRect/>
          </a:stretch>
        </p:blipFill>
        <p:spPr>
          <a:xfrm>
            <a:off x="1257300" y="1546695"/>
            <a:ext cx="8200000" cy="7706610"/>
          </a:xfrm>
          <a:prstGeom prst="rect">
            <a:avLst/>
          </a:prstGeom>
        </p:spPr>
      </p:pic>
      <p:sp>
        <p:nvSpPr>
          <p:cNvPr id="11" name="TextBox 10"/>
          <p:cNvSpPr txBox="1"/>
          <p:nvPr/>
        </p:nvSpPr>
        <p:spPr>
          <a:xfrm>
            <a:off x="9900000" y="2000000"/>
            <a:ext cx="7300000" cy="7400000"/>
          </a:xfrm>
          <a:prstGeom prst="rect">
            <a:avLst/>
          </a:prstGeom>
          <a:noFill/>
        </p:spPr>
        <p:txBody>
          <a:bodyPr wrap="square">
            <a:spAutoFit/>
          </a:bodyPr>
          <a:lstStyle/>
          <a:p>
            <a:pPr marL="571500" indent="-571500">
              <a:lnSpc>
                <a:spcPct val="115000"/>
              </a:lnSpc>
              <a:spcAft>
                <a:spcPts val="600"/>
              </a:spcAft>
              <a:buFont typeface="Arial"/>
              <a:buChar char="•"/>
            </a:pPr>
            <a:r>
              <a:rPr sz="2800" b="0" i="0">
                <a:solidFill>
                  <a:srgbClr val="1A1A1A"/>
                </a:solidFill>
                <a:latin typeface="Times New Roman"/>
                <a:cs typeface="Times New Roman"/>
              </a:rPr>
              <a:t>Input: harmonized 18-channel, 256 Hz Siena seizure window.</a:t>
            </a:r>
          </a:p>
          <a:p>
            <a:pPr marL="571500" indent="-571500">
              <a:lnSpc>
                <a:spcPct val="115000"/>
              </a:lnSpc>
              <a:spcAft>
                <a:spcPts val="600"/>
              </a:spcAft>
              <a:buFont typeface="Arial"/>
              <a:buChar char="•"/>
            </a:pPr>
            <a:r>
              <a:rPr sz="2800" b="0" i="0">
                <a:solidFill>
                  <a:srgbClr val="1A1A1A"/>
                </a:solidFill>
                <a:latin typeface="Times New Roman"/>
                <a:cs typeface="Times New Roman"/>
              </a:rPr>
              <a:t>Two CRNN backbones (445,697 parameters each) give 128-D embeddings.</a:t>
            </a:r>
          </a:p>
          <a:p>
            <a:pPr marL="571500" indent="-571500">
              <a:lnSpc>
                <a:spcPct val="115000"/>
              </a:lnSpc>
              <a:spcAft>
                <a:spcPts val="600"/>
              </a:spcAft>
              <a:buFont typeface="Arial"/>
              <a:buChar char="•"/>
            </a:pPr>
            <a:r>
              <a:rPr sz="2800" b="0" i="0">
                <a:solidFill>
                  <a:srgbClr val="1A1A1A"/>
                </a:solidFill>
                <a:latin typeface="Times New Roman"/>
                <a:cs typeface="Times New Roman"/>
              </a:rPr>
              <a:t>256-D concatenation; SMOTE on the training split only (test embeddings untouched).</a:t>
            </a:r>
          </a:p>
          <a:p>
            <a:pPr marL="571500" indent="-571500">
              <a:lnSpc>
                <a:spcPct val="115000"/>
              </a:lnSpc>
              <a:spcAft>
                <a:spcPts val="600"/>
              </a:spcAft>
              <a:buFont typeface="Arial"/>
              <a:buChar char="•"/>
            </a:pPr>
            <a:r>
              <a:rPr sz="2800" b="0" i="0">
                <a:solidFill>
                  <a:srgbClr val="1A1A1A"/>
                </a:solidFill>
                <a:latin typeface="Times New Roman"/>
                <a:cs typeface="Times New Roman"/>
              </a:rPr>
              <a:t>HistGradientBoosting: 200 rounds, depth 4, learning rate 0.08, L2 = 0.5.</a:t>
            </a:r>
          </a:p>
          <a:p>
            <a:pPr marL="571500" indent="-571500">
              <a:lnSpc>
                <a:spcPct val="115000"/>
              </a:lnSpc>
              <a:spcAft>
                <a:spcPts val="600"/>
              </a:spcAft>
              <a:buFont typeface="Arial"/>
              <a:buChar char="•"/>
            </a:pPr>
            <a:r>
              <a:rPr sz="2800" b="0" i="0">
                <a:solidFill>
                  <a:srgbClr val="1A1A1A"/>
                </a:solidFill>
                <a:latin typeface="Times New Roman"/>
                <a:cs typeface="Times New Roman"/>
              </a:rPr>
              <a:t>Output: argmax over 3 subtype probabilities.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23</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Latent-Space SMOTE &amp; Model Selection</a:t>
            </a:r>
          </a:p>
        </p:txBody>
      </p:sp>
      <p:sp>
        <p:nvSpPr>
          <p:cNvPr id="10" name="TextBox 9"/>
          <p:cNvSpPr txBox="1"/>
          <p:nvPr/>
        </p:nvSpPr>
        <p:spPr>
          <a:xfrm>
            <a:off x="1257300" y="1750000"/>
            <a:ext cx="15773400" cy="5014578"/>
          </a:xfrm>
          <a:prstGeom prst="rect">
            <a:avLst/>
          </a:prstGeom>
          <a:noFill/>
        </p:spPr>
        <p:txBody>
          <a:bodyPr wrap="square">
            <a:spAutoFit/>
          </a:bodyPr>
          <a:lstStyle/>
          <a:p>
            <a:pPr marL="571500" indent="-571500">
              <a:lnSpc>
                <a:spcPct val="112000"/>
              </a:lnSpc>
              <a:spcAft>
                <a:spcPts val="600"/>
              </a:spcAft>
              <a:buFont typeface="Arial"/>
              <a:buChar char="•"/>
            </a:pPr>
            <a:r>
              <a:rPr sz="3000" b="1" i="0" dirty="0">
                <a:solidFill>
                  <a:srgbClr val="1A1A1A"/>
                </a:solidFill>
                <a:latin typeface="Times New Roman"/>
                <a:cs typeface="Times New Roman"/>
              </a:rPr>
              <a:t>Why latent space: </a:t>
            </a:r>
            <a:r>
              <a:rPr sz="3000" b="0" i="0" dirty="0">
                <a:solidFill>
                  <a:srgbClr val="1A1A1A"/>
                </a:solidFill>
                <a:latin typeface="Times New Roman"/>
                <a:cs typeface="Times New Roman"/>
              </a:rPr>
              <a:t>interpolating raw EEG creates non-physiological phase and frequency artifacts; interpolating learned embeddings does not.</a:t>
            </a:r>
          </a:p>
          <a:p>
            <a:pPr marL="571500" indent="-571500">
              <a:lnSpc>
                <a:spcPct val="112000"/>
              </a:lnSpc>
              <a:spcAft>
                <a:spcPts val="600"/>
              </a:spcAft>
              <a:buFont typeface="Arial"/>
              <a:buChar char="•"/>
            </a:pPr>
            <a:r>
              <a:rPr sz="3000" b="1" i="0" dirty="0">
                <a:solidFill>
                  <a:srgbClr val="1A1A1A"/>
                </a:solidFill>
                <a:latin typeface="Times New Roman"/>
                <a:cs typeface="Times New Roman"/>
              </a:rPr>
              <a:t>Class-adaptive ratios (k = 5 neighbors): </a:t>
            </a:r>
            <a:r>
              <a:rPr sz="3000" b="0" i="0" dirty="0">
                <a:solidFill>
                  <a:srgbClr val="1A1A1A"/>
                </a:solidFill>
                <a:latin typeface="Times New Roman"/>
                <a:cs typeface="Times New Roman"/>
              </a:rPr>
              <a:t>Focal Aware 29 → 87 (3×), FBTC 87 → 435 (5×); Focal Impaired Awareness (1,158) never oversampled.</a:t>
            </a:r>
          </a:p>
          <a:p>
            <a:pPr marL="571500" indent="-571500">
              <a:lnSpc>
                <a:spcPct val="112000"/>
              </a:lnSpc>
              <a:spcAft>
                <a:spcPts val="600"/>
              </a:spcAft>
              <a:buFont typeface="Arial"/>
              <a:buChar char="•"/>
            </a:pPr>
            <a:r>
              <a:rPr sz="3000" b="1" i="0" dirty="0">
                <a:solidFill>
                  <a:srgbClr val="1A1A1A"/>
                </a:solidFill>
                <a:latin typeface="Times New Roman"/>
                <a:cs typeface="Times New Roman"/>
              </a:rPr>
              <a:t>Classifier sweep: </a:t>
            </a:r>
            <a:r>
              <a:rPr sz="3000" b="0" i="0" dirty="0">
                <a:solidFill>
                  <a:srgbClr val="1A1A1A"/>
                </a:solidFill>
                <a:latin typeface="Times New Roman"/>
                <a:cs typeface="Times New Roman"/>
              </a:rPr>
              <a:t>MLP, Random Forest and </a:t>
            </a:r>
            <a:r>
              <a:rPr sz="3000" b="0" i="0" dirty="0" err="1">
                <a:solidFill>
                  <a:srgbClr val="1A1A1A"/>
                </a:solidFill>
                <a:latin typeface="Times New Roman"/>
                <a:cs typeface="Times New Roman"/>
              </a:rPr>
              <a:t>HistGradientBoosting</a:t>
            </a:r>
            <a:r>
              <a:rPr lang="en-US" sz="3000" b="0" i="0" dirty="0">
                <a:solidFill>
                  <a:srgbClr val="1A1A1A"/>
                </a:solidFill>
                <a:latin typeface="Times New Roman"/>
                <a:cs typeface="Times New Roman"/>
              </a:rPr>
              <a:t>.</a:t>
            </a:r>
            <a:endParaRPr sz="3000" b="0" i="0" dirty="0">
              <a:solidFill>
                <a:srgbClr val="1A1A1A"/>
              </a:solidFill>
              <a:latin typeface="Times New Roman"/>
              <a:cs typeface="Times New Roman"/>
            </a:endParaRPr>
          </a:p>
          <a:p>
            <a:pPr marL="571500" indent="-571500">
              <a:lnSpc>
                <a:spcPct val="112000"/>
              </a:lnSpc>
              <a:spcAft>
                <a:spcPts val="600"/>
              </a:spcAft>
              <a:buFont typeface="Arial"/>
              <a:buChar char="•"/>
            </a:pPr>
            <a:r>
              <a:rPr sz="3000" b="1" i="0" dirty="0">
                <a:solidFill>
                  <a:srgbClr val="1A1A1A"/>
                </a:solidFill>
                <a:latin typeface="Times New Roman"/>
                <a:cs typeface="Times New Roman"/>
              </a:rPr>
              <a:t>Adversarial control: </a:t>
            </a:r>
            <a:r>
              <a:rPr sz="3000" b="0" i="0" dirty="0">
                <a:solidFill>
                  <a:srgbClr val="1A1A1A"/>
                </a:solidFill>
                <a:latin typeface="Times New Roman"/>
                <a:cs typeface="Times New Roman"/>
              </a:rPr>
              <a:t>150 interictal windows per patient, re</a:t>
            </a:r>
            <a:r>
              <a:rPr lang="en-US" sz="3000" b="0" i="0" dirty="0">
                <a:solidFill>
                  <a:srgbClr val="1A1A1A"/>
                </a:solidFill>
                <a:latin typeface="Times New Roman"/>
                <a:cs typeface="Times New Roman"/>
              </a:rPr>
              <a:t>-</a:t>
            </a:r>
            <a:r>
              <a:rPr sz="3000" b="0" i="0" dirty="0">
                <a:solidFill>
                  <a:srgbClr val="1A1A1A"/>
                </a:solidFill>
                <a:latin typeface="Times New Roman"/>
                <a:cs typeface="Times New Roman"/>
              </a:rPr>
              <a:t>labelled with that patient’s subtype, run through the same pipeline. Recall gap Δ = real − control.</a:t>
            </a:r>
          </a:p>
          <a:p>
            <a:pPr marL="571500" indent="-571500">
              <a:lnSpc>
                <a:spcPct val="112000"/>
              </a:lnSpc>
              <a:spcAft>
                <a:spcPts val="600"/>
              </a:spcAft>
              <a:buFont typeface="Arial"/>
              <a:buChar char="•"/>
            </a:pPr>
            <a:r>
              <a:rPr sz="3000" b="1" i="0" dirty="0">
                <a:solidFill>
                  <a:srgbClr val="1A1A1A"/>
                </a:solidFill>
                <a:latin typeface="Times New Roman"/>
                <a:cs typeface="Times New Roman"/>
              </a:rPr>
              <a:t>Selection rule (fixed before the sweep): </a:t>
            </a:r>
            <a:r>
              <a:rPr sz="3000" b="0" i="0" dirty="0">
                <a:solidFill>
                  <a:srgbClr val="1A1A1A"/>
                </a:solidFill>
                <a:latin typeface="Times New Roman"/>
                <a:cs typeface="Times New Roman"/>
              </a:rPr>
              <a:t>accuracy ≥ 0.90, positive Δ on both minority classes, then maximize the minimum class recall.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24</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Models Compared</a:t>
            </a:r>
          </a:p>
        </p:txBody>
      </p:sp>
      <p:graphicFrame>
        <p:nvGraphicFramePr>
          <p:cNvPr id="10" name="Table 9"/>
          <p:cNvGraphicFramePr>
            <a:graphicFrameLocks noGrp="1"/>
          </p:cNvGraphicFramePr>
          <p:nvPr/>
        </p:nvGraphicFramePr>
        <p:xfrm>
          <a:off x="1257300" y="1650000"/>
          <a:ext cx="15773400" cy="5400000"/>
        </p:xfrm>
        <a:graphic>
          <a:graphicData uri="http://schemas.openxmlformats.org/drawingml/2006/table">
            <a:tbl>
              <a:tblPr>
                <a:tableStyleId>{5940675A-B579-460E-94D1-54222C63F5DA}</a:tableStyleId>
              </a:tblPr>
              <a:tblGrid>
                <a:gridCol w="27432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gridCol w="4572000">
                  <a:extLst>
                    <a:ext uri="{9D8B030D-6E8A-4147-A177-3AD203B41FA5}">
                      <a16:colId xmlns:a16="http://schemas.microsoft.com/office/drawing/2014/main" val="20003"/>
                    </a:ext>
                  </a:extLst>
                </a:gridCol>
              </a:tblGrid>
              <a:tr h="900000">
                <a:tc>
                  <a:txBody>
                    <a:bodyPr/>
                    <a:lstStyle/>
                    <a:p>
                      <a:pPr algn="ctr"/>
                      <a:endParaRP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400" b="1" i="0">
                          <a:solidFill>
                            <a:srgbClr val="1A1A1A"/>
                          </a:solidFill>
                          <a:latin typeface="Times New Roman"/>
                          <a:cs typeface="Times New Roman"/>
                        </a:rPr>
                        <a:t>1D-CNN (LOSO)</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400" b="1" i="0">
                          <a:solidFill>
                            <a:srgbClr val="1A1A1A"/>
                          </a:solidFill>
                          <a:latin typeface="Times New Roman"/>
                          <a:cs typeface="Times New Roman"/>
                        </a:rPr>
                        <a:t>Fine-tuned CRNN (v2)</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400" b="1" i="0">
                          <a:solidFill>
                            <a:srgbClr val="1A1A1A"/>
                          </a:solidFill>
                          <a:latin typeface="Times New Roman"/>
                          <a:cs typeface="Times New Roman"/>
                        </a:rPr>
                        <a:t>EEG-HDC v4 (Proposed)</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extLst>
                  <a:ext uri="{0D108BD9-81ED-4DB2-BD59-A6C34878D82A}">
                    <a16:rowId xmlns:a16="http://schemas.microsoft.com/office/drawing/2014/main" val="10000"/>
                  </a:ext>
                </a:extLst>
              </a:tr>
              <a:tr h="900000">
                <a:tc>
                  <a:txBody>
                    <a:bodyPr/>
                    <a:lstStyle/>
                    <a:p>
                      <a:pPr algn="l"/>
                      <a:r>
                        <a:rPr sz="2400" b="1" i="0">
                          <a:solidFill>
                            <a:srgbClr val="1A1A1A"/>
                          </a:solidFill>
                          <a:latin typeface="Times New Roman"/>
                          <a:cs typeface="Times New Roman"/>
                        </a:rPr>
                        <a:t>Backbone</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400" b="0" i="0">
                          <a:solidFill>
                            <a:srgbClr val="1A1A1A"/>
                          </a:solidFill>
                          <a:latin typeface="Times New Roman"/>
                          <a:cs typeface="Times New Roman"/>
                        </a:rPr>
                        <a:t>5-block 1D-CNN, from scratch</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400" b="0" i="0">
                          <a:solidFill>
                            <a:srgbClr val="1A1A1A"/>
                          </a:solidFill>
                          <a:latin typeface="Times New Roman"/>
                          <a:cs typeface="Times New Roman"/>
                        </a:rPr>
                        <a:t>CRNN, Phase A weights fine-tuned</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400" b="0" i="0">
                          <a:solidFill>
                            <a:srgbClr val="1A1A1A"/>
                          </a:solidFill>
                          <a:latin typeface="Times New Roman"/>
                          <a:cs typeface="Times New Roman"/>
                        </a:rPr>
                        <a:t>Two CRNN backbones (frozen + fine-tuned)</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1"/>
                  </a:ext>
                </a:extLst>
              </a:tr>
              <a:tr h="900000">
                <a:tc>
                  <a:txBody>
                    <a:bodyPr/>
                    <a:lstStyle/>
                    <a:p>
                      <a:pPr algn="l"/>
                      <a:r>
                        <a:rPr sz="2400" b="1" i="0">
                          <a:solidFill>
                            <a:srgbClr val="1A1A1A"/>
                          </a:solidFill>
                          <a:latin typeface="Times New Roman"/>
                          <a:cs typeface="Times New Roman"/>
                        </a:rPr>
                        <a:t>Features</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400" b="0" i="0">
                          <a:solidFill>
                            <a:srgbClr val="1A1A1A"/>
                          </a:solidFill>
                          <a:latin typeface="Times New Roman"/>
                          <a:cs typeface="Times New Roman"/>
                        </a:rPr>
                        <a:t>Learned end-to-end</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400" b="0" i="0">
                          <a:solidFill>
                            <a:srgbClr val="1A1A1A"/>
                          </a:solidFill>
                          <a:latin typeface="Times New Roman"/>
                          <a:cs typeface="Times New Roman"/>
                        </a:rPr>
                        <a:t>128-D embedding</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400" b="0" i="0">
                          <a:solidFill>
                            <a:srgbClr val="1A1A1A"/>
                          </a:solidFill>
                          <a:latin typeface="Times New Roman"/>
                          <a:cs typeface="Times New Roman"/>
                        </a:rPr>
                        <a:t>256-D dual embedding</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2"/>
                  </a:ext>
                </a:extLst>
              </a:tr>
              <a:tr h="900000">
                <a:tc>
                  <a:txBody>
                    <a:bodyPr/>
                    <a:lstStyle/>
                    <a:p>
                      <a:pPr algn="l"/>
                      <a:r>
                        <a:rPr sz="2400" b="1" i="0">
                          <a:solidFill>
                            <a:srgbClr val="1A1A1A"/>
                          </a:solidFill>
                          <a:latin typeface="Times New Roman"/>
                          <a:cs typeface="Times New Roman"/>
                        </a:rPr>
                        <a:t>Imbalance handling</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400" b="0" i="0">
                          <a:solidFill>
                            <a:srgbClr val="1A1A1A"/>
                          </a:solidFill>
                          <a:latin typeface="Times New Roman"/>
                          <a:cs typeface="Times New Roman"/>
                        </a:rPr>
                        <a:t>Class weights</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400" b="0" i="0">
                          <a:solidFill>
                            <a:srgbClr val="1A1A1A"/>
                          </a:solidFill>
                          <a:latin typeface="Times New Roman"/>
                          <a:cs typeface="Times New Roman"/>
                        </a:rPr>
                        <a:t>Embedding SMOTE (3× / 5×)</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400" b="0" i="0">
                          <a:solidFill>
                            <a:srgbClr val="1A1A1A"/>
                          </a:solidFill>
                          <a:latin typeface="Times New Roman"/>
                          <a:cs typeface="Times New Roman"/>
                        </a:rPr>
                        <a:t>Embedding SMOTE (3× / 5×)</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3"/>
                  </a:ext>
                </a:extLst>
              </a:tr>
              <a:tr h="900000">
                <a:tc>
                  <a:txBody>
                    <a:bodyPr/>
                    <a:lstStyle/>
                    <a:p>
                      <a:pPr algn="l"/>
                      <a:r>
                        <a:rPr sz="2400" b="1" i="0">
                          <a:solidFill>
                            <a:srgbClr val="1A1A1A"/>
                          </a:solidFill>
                          <a:latin typeface="Times New Roman"/>
                          <a:cs typeface="Times New Roman"/>
                        </a:rPr>
                        <a:t>Classifier</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400" b="0" i="0">
                          <a:solidFill>
                            <a:srgbClr val="1A1A1A"/>
                          </a:solidFill>
                          <a:latin typeface="Times New Roman"/>
                          <a:cs typeface="Times New Roman"/>
                        </a:rPr>
                        <a:t>Softmax head</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400" b="0" i="0">
                          <a:solidFill>
                            <a:srgbClr val="1A1A1A"/>
                          </a:solidFill>
                          <a:latin typeface="Times New Roman"/>
                          <a:cs typeface="Times New Roman"/>
                        </a:rPr>
                        <a:t>MLP head</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400" b="0" i="0">
                          <a:solidFill>
                            <a:srgbClr val="1A1A1A"/>
                          </a:solidFill>
                          <a:latin typeface="Times New Roman"/>
                          <a:cs typeface="Times New Roman"/>
                        </a:rPr>
                        <a:t>HistGradientBoosting</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4"/>
                  </a:ext>
                </a:extLst>
              </a:tr>
              <a:tr h="900000">
                <a:tc>
                  <a:txBody>
                    <a:bodyPr/>
                    <a:lstStyle/>
                    <a:p>
                      <a:pPr algn="l"/>
                      <a:r>
                        <a:rPr sz="2400" b="1" i="0">
                          <a:solidFill>
                            <a:srgbClr val="1A1A1A"/>
                          </a:solidFill>
                          <a:latin typeface="Times New Roman"/>
                          <a:cs typeface="Times New Roman"/>
                        </a:rPr>
                        <a:t>Evaluation split</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400" b="0" i="0">
                          <a:solidFill>
                            <a:srgbClr val="1A1A1A"/>
                          </a:solidFill>
                          <a:latin typeface="Times New Roman"/>
                          <a:cs typeface="Times New Roman"/>
                        </a:rPr>
                        <a:t>Leave-one-subject-out (13 folds)</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400" b="0" i="0">
                          <a:solidFill>
                            <a:srgbClr val="1A1A1A"/>
                          </a:solidFill>
                          <a:latin typeface="Times New Roman"/>
                          <a:cs typeface="Times New Roman"/>
                        </a:rPr>
                        <a:t>Event-level stratified (70/30)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400" b="0" i="0">
                          <a:solidFill>
                            <a:srgbClr val="1A1A1A"/>
                          </a:solidFill>
                          <a:latin typeface="Times New Roman"/>
                          <a:cs typeface="Times New Roman"/>
                        </a:rPr>
                        <a:t>Event-level stratified (70/30)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1257300" y="7500000"/>
            <a:ext cx="15773400" cy="900000"/>
          </a:xfrm>
          <a:prstGeom prst="rect">
            <a:avLst/>
          </a:prstGeom>
          <a:noFill/>
        </p:spPr>
        <p:txBody>
          <a:bodyPr wrap="square">
            <a:spAutoFit/>
          </a:bodyPr>
          <a:lstStyle/>
          <a:p>
            <a:pPr algn="ctr"/>
            <a:r>
              <a:rPr sz="2600" b="0" i="1" dirty="0">
                <a:solidFill>
                  <a:srgbClr val="1A1A1A"/>
                </a:solidFill>
                <a:latin typeface="Times New Roman"/>
                <a:cs typeface="Times New Roman"/>
              </a:rPr>
              <a:t>The LOSO baseline is a stricter test (unseen patients); v2 and v4 share the same event-level split and are directly comparable.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25</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015663"/>
          </a:xfrm>
          <a:prstGeom prst="rect">
            <a:avLst/>
          </a:prstGeom>
          <a:noFill/>
        </p:spPr>
        <p:txBody>
          <a:bodyPr wrap="square">
            <a:spAutoFit/>
          </a:bodyPr>
          <a:lstStyle/>
          <a:p>
            <a:pPr algn="ctr"/>
            <a:r>
              <a:rPr sz="6000" b="1" i="0" dirty="0">
                <a:solidFill>
                  <a:srgbClr val="1A1A1A"/>
                </a:solidFill>
                <a:latin typeface="Times New Roman"/>
                <a:cs typeface="Times New Roman"/>
              </a:rPr>
              <a:t>Implementation</a:t>
            </a:r>
            <a:r>
              <a:rPr lang="en-US" sz="6000" b="1" i="0" dirty="0">
                <a:solidFill>
                  <a:srgbClr val="1A1A1A"/>
                </a:solidFill>
                <a:latin typeface="Times New Roman"/>
                <a:cs typeface="Times New Roman"/>
              </a:rPr>
              <a:t> Technology</a:t>
            </a:r>
            <a:endParaRPr sz="6000" b="1" i="0" dirty="0">
              <a:solidFill>
                <a:srgbClr val="1A1A1A"/>
              </a:solidFill>
              <a:latin typeface="Times New Roman"/>
              <a:cs typeface="Times New Roman"/>
            </a:endParaRPr>
          </a:p>
        </p:txBody>
      </p:sp>
      <p:sp>
        <p:nvSpPr>
          <p:cNvPr id="10" name="TextBox 9"/>
          <p:cNvSpPr txBox="1"/>
          <p:nvPr/>
        </p:nvSpPr>
        <p:spPr>
          <a:xfrm>
            <a:off x="1257300" y="1750000"/>
            <a:ext cx="15773400" cy="3502369"/>
          </a:xfrm>
          <a:prstGeom prst="rect">
            <a:avLst/>
          </a:prstGeom>
          <a:noFill/>
        </p:spPr>
        <p:txBody>
          <a:bodyPr wrap="square">
            <a:spAutoFit/>
          </a:bodyPr>
          <a:lstStyle/>
          <a:p>
            <a:pPr marL="571500" indent="-571500">
              <a:lnSpc>
                <a:spcPct val="130000"/>
              </a:lnSpc>
              <a:spcAft>
                <a:spcPts val="600"/>
              </a:spcAft>
              <a:buFont typeface="Arial"/>
              <a:buChar char="•"/>
            </a:pPr>
            <a:r>
              <a:rPr sz="3400" b="1" i="0" dirty="0">
                <a:solidFill>
                  <a:srgbClr val="1A1A1A"/>
                </a:solidFill>
                <a:latin typeface="Times New Roman"/>
                <a:cs typeface="Times New Roman"/>
              </a:rPr>
              <a:t>Training: </a:t>
            </a:r>
            <a:r>
              <a:rPr sz="3400" b="0" i="0" dirty="0" err="1">
                <a:solidFill>
                  <a:srgbClr val="1A1A1A"/>
                </a:solidFill>
                <a:latin typeface="Times New Roman"/>
                <a:cs typeface="Times New Roman"/>
              </a:rPr>
              <a:t>PyTorch</a:t>
            </a:r>
            <a:r>
              <a:rPr sz="3400" b="0" i="0" dirty="0">
                <a:solidFill>
                  <a:srgbClr val="1A1A1A"/>
                </a:solidFill>
                <a:latin typeface="Times New Roman"/>
                <a:cs typeface="Times New Roman"/>
              </a:rPr>
              <a:t> (CRNN backbones), scikit-learn (SMOTE-balanced classifiers), MNE / HDF5 for EEG preprocessing.</a:t>
            </a:r>
          </a:p>
          <a:p>
            <a:pPr marL="571500" indent="-571500">
              <a:lnSpc>
                <a:spcPct val="130000"/>
              </a:lnSpc>
              <a:spcAft>
                <a:spcPts val="600"/>
              </a:spcAft>
              <a:buFont typeface="Arial"/>
              <a:buChar char="•"/>
            </a:pPr>
            <a:r>
              <a:rPr sz="3400" b="1" i="0" dirty="0">
                <a:solidFill>
                  <a:srgbClr val="1A1A1A"/>
                </a:solidFill>
                <a:latin typeface="Times New Roman"/>
                <a:cs typeface="Times New Roman"/>
              </a:rPr>
              <a:t>Inference path: </a:t>
            </a:r>
            <a:r>
              <a:rPr sz="3400" b="0" i="0" dirty="0">
                <a:solidFill>
                  <a:srgbClr val="1A1A1A"/>
                </a:solidFill>
                <a:latin typeface="Times New Roman"/>
                <a:cs typeface="Times New Roman"/>
              </a:rPr>
              <a:t>4 s windows → Stage 1 detector → threshold + minimum event duration → 10 s event windows → dual-embedding </a:t>
            </a:r>
            <a:r>
              <a:rPr sz="3400" b="0" i="0" dirty="0" err="1">
                <a:solidFill>
                  <a:srgbClr val="1A1A1A"/>
                </a:solidFill>
                <a:latin typeface="Times New Roman"/>
                <a:cs typeface="Times New Roman"/>
              </a:rPr>
              <a:t>HistGB</a:t>
            </a:r>
            <a:r>
              <a:rPr sz="3400" b="0" i="0" dirty="0">
                <a:solidFill>
                  <a:srgbClr val="1A1A1A"/>
                </a:solidFill>
                <a:latin typeface="Times New Roman"/>
                <a:cs typeface="Times New Roman"/>
              </a:rPr>
              <a:t> subtype with per-class probabilities.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26</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Results: Seizure Detection (Stage 1)</a:t>
            </a:r>
          </a:p>
        </p:txBody>
      </p:sp>
      <p:pic>
        <p:nvPicPr>
          <p:cNvPr id="10" name="Picture 9" descr="phase_a_threshold_roc (1).png"/>
          <p:cNvPicPr>
            <a:picLocks noChangeAspect="1"/>
          </p:cNvPicPr>
          <p:nvPr/>
        </p:nvPicPr>
        <p:blipFill>
          <a:blip r:embed="rId3"/>
          <a:stretch>
            <a:fillRect/>
          </a:stretch>
        </p:blipFill>
        <p:spPr>
          <a:xfrm>
            <a:off x="1257300" y="1462181"/>
            <a:ext cx="6900000" cy="7875638"/>
          </a:xfrm>
          <a:prstGeom prst="rect">
            <a:avLst/>
          </a:prstGeom>
        </p:spPr>
      </p:pic>
      <p:graphicFrame>
        <p:nvGraphicFramePr>
          <p:cNvPr id="11" name="Table 10"/>
          <p:cNvGraphicFramePr>
            <a:graphicFrameLocks noGrp="1"/>
          </p:cNvGraphicFramePr>
          <p:nvPr/>
        </p:nvGraphicFramePr>
        <p:xfrm>
          <a:off x="8700000" y="1800000"/>
          <a:ext cx="8299999" cy="4080000"/>
        </p:xfrm>
        <a:graphic>
          <a:graphicData uri="http://schemas.openxmlformats.org/drawingml/2006/table">
            <a:tbl>
              <a:tblPr>
                <a:tableStyleId>{5940675A-B579-460E-94D1-54222C63F5DA}</a:tableStyleId>
              </a:tblPr>
              <a:tblGrid>
                <a:gridCol w="3212903">
                  <a:extLst>
                    <a:ext uri="{9D8B030D-6E8A-4147-A177-3AD203B41FA5}">
                      <a16:colId xmlns:a16="http://schemas.microsoft.com/office/drawing/2014/main" val="20000"/>
                    </a:ext>
                  </a:extLst>
                </a:gridCol>
                <a:gridCol w="2141935">
                  <a:extLst>
                    <a:ext uri="{9D8B030D-6E8A-4147-A177-3AD203B41FA5}">
                      <a16:colId xmlns:a16="http://schemas.microsoft.com/office/drawing/2014/main" val="20001"/>
                    </a:ext>
                  </a:extLst>
                </a:gridCol>
                <a:gridCol w="2945161">
                  <a:extLst>
                    <a:ext uri="{9D8B030D-6E8A-4147-A177-3AD203B41FA5}">
                      <a16:colId xmlns:a16="http://schemas.microsoft.com/office/drawing/2014/main" val="20002"/>
                    </a:ext>
                  </a:extLst>
                </a:gridCol>
              </a:tblGrid>
              <a:tr h="680000">
                <a:tc>
                  <a:txBody>
                    <a:bodyPr/>
                    <a:lstStyle/>
                    <a:p>
                      <a:pPr algn="ctr"/>
                      <a:r>
                        <a:rPr sz="2600" b="1" i="0">
                          <a:solidFill>
                            <a:srgbClr val="1A1A1A"/>
                          </a:solidFill>
                          <a:latin typeface="Times New Roman"/>
                          <a:cs typeface="Times New Roman"/>
                        </a:rPr>
                        <a:t>Metric</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600" b="1" i="0">
                          <a:solidFill>
                            <a:srgbClr val="1A1A1A"/>
                          </a:solidFill>
                          <a:latin typeface="Times New Roman"/>
                          <a:cs typeface="Times New Roman"/>
                        </a:rPr>
                        <a:t>1D-CNN</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600" b="1" i="0">
                          <a:solidFill>
                            <a:srgbClr val="1A1A1A"/>
                          </a:solidFill>
                          <a:latin typeface="Times New Roman"/>
                          <a:cs typeface="Times New Roman"/>
                        </a:rPr>
                        <a:t>CRNN (Phase A)</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extLst>
                  <a:ext uri="{0D108BD9-81ED-4DB2-BD59-A6C34878D82A}">
                    <a16:rowId xmlns:a16="http://schemas.microsoft.com/office/drawing/2014/main" val="10000"/>
                  </a:ext>
                </a:extLst>
              </a:tr>
              <a:tr h="680000">
                <a:tc>
                  <a:txBody>
                    <a:bodyPr/>
                    <a:lstStyle/>
                    <a:p>
                      <a:pPr algn="l"/>
                      <a:r>
                        <a:rPr sz="2600" b="1" i="0">
                          <a:solidFill>
                            <a:srgbClr val="1A1A1A"/>
                          </a:solidFill>
                          <a:latin typeface="Times New Roman"/>
                          <a:cs typeface="Times New Roman"/>
                        </a:rPr>
                        <a:t>Test AUROC</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0.851</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0.824</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1"/>
                  </a:ext>
                </a:extLst>
              </a:tr>
              <a:tr h="680000">
                <a:tc>
                  <a:txBody>
                    <a:bodyPr/>
                    <a:lstStyle/>
                    <a:p>
                      <a:pPr algn="l"/>
                      <a:r>
                        <a:rPr sz="2600" b="1" i="0">
                          <a:solidFill>
                            <a:srgbClr val="1A1A1A"/>
                          </a:solidFill>
                          <a:latin typeface="Times New Roman"/>
                          <a:cs typeface="Times New Roman"/>
                        </a:rPr>
                        <a:t>Best threshold</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0.73</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0.65</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2"/>
                  </a:ext>
                </a:extLst>
              </a:tr>
              <a:tr h="680000">
                <a:tc>
                  <a:txBody>
                    <a:bodyPr/>
                    <a:lstStyle/>
                    <a:p>
                      <a:pPr algn="l"/>
                      <a:r>
                        <a:rPr sz="2600" b="1" i="0">
                          <a:solidFill>
                            <a:srgbClr val="1A1A1A"/>
                          </a:solidFill>
                          <a:latin typeface="Times New Roman"/>
                          <a:cs typeface="Times New Roman"/>
                        </a:rPr>
                        <a:t>Sensitivity</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0.525</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dirty="0">
                          <a:solidFill>
                            <a:srgbClr val="1A1A1A"/>
                          </a:solidFill>
                          <a:latin typeface="Times New Roman"/>
                          <a:cs typeface="Times New Roman"/>
                        </a:rPr>
                        <a:t>0.605</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3"/>
                  </a:ext>
                </a:extLst>
              </a:tr>
              <a:tr h="680000">
                <a:tc>
                  <a:txBody>
                    <a:bodyPr/>
                    <a:lstStyle/>
                    <a:p>
                      <a:pPr algn="l"/>
                      <a:r>
                        <a:rPr sz="2600" b="1" i="0">
                          <a:solidFill>
                            <a:srgbClr val="1A1A1A"/>
                          </a:solidFill>
                          <a:latin typeface="Times New Roman"/>
                          <a:cs typeface="Times New Roman"/>
                        </a:rPr>
                        <a:t>Specificity</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0.920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0.852</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4"/>
                  </a:ext>
                </a:extLst>
              </a:tr>
              <a:tr h="680000">
                <a:tc>
                  <a:txBody>
                    <a:bodyPr/>
                    <a:lstStyle/>
                    <a:p>
                      <a:pPr algn="l"/>
                      <a:r>
                        <a:rPr sz="2600" b="1" i="0">
                          <a:solidFill>
                            <a:srgbClr val="1A1A1A"/>
                          </a:solidFill>
                          <a:latin typeface="Times New Roman"/>
                          <a:cs typeface="Times New Roman"/>
                        </a:rPr>
                        <a:t>F1 score</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0.526</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dirty="0">
                          <a:solidFill>
                            <a:srgbClr val="1A1A1A"/>
                          </a:solidFill>
                          <a:latin typeface="Times New Roman"/>
                          <a:cs typeface="Times New Roman"/>
                        </a:rPr>
                        <a:t>0.487</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2" name="TextBox 11"/>
          <p:cNvSpPr txBox="1"/>
          <p:nvPr/>
        </p:nvSpPr>
        <p:spPr>
          <a:xfrm>
            <a:off x="8700000" y="6150000"/>
            <a:ext cx="8300000" cy="7400000"/>
          </a:xfrm>
          <a:prstGeom prst="rect">
            <a:avLst/>
          </a:prstGeom>
          <a:noFill/>
        </p:spPr>
        <p:txBody>
          <a:bodyPr wrap="square">
            <a:spAutoFit/>
          </a:bodyPr>
          <a:lstStyle/>
          <a:p>
            <a:pPr marL="571500" indent="-571500">
              <a:lnSpc>
                <a:spcPct val="110000"/>
              </a:lnSpc>
              <a:spcAft>
                <a:spcPts val="600"/>
              </a:spcAft>
              <a:buFont typeface="Arial"/>
              <a:buChar char="•"/>
            </a:pPr>
            <a:r>
              <a:rPr sz="2600" b="0" i="0">
                <a:solidFill>
                  <a:srgbClr val="1A1A1A"/>
                </a:solidFill>
                <a:latin typeface="Times New Roman"/>
                <a:cs typeface="Times New Roman"/>
              </a:rPr>
              <a:t>Held-out test patients, never seen in training.</a:t>
            </a:r>
          </a:p>
          <a:p>
            <a:pPr marL="571500" indent="-571500">
              <a:lnSpc>
                <a:spcPct val="110000"/>
              </a:lnSpc>
              <a:spcAft>
                <a:spcPts val="600"/>
              </a:spcAft>
              <a:buFont typeface="Arial"/>
              <a:buChar char="•"/>
            </a:pPr>
            <a:r>
              <a:rPr sz="2600" b="0" i="0">
                <a:solidFill>
                  <a:srgbClr val="1A1A1A"/>
                </a:solidFill>
                <a:latin typeface="Times New Roman"/>
                <a:cs typeface="Times New Roman"/>
              </a:rPr>
              <a:t>The two detectors are comparable (~0.82–0.85 AUROC); the CRNN trades specificity for higher sensitivity.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27</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Results: Training Curves</a:t>
            </a:r>
          </a:p>
        </p:txBody>
      </p:sp>
      <p:pic>
        <p:nvPicPr>
          <p:cNvPr id="10" name="Picture 9" descr="phase_a_training_curves.png"/>
          <p:cNvPicPr>
            <a:picLocks noChangeAspect="1"/>
          </p:cNvPicPr>
          <p:nvPr/>
        </p:nvPicPr>
        <p:blipFill>
          <a:blip r:embed="rId3"/>
          <a:stretch>
            <a:fillRect/>
          </a:stretch>
        </p:blipFill>
        <p:spPr>
          <a:xfrm>
            <a:off x="2072869" y="1450000"/>
            <a:ext cx="14142261" cy="3450000"/>
          </a:xfrm>
          <a:prstGeom prst="rect">
            <a:avLst/>
          </a:prstGeom>
        </p:spPr>
      </p:pic>
      <p:sp>
        <p:nvSpPr>
          <p:cNvPr id="11" name="TextBox 10"/>
          <p:cNvSpPr txBox="1"/>
          <p:nvPr/>
        </p:nvSpPr>
        <p:spPr>
          <a:xfrm>
            <a:off x="1257300" y="4900000"/>
            <a:ext cx="15773400" cy="450000"/>
          </a:xfrm>
          <a:prstGeom prst="rect">
            <a:avLst/>
          </a:prstGeom>
          <a:noFill/>
        </p:spPr>
        <p:txBody>
          <a:bodyPr wrap="square">
            <a:spAutoFit/>
          </a:bodyPr>
          <a:lstStyle/>
          <a:p>
            <a:pPr algn="ctr"/>
            <a:r>
              <a:rPr sz="2400" b="0" i="1">
                <a:solidFill>
                  <a:srgbClr val="1A1A1A"/>
                </a:solidFill>
                <a:latin typeface="Times New Roman"/>
                <a:cs typeface="Times New Roman"/>
              </a:rPr>
              <a:t>CRNN (Phase A): focal loss, validation AUROC (best 0.830) and sensitivity / specificity / F1</a:t>
            </a:r>
          </a:p>
        </p:txBody>
      </p:sp>
      <p:pic>
        <p:nvPicPr>
          <p:cNvPr id="12" name="Picture 11" descr="training_curves.png"/>
          <p:cNvPicPr>
            <a:picLocks noChangeAspect="1"/>
          </p:cNvPicPr>
          <p:nvPr/>
        </p:nvPicPr>
        <p:blipFill>
          <a:blip r:embed="rId4"/>
          <a:stretch>
            <a:fillRect/>
          </a:stretch>
        </p:blipFill>
        <p:spPr>
          <a:xfrm>
            <a:off x="2072869" y="5450000"/>
            <a:ext cx="14142261" cy="3450000"/>
          </a:xfrm>
          <a:prstGeom prst="rect">
            <a:avLst/>
          </a:prstGeom>
        </p:spPr>
      </p:pic>
      <p:sp>
        <p:nvSpPr>
          <p:cNvPr id="13" name="TextBox 12"/>
          <p:cNvSpPr txBox="1"/>
          <p:nvPr/>
        </p:nvSpPr>
        <p:spPr>
          <a:xfrm>
            <a:off x="1257300" y="8900000"/>
            <a:ext cx="15773400" cy="450000"/>
          </a:xfrm>
          <a:prstGeom prst="rect">
            <a:avLst/>
          </a:prstGeom>
          <a:noFill/>
        </p:spPr>
        <p:txBody>
          <a:bodyPr wrap="square">
            <a:spAutoFit/>
          </a:bodyPr>
          <a:lstStyle/>
          <a:p>
            <a:pPr algn="ctr"/>
            <a:r>
              <a:rPr sz="2400" b="0" i="1">
                <a:solidFill>
                  <a:srgbClr val="1A1A1A"/>
                </a:solidFill>
                <a:latin typeface="Times New Roman"/>
                <a:cs typeface="Times New Roman"/>
              </a:rPr>
              <a:t>1D-CNN (Stage 1): training curves for comparison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28</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Results: Classifier &amp; SMOTE Sweep</a:t>
            </a:r>
          </a:p>
        </p:txBody>
      </p:sp>
      <p:graphicFrame>
        <p:nvGraphicFramePr>
          <p:cNvPr id="10" name="Table 9"/>
          <p:cNvGraphicFramePr>
            <a:graphicFrameLocks noGrp="1"/>
          </p:cNvGraphicFramePr>
          <p:nvPr/>
        </p:nvGraphicFramePr>
        <p:xfrm>
          <a:off x="1057300" y="1650000"/>
          <a:ext cx="16173394" cy="6162000"/>
        </p:xfrm>
        <a:graphic>
          <a:graphicData uri="http://schemas.openxmlformats.org/drawingml/2006/table">
            <a:tbl>
              <a:tblPr>
                <a:tableStyleId>{5940675A-B579-460E-94D1-54222C63F5DA}</a:tableStyleId>
              </a:tblPr>
              <a:tblGrid>
                <a:gridCol w="2860601">
                  <a:extLst>
                    <a:ext uri="{9D8B030D-6E8A-4147-A177-3AD203B41FA5}">
                      <a16:colId xmlns:a16="http://schemas.microsoft.com/office/drawing/2014/main" val="20000"/>
                    </a:ext>
                  </a:extLst>
                </a:gridCol>
                <a:gridCol w="2420508">
                  <a:extLst>
                    <a:ext uri="{9D8B030D-6E8A-4147-A177-3AD203B41FA5}">
                      <a16:colId xmlns:a16="http://schemas.microsoft.com/office/drawing/2014/main" val="20001"/>
                    </a:ext>
                  </a:extLst>
                </a:gridCol>
                <a:gridCol w="1210254">
                  <a:extLst>
                    <a:ext uri="{9D8B030D-6E8A-4147-A177-3AD203B41FA5}">
                      <a16:colId xmlns:a16="http://schemas.microsoft.com/office/drawing/2014/main" val="20002"/>
                    </a:ext>
                  </a:extLst>
                </a:gridCol>
                <a:gridCol w="1650346">
                  <a:extLst>
                    <a:ext uri="{9D8B030D-6E8A-4147-A177-3AD203B41FA5}">
                      <a16:colId xmlns:a16="http://schemas.microsoft.com/office/drawing/2014/main" val="20003"/>
                    </a:ext>
                  </a:extLst>
                </a:gridCol>
                <a:gridCol w="1540323">
                  <a:extLst>
                    <a:ext uri="{9D8B030D-6E8A-4147-A177-3AD203B41FA5}">
                      <a16:colId xmlns:a16="http://schemas.microsoft.com/office/drawing/2014/main" val="20004"/>
                    </a:ext>
                  </a:extLst>
                </a:gridCol>
                <a:gridCol w="1540323">
                  <a:extLst>
                    <a:ext uri="{9D8B030D-6E8A-4147-A177-3AD203B41FA5}">
                      <a16:colId xmlns:a16="http://schemas.microsoft.com/office/drawing/2014/main" val="20005"/>
                    </a:ext>
                  </a:extLst>
                </a:gridCol>
                <a:gridCol w="1760370">
                  <a:extLst>
                    <a:ext uri="{9D8B030D-6E8A-4147-A177-3AD203B41FA5}">
                      <a16:colId xmlns:a16="http://schemas.microsoft.com/office/drawing/2014/main" val="20006"/>
                    </a:ext>
                  </a:extLst>
                </a:gridCol>
                <a:gridCol w="1540323">
                  <a:extLst>
                    <a:ext uri="{9D8B030D-6E8A-4147-A177-3AD203B41FA5}">
                      <a16:colId xmlns:a16="http://schemas.microsoft.com/office/drawing/2014/main" val="20007"/>
                    </a:ext>
                  </a:extLst>
                </a:gridCol>
                <a:gridCol w="1650346">
                  <a:extLst>
                    <a:ext uri="{9D8B030D-6E8A-4147-A177-3AD203B41FA5}">
                      <a16:colId xmlns:a16="http://schemas.microsoft.com/office/drawing/2014/main" val="20008"/>
                    </a:ext>
                  </a:extLst>
                </a:gridCol>
              </a:tblGrid>
              <a:tr h="600000">
                <a:tc>
                  <a:txBody>
                    <a:bodyPr/>
                    <a:lstStyle/>
                    <a:p>
                      <a:pPr algn="ctr"/>
                      <a:r>
                        <a:rPr sz="2200" b="1" i="0">
                          <a:solidFill>
                            <a:srgbClr val="1A1A1A"/>
                          </a:solidFill>
                          <a:latin typeface="Times New Roman"/>
                          <a:cs typeface="Times New Roman"/>
                        </a:rPr>
                        <a:t>Classifier</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200" b="1" i="0">
                          <a:solidFill>
                            <a:srgbClr val="1A1A1A"/>
                          </a:solidFill>
                          <a:latin typeface="Times New Roman"/>
                          <a:cs typeface="Times New Roman"/>
                        </a:rPr>
                        <a:t>SMOTE FA/FBTC</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200" b="1" i="0">
                          <a:solidFill>
                            <a:srgbClr val="1A1A1A"/>
                          </a:solidFill>
                          <a:latin typeface="Times New Roman"/>
                          <a:cs typeface="Times New Roman"/>
                        </a:rPr>
                        <a:t>Acc.</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200" b="1" i="0">
                          <a:solidFill>
                            <a:srgbClr val="1A1A1A"/>
                          </a:solidFill>
                          <a:latin typeface="Times New Roman"/>
                          <a:cs typeface="Times New Roman"/>
                        </a:rPr>
                        <a:t>Macro-F1</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200" b="1" i="0">
                          <a:solidFill>
                            <a:srgbClr val="1A1A1A"/>
                          </a:solidFill>
                          <a:latin typeface="Times New Roman"/>
                          <a:cs typeface="Times New Roman"/>
                        </a:rPr>
                        <a:t>Rec. FA</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200" b="1" i="0">
                          <a:solidFill>
                            <a:srgbClr val="1A1A1A"/>
                          </a:solidFill>
                          <a:latin typeface="Times New Roman"/>
                          <a:cs typeface="Times New Roman"/>
                        </a:rPr>
                        <a:t>Rec. FIA</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200" b="1" i="0">
                          <a:solidFill>
                            <a:srgbClr val="1A1A1A"/>
                          </a:solidFill>
                          <a:latin typeface="Times New Roman"/>
                          <a:cs typeface="Times New Roman"/>
                        </a:rPr>
                        <a:t>Rec. FBTC</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200" b="1" i="0">
                          <a:solidFill>
                            <a:srgbClr val="1A1A1A"/>
                          </a:solidFill>
                          <a:latin typeface="Times New Roman"/>
                          <a:cs typeface="Times New Roman"/>
                        </a:rPr>
                        <a:t>Δ FA</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200" b="1" i="0">
                          <a:solidFill>
                            <a:srgbClr val="1A1A1A"/>
                          </a:solidFill>
                          <a:latin typeface="Times New Roman"/>
                          <a:cs typeface="Times New Roman"/>
                        </a:rPr>
                        <a:t>Δ FBTC</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extLst>
                  <a:ext uri="{0D108BD9-81ED-4DB2-BD59-A6C34878D82A}">
                    <a16:rowId xmlns:a16="http://schemas.microsoft.com/office/drawing/2014/main" val="10000"/>
                  </a:ext>
                </a:extLst>
              </a:tr>
              <a:tr h="600000">
                <a:tc>
                  <a:txBody>
                    <a:bodyPr/>
                    <a:lstStyle/>
                    <a:p>
                      <a:pPr algn="l"/>
                      <a:r>
                        <a:rPr sz="2200" b="0" i="0">
                          <a:solidFill>
                            <a:srgbClr val="1A1A1A"/>
                          </a:solidFill>
                          <a:latin typeface="Times New Roman"/>
                          <a:cs typeface="Times New Roman"/>
                        </a:rPr>
                        <a:t>MLP</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3× / 3×</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0.905</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0.534</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0.000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0.966</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0.486</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0.000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+0.486</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1"/>
                  </a:ext>
                </a:extLst>
              </a:tr>
              <a:tr h="600000">
                <a:tc>
                  <a:txBody>
                    <a:bodyPr/>
                    <a:lstStyle/>
                    <a:p>
                      <a:pPr algn="l"/>
                      <a:r>
                        <a:rPr sz="2200" b="0" i="0">
                          <a:solidFill>
                            <a:srgbClr val="1A1A1A"/>
                          </a:solidFill>
                          <a:latin typeface="Times New Roman"/>
                          <a:cs typeface="Times New Roman"/>
                        </a:rPr>
                        <a:t>MLP</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3× / 5×</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0.907</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0.535</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0.000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0.968</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0.486</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0.000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+0.131</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2"/>
                  </a:ext>
                </a:extLst>
              </a:tr>
              <a:tr h="600000">
                <a:tc>
                  <a:txBody>
                    <a:bodyPr/>
                    <a:lstStyle/>
                    <a:p>
                      <a:pPr algn="l"/>
                      <a:r>
                        <a:rPr sz="2200" b="0" i="0">
                          <a:solidFill>
                            <a:srgbClr val="1A1A1A"/>
                          </a:solidFill>
                          <a:latin typeface="Times New Roman"/>
                          <a:cs typeface="Times New Roman"/>
                        </a:rPr>
                        <a:t>MLP</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5× / 5×</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0.905</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0.534</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0.000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0.966</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0.486</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0.000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+0.086</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3"/>
                  </a:ext>
                </a:extLst>
              </a:tr>
              <a:tr h="600000">
                <a:tc>
                  <a:txBody>
                    <a:bodyPr/>
                    <a:lstStyle/>
                    <a:p>
                      <a:pPr algn="l"/>
                      <a:r>
                        <a:rPr sz="2200" b="0" i="0">
                          <a:solidFill>
                            <a:srgbClr val="1A1A1A"/>
                          </a:solidFill>
                          <a:latin typeface="Times New Roman"/>
                          <a:cs typeface="Times New Roman"/>
                        </a:rPr>
                        <a:t>Random Forest</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3× / 3×</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0.891</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0.497</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0.000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0.958</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0.378</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−0.467</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−0.199</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4"/>
                  </a:ext>
                </a:extLst>
              </a:tr>
              <a:tr h="600000">
                <a:tc>
                  <a:txBody>
                    <a:bodyPr/>
                    <a:lstStyle/>
                    <a:p>
                      <a:pPr algn="l"/>
                      <a:r>
                        <a:rPr sz="2200" b="0" i="0">
                          <a:solidFill>
                            <a:srgbClr val="1A1A1A"/>
                          </a:solidFill>
                          <a:latin typeface="Times New Roman"/>
                          <a:cs typeface="Times New Roman"/>
                        </a:rPr>
                        <a:t>Random Forest</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3× / 5×</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0.891</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0.497</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0.000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0.958</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0.378</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−0.489</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−0.199</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5"/>
                  </a:ext>
                </a:extLst>
              </a:tr>
              <a:tr h="600000">
                <a:tc>
                  <a:txBody>
                    <a:bodyPr/>
                    <a:lstStyle/>
                    <a:p>
                      <a:pPr algn="l"/>
                      <a:r>
                        <a:rPr sz="2200" b="0" i="0">
                          <a:solidFill>
                            <a:srgbClr val="1A1A1A"/>
                          </a:solidFill>
                          <a:latin typeface="Times New Roman"/>
                          <a:cs typeface="Times New Roman"/>
                        </a:rPr>
                        <a:t>Random Forest</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5× / 5×</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0.896</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0.507</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0.000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0.962</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0.405</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−0.533</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−0.172</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6"/>
                  </a:ext>
                </a:extLst>
              </a:tr>
              <a:tr h="600000">
                <a:tc>
                  <a:txBody>
                    <a:bodyPr/>
                    <a:lstStyle/>
                    <a:p>
                      <a:pPr algn="l"/>
                      <a:r>
                        <a:rPr sz="2200" b="0" i="0">
                          <a:solidFill>
                            <a:srgbClr val="1A1A1A"/>
                          </a:solidFill>
                          <a:latin typeface="Times New Roman"/>
                          <a:cs typeface="Times New Roman"/>
                        </a:rPr>
                        <a:t>HistGB</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3× / 3×</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0.905</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0.529</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0.062</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0.970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0.405</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−0.049</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+0.028</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7"/>
                  </a:ext>
                </a:extLst>
              </a:tr>
              <a:tr h="600000">
                <a:tc>
                  <a:txBody>
                    <a:bodyPr/>
                    <a:lstStyle/>
                    <a:p>
                      <a:pPr algn="l"/>
                      <a:r>
                        <a:rPr sz="2200" b="1" i="0">
                          <a:solidFill>
                            <a:srgbClr val="1A1A1A"/>
                          </a:solidFill>
                          <a:latin typeface="Times New Roman"/>
                          <a:cs typeface="Times New Roman"/>
                        </a:rPr>
                        <a:t>HistGB (Winner)</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BE4E4"/>
                    </a:solidFill>
                  </a:tcPr>
                </a:tc>
                <a:tc>
                  <a:txBody>
                    <a:bodyPr/>
                    <a:lstStyle/>
                    <a:p>
                      <a:pPr algn="ctr"/>
                      <a:r>
                        <a:rPr sz="2200" b="1" i="0">
                          <a:solidFill>
                            <a:srgbClr val="1A1A1A"/>
                          </a:solidFill>
                          <a:latin typeface="Times New Roman"/>
                          <a:cs typeface="Times New Roman"/>
                        </a:rPr>
                        <a:t>3× / 5×</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BE4E4"/>
                    </a:solidFill>
                  </a:tcPr>
                </a:tc>
                <a:tc>
                  <a:txBody>
                    <a:bodyPr/>
                    <a:lstStyle/>
                    <a:p>
                      <a:pPr algn="ctr"/>
                      <a:r>
                        <a:rPr sz="2200" b="1" i="0">
                          <a:solidFill>
                            <a:srgbClr val="1A1A1A"/>
                          </a:solidFill>
                          <a:latin typeface="Times New Roman"/>
                          <a:cs typeface="Times New Roman"/>
                        </a:rPr>
                        <a:t>0.911</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BE4E4"/>
                    </a:solidFill>
                  </a:tcPr>
                </a:tc>
                <a:tc>
                  <a:txBody>
                    <a:bodyPr/>
                    <a:lstStyle/>
                    <a:p>
                      <a:pPr algn="ctr"/>
                      <a:r>
                        <a:rPr sz="2200" b="1" i="0">
                          <a:solidFill>
                            <a:srgbClr val="1A1A1A"/>
                          </a:solidFill>
                          <a:latin typeface="Times New Roman"/>
                          <a:cs typeface="Times New Roman"/>
                        </a:rPr>
                        <a:t>0.612</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BE4E4"/>
                    </a:solidFill>
                  </a:tcPr>
                </a:tc>
                <a:tc>
                  <a:txBody>
                    <a:bodyPr/>
                    <a:lstStyle/>
                    <a:p>
                      <a:pPr algn="ctr"/>
                      <a:r>
                        <a:rPr sz="2200" b="1" i="0" dirty="0">
                          <a:solidFill>
                            <a:srgbClr val="1A1A1A"/>
                          </a:solidFill>
                          <a:latin typeface="Times New Roman"/>
                          <a:cs typeface="Times New Roman"/>
                        </a:rPr>
                        <a:t>0.250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BE4E4"/>
                    </a:solidFill>
                  </a:tcPr>
                </a:tc>
                <a:tc>
                  <a:txBody>
                    <a:bodyPr/>
                    <a:lstStyle/>
                    <a:p>
                      <a:pPr algn="ctr"/>
                      <a:r>
                        <a:rPr sz="2200" b="1" i="0" dirty="0">
                          <a:solidFill>
                            <a:srgbClr val="1A1A1A"/>
                          </a:solidFill>
                          <a:latin typeface="Times New Roman"/>
                          <a:cs typeface="Times New Roman"/>
                        </a:rPr>
                        <a:t>0.962</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BE4E4"/>
                    </a:solidFill>
                  </a:tcPr>
                </a:tc>
                <a:tc>
                  <a:txBody>
                    <a:bodyPr/>
                    <a:lstStyle/>
                    <a:p>
                      <a:pPr algn="ctr"/>
                      <a:r>
                        <a:rPr sz="2200" b="1" i="0">
                          <a:solidFill>
                            <a:srgbClr val="1A1A1A"/>
                          </a:solidFill>
                          <a:latin typeface="Times New Roman"/>
                          <a:cs typeface="Times New Roman"/>
                        </a:rPr>
                        <a:t>0.514</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BE4E4"/>
                    </a:solidFill>
                  </a:tcPr>
                </a:tc>
                <a:tc>
                  <a:txBody>
                    <a:bodyPr/>
                    <a:lstStyle/>
                    <a:p>
                      <a:pPr algn="ctr"/>
                      <a:r>
                        <a:rPr sz="2200" b="1" i="0">
                          <a:solidFill>
                            <a:srgbClr val="1A1A1A"/>
                          </a:solidFill>
                          <a:latin typeface="Times New Roman"/>
                          <a:cs typeface="Times New Roman"/>
                        </a:rPr>
                        <a:t>+0.117</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BE4E4"/>
                    </a:solidFill>
                  </a:tcPr>
                </a:tc>
                <a:tc>
                  <a:txBody>
                    <a:bodyPr/>
                    <a:lstStyle/>
                    <a:p>
                      <a:pPr algn="ctr"/>
                      <a:r>
                        <a:rPr sz="2200" b="1" i="0">
                          <a:solidFill>
                            <a:srgbClr val="1A1A1A"/>
                          </a:solidFill>
                          <a:latin typeface="Times New Roman"/>
                          <a:cs typeface="Times New Roman"/>
                        </a:rPr>
                        <a:t>+0.069</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BE4E4"/>
                    </a:solidFill>
                  </a:tcPr>
                </a:tc>
                <a:extLst>
                  <a:ext uri="{0D108BD9-81ED-4DB2-BD59-A6C34878D82A}">
                    <a16:rowId xmlns:a16="http://schemas.microsoft.com/office/drawing/2014/main" val="10008"/>
                  </a:ext>
                </a:extLst>
              </a:tr>
              <a:tr h="600000">
                <a:tc>
                  <a:txBody>
                    <a:bodyPr/>
                    <a:lstStyle/>
                    <a:p>
                      <a:pPr algn="l"/>
                      <a:r>
                        <a:rPr sz="2200" b="0" i="0">
                          <a:solidFill>
                            <a:srgbClr val="1A1A1A"/>
                          </a:solidFill>
                          <a:latin typeface="Times New Roman"/>
                          <a:cs typeface="Times New Roman"/>
                        </a:rPr>
                        <a:t>HistGB</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5× / 5×</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0.913</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0.596</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0.125</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0.962</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0.595</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−0.008</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dirty="0">
                          <a:solidFill>
                            <a:srgbClr val="1A1A1A"/>
                          </a:solidFill>
                          <a:latin typeface="Times New Roman"/>
                          <a:cs typeface="Times New Roman"/>
                        </a:rPr>
                        <a:t>+0.172</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9"/>
                  </a:ext>
                </a:extLst>
              </a:tr>
            </a:tbl>
          </a:graphicData>
        </a:graphic>
      </p:graphicFrame>
      <p:sp>
        <p:nvSpPr>
          <p:cNvPr id="11" name="TextBox 10"/>
          <p:cNvSpPr txBox="1"/>
          <p:nvPr/>
        </p:nvSpPr>
        <p:spPr>
          <a:xfrm>
            <a:off x="1257300" y="7900000"/>
            <a:ext cx="15773400" cy="7400000"/>
          </a:xfrm>
          <a:prstGeom prst="rect">
            <a:avLst/>
          </a:prstGeom>
          <a:noFill/>
        </p:spPr>
        <p:txBody>
          <a:bodyPr wrap="square">
            <a:spAutoFit/>
          </a:bodyPr>
          <a:lstStyle/>
          <a:p>
            <a:pPr marL="571500" indent="-571500">
              <a:lnSpc>
                <a:spcPct val="105000"/>
              </a:lnSpc>
              <a:spcAft>
                <a:spcPts val="600"/>
              </a:spcAft>
              <a:buFont typeface="Arial"/>
              <a:buChar char="•"/>
            </a:pPr>
            <a:r>
              <a:rPr sz="2600" b="0" i="0">
                <a:solidFill>
                  <a:srgbClr val="1A1A1A"/>
                </a:solidFill>
                <a:latin typeface="Times New Roman"/>
                <a:cs typeface="Times New Roman"/>
              </a:rPr>
              <a:t>MLP and Random Forest never recover Focal Aware; Random Forest shows negative control gaps (patient-identity shortcut).</a:t>
            </a:r>
          </a:p>
          <a:p>
            <a:pPr marL="571500" indent="-571500">
              <a:lnSpc>
                <a:spcPct val="105000"/>
              </a:lnSpc>
              <a:spcAft>
                <a:spcPts val="600"/>
              </a:spcAft>
              <a:buFont typeface="Arial"/>
              <a:buChar char="•"/>
            </a:pPr>
            <a:r>
              <a:rPr sz="2600" b="0" i="0">
                <a:solidFill>
                  <a:srgbClr val="1A1A1A"/>
                </a:solidFill>
                <a:latin typeface="Times New Roman"/>
                <a:cs typeface="Times New Roman"/>
              </a:rPr>
              <a:t>HistGB 3×/5× is the only configuration meeting every selection criterion.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29</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5400" b="1" i="0">
                <a:solidFill>
                  <a:srgbClr val="1A1A1A"/>
                </a:solidFill>
                <a:latin typeface="Times New Roman"/>
                <a:cs typeface="Times New Roman"/>
              </a:rPr>
              <a:t>Confusion Matrices: 1D-CNN Baseline (LOSO)</a:t>
            </a:r>
          </a:p>
        </p:txBody>
      </p:sp>
      <p:pic>
        <p:nvPicPr>
          <p:cNvPr id="10" name="Picture 9" descr="loso_confusion_matrices.png"/>
          <p:cNvPicPr>
            <a:picLocks noChangeAspect="1"/>
          </p:cNvPicPr>
          <p:nvPr/>
        </p:nvPicPr>
        <p:blipFill>
          <a:blip r:embed="rId3"/>
          <a:stretch>
            <a:fillRect/>
          </a:stretch>
        </p:blipFill>
        <p:spPr>
          <a:xfrm>
            <a:off x="2968429" y="1450000"/>
            <a:ext cx="12351142" cy="5299999"/>
          </a:xfrm>
          <a:prstGeom prst="rect">
            <a:avLst/>
          </a:prstGeom>
        </p:spPr>
      </p:pic>
      <p:sp>
        <p:nvSpPr>
          <p:cNvPr id="11" name="TextBox 10"/>
          <p:cNvSpPr txBox="1"/>
          <p:nvPr/>
        </p:nvSpPr>
        <p:spPr>
          <a:xfrm>
            <a:off x="1257300" y="6800000"/>
            <a:ext cx="15773400" cy="450000"/>
          </a:xfrm>
          <a:prstGeom prst="rect">
            <a:avLst/>
          </a:prstGeom>
          <a:noFill/>
        </p:spPr>
        <p:txBody>
          <a:bodyPr wrap="square">
            <a:spAutoFit/>
          </a:bodyPr>
          <a:lstStyle/>
          <a:p>
            <a:pPr algn="ctr"/>
            <a:r>
              <a:rPr sz="2400" b="0" i="1">
                <a:solidFill>
                  <a:srgbClr val="1A1A1A"/>
                </a:solidFill>
                <a:latin typeface="Times New Roman"/>
                <a:cs typeface="Times New Roman"/>
              </a:rPr>
              <a:t>Left: real seizure windows     Right: adversarial interictal control</a:t>
            </a:r>
          </a:p>
        </p:txBody>
      </p:sp>
      <p:sp>
        <p:nvSpPr>
          <p:cNvPr id="12" name="TextBox 11"/>
          <p:cNvSpPr txBox="1"/>
          <p:nvPr/>
        </p:nvSpPr>
        <p:spPr>
          <a:xfrm>
            <a:off x="1257300" y="7350000"/>
            <a:ext cx="15773400" cy="7400000"/>
          </a:xfrm>
          <a:prstGeom prst="rect">
            <a:avLst/>
          </a:prstGeom>
          <a:noFill/>
        </p:spPr>
        <p:txBody>
          <a:bodyPr wrap="square">
            <a:spAutoFit/>
          </a:bodyPr>
          <a:lstStyle/>
          <a:p>
            <a:pPr marL="571500" indent="-571500">
              <a:lnSpc>
                <a:spcPct val="105000"/>
              </a:lnSpc>
              <a:spcAft>
                <a:spcPts val="600"/>
              </a:spcAft>
              <a:buFont typeface="Arial"/>
              <a:buChar char="•"/>
            </a:pPr>
            <a:r>
              <a:rPr sz="2800" b="0" i="0">
                <a:solidFill>
                  <a:srgbClr val="1A1A1A"/>
                </a:solidFill>
                <a:latin typeface="Times New Roman"/>
                <a:cs typeface="Times New Roman"/>
              </a:rPr>
              <a:t>Test windows: 1,824 across 13 held-out patients; accuracy 0.897, macro-F1 0.315.</a:t>
            </a:r>
          </a:p>
          <a:p>
            <a:pPr marL="571500" indent="-571500">
              <a:lnSpc>
                <a:spcPct val="105000"/>
              </a:lnSpc>
              <a:spcAft>
                <a:spcPts val="600"/>
              </a:spcAft>
              <a:buFont typeface="Arial"/>
              <a:buChar char="•"/>
            </a:pPr>
            <a:r>
              <a:rPr sz="2800" b="0" i="0">
                <a:solidFill>
                  <a:srgbClr val="1A1A1A"/>
                </a:solidFill>
                <a:latin typeface="Times New Roman"/>
                <a:cs typeface="Times New Roman"/>
              </a:rPr>
              <a:t>Only the majority class is recognised: FA recall 0 / 45, FBTC recall 0 / 124.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30</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5400" b="1" i="0">
                <a:solidFill>
                  <a:srgbClr val="1A1A1A"/>
                </a:solidFill>
                <a:latin typeface="Times New Roman"/>
                <a:cs typeface="Times New Roman"/>
              </a:rPr>
              <a:t>Confusion Matrices: Fine-tuned CRNN (v2)</a:t>
            </a:r>
          </a:p>
        </p:txBody>
      </p:sp>
      <p:pic>
        <p:nvPicPr>
          <p:cNvPr id="10" name="Picture 9" descr="v2_confusion_matrices.png"/>
          <p:cNvPicPr>
            <a:picLocks noChangeAspect="1"/>
          </p:cNvPicPr>
          <p:nvPr/>
        </p:nvPicPr>
        <p:blipFill>
          <a:blip r:embed="rId3"/>
          <a:stretch>
            <a:fillRect/>
          </a:stretch>
        </p:blipFill>
        <p:spPr>
          <a:xfrm>
            <a:off x="2847339" y="1450000"/>
            <a:ext cx="12593321" cy="5299999"/>
          </a:xfrm>
          <a:prstGeom prst="rect">
            <a:avLst/>
          </a:prstGeom>
        </p:spPr>
      </p:pic>
      <p:sp>
        <p:nvSpPr>
          <p:cNvPr id="11" name="TextBox 10"/>
          <p:cNvSpPr txBox="1"/>
          <p:nvPr/>
        </p:nvSpPr>
        <p:spPr>
          <a:xfrm>
            <a:off x="1257300" y="6800000"/>
            <a:ext cx="15773400" cy="450000"/>
          </a:xfrm>
          <a:prstGeom prst="rect">
            <a:avLst/>
          </a:prstGeom>
          <a:noFill/>
        </p:spPr>
        <p:txBody>
          <a:bodyPr wrap="square">
            <a:spAutoFit/>
          </a:bodyPr>
          <a:lstStyle/>
          <a:p>
            <a:pPr algn="ctr"/>
            <a:r>
              <a:rPr sz="2400" b="0" i="1">
                <a:solidFill>
                  <a:srgbClr val="1A1A1A"/>
                </a:solidFill>
                <a:latin typeface="Times New Roman"/>
                <a:cs typeface="Times New Roman"/>
              </a:rPr>
              <a:t>Left: real seizure windows     Right: adversarial interictal control</a:t>
            </a:r>
          </a:p>
        </p:txBody>
      </p:sp>
      <p:sp>
        <p:nvSpPr>
          <p:cNvPr id="12" name="TextBox 11"/>
          <p:cNvSpPr txBox="1"/>
          <p:nvPr/>
        </p:nvSpPr>
        <p:spPr>
          <a:xfrm>
            <a:off x="1257300" y="7350000"/>
            <a:ext cx="15773400" cy="7400000"/>
          </a:xfrm>
          <a:prstGeom prst="rect">
            <a:avLst/>
          </a:prstGeom>
          <a:noFill/>
        </p:spPr>
        <p:txBody>
          <a:bodyPr wrap="square">
            <a:spAutoFit/>
          </a:bodyPr>
          <a:lstStyle/>
          <a:p>
            <a:pPr marL="571500" indent="-571500">
              <a:lnSpc>
                <a:spcPct val="105000"/>
              </a:lnSpc>
              <a:spcAft>
                <a:spcPts val="600"/>
              </a:spcAft>
              <a:buFont typeface="Arial"/>
              <a:buChar char="•"/>
            </a:pPr>
            <a:r>
              <a:rPr sz="2800" b="0" i="0">
                <a:solidFill>
                  <a:srgbClr val="1A1A1A"/>
                </a:solidFill>
                <a:latin typeface="Times New Roman"/>
                <a:cs typeface="Times New Roman"/>
              </a:rPr>
              <a:t>Test windows: 550; accuracy 0.907, macro-F1 0.526.</a:t>
            </a:r>
          </a:p>
          <a:p>
            <a:pPr marL="571500" indent="-571500">
              <a:lnSpc>
                <a:spcPct val="105000"/>
              </a:lnSpc>
              <a:spcAft>
                <a:spcPts val="600"/>
              </a:spcAft>
              <a:buFont typeface="Arial"/>
              <a:buChar char="•"/>
            </a:pPr>
            <a:r>
              <a:rPr sz="2800" b="0" i="0">
                <a:solidFill>
                  <a:srgbClr val="1A1A1A"/>
                </a:solidFill>
                <a:latin typeface="Times New Roman"/>
                <a:cs typeface="Times New Roman"/>
              </a:rPr>
              <a:t>FBTC recall rises to 17 / 37 (45.9 %), but Focal Aware is still missed (0 / 16).</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31</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5400" b="1" i="0">
                <a:solidFill>
                  <a:srgbClr val="1A1A1A"/>
                </a:solidFill>
                <a:latin typeface="Times New Roman"/>
                <a:cs typeface="Times New Roman"/>
              </a:rPr>
              <a:t>Confusion Matrices: EEG-HDC v4 (Proposed)</a:t>
            </a:r>
          </a:p>
        </p:txBody>
      </p:sp>
      <p:pic>
        <p:nvPicPr>
          <p:cNvPr id="10" name="Picture 9" descr="v4_confusion_matrices (1).png"/>
          <p:cNvPicPr>
            <a:picLocks noChangeAspect="1"/>
          </p:cNvPicPr>
          <p:nvPr/>
        </p:nvPicPr>
        <p:blipFill>
          <a:blip r:embed="rId3"/>
          <a:stretch>
            <a:fillRect/>
          </a:stretch>
        </p:blipFill>
        <p:spPr>
          <a:xfrm>
            <a:off x="2973562" y="1450000"/>
            <a:ext cx="12340875" cy="5300000"/>
          </a:xfrm>
          <a:prstGeom prst="rect">
            <a:avLst/>
          </a:prstGeom>
        </p:spPr>
      </p:pic>
      <p:sp>
        <p:nvSpPr>
          <p:cNvPr id="11" name="TextBox 10"/>
          <p:cNvSpPr txBox="1"/>
          <p:nvPr/>
        </p:nvSpPr>
        <p:spPr>
          <a:xfrm>
            <a:off x="1257300" y="6800000"/>
            <a:ext cx="15773400" cy="450000"/>
          </a:xfrm>
          <a:prstGeom prst="rect">
            <a:avLst/>
          </a:prstGeom>
          <a:noFill/>
        </p:spPr>
        <p:txBody>
          <a:bodyPr wrap="square">
            <a:spAutoFit/>
          </a:bodyPr>
          <a:lstStyle/>
          <a:p>
            <a:pPr algn="ctr"/>
            <a:r>
              <a:rPr sz="2400" b="0" i="1">
                <a:solidFill>
                  <a:srgbClr val="1A1A1A"/>
                </a:solidFill>
                <a:latin typeface="Times New Roman"/>
                <a:cs typeface="Times New Roman"/>
              </a:rPr>
              <a:t>Left: real seizure windows     Right: adversarial interictal control</a:t>
            </a:r>
          </a:p>
        </p:txBody>
      </p:sp>
      <p:sp>
        <p:nvSpPr>
          <p:cNvPr id="12" name="TextBox 11"/>
          <p:cNvSpPr txBox="1"/>
          <p:nvPr/>
        </p:nvSpPr>
        <p:spPr>
          <a:xfrm>
            <a:off x="1257300" y="7350000"/>
            <a:ext cx="15773400" cy="7400000"/>
          </a:xfrm>
          <a:prstGeom prst="rect">
            <a:avLst/>
          </a:prstGeom>
          <a:noFill/>
        </p:spPr>
        <p:txBody>
          <a:bodyPr wrap="square">
            <a:spAutoFit/>
          </a:bodyPr>
          <a:lstStyle/>
          <a:p>
            <a:pPr marL="571500" indent="-571500">
              <a:lnSpc>
                <a:spcPct val="105000"/>
              </a:lnSpc>
              <a:spcAft>
                <a:spcPts val="600"/>
              </a:spcAft>
              <a:buFont typeface="Arial"/>
              <a:buChar char="•"/>
            </a:pPr>
            <a:r>
              <a:rPr sz="2800" b="0" i="0">
                <a:solidFill>
                  <a:srgbClr val="1A1A1A"/>
                </a:solidFill>
                <a:latin typeface="Times New Roman"/>
                <a:cs typeface="Times New Roman"/>
              </a:rPr>
              <a:t>Test windows: 550; accuracy 0.911, macro-F1 0.612.</a:t>
            </a:r>
          </a:p>
          <a:p>
            <a:pPr marL="571500" indent="-571500">
              <a:lnSpc>
                <a:spcPct val="105000"/>
              </a:lnSpc>
              <a:spcAft>
                <a:spcPts val="600"/>
              </a:spcAft>
              <a:buFont typeface="Arial"/>
              <a:buChar char="•"/>
            </a:pPr>
            <a:r>
              <a:rPr sz="2800" b="0" i="0">
                <a:solidFill>
                  <a:srgbClr val="1A1A1A"/>
                </a:solidFill>
                <a:latin typeface="Times New Roman"/>
                <a:cs typeface="Times New Roman"/>
              </a:rPr>
              <a:t>Recall: FA 4 / 16 (25.0 %), FIA 478 / 497 (96.2 %), FBTC 19 / 37 (51.4 %) – the first model to recognise all three subtypes.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32</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Comparison: Per-Class Recall</a:t>
            </a:r>
          </a:p>
        </p:txBody>
      </p:sp>
      <p:graphicFrame>
        <p:nvGraphicFramePr>
          <p:cNvPr id="10" name="Chart 9"/>
          <p:cNvGraphicFramePr>
            <a:graphicFrameLocks noGrp="1"/>
          </p:cNvGraphicFramePr>
          <p:nvPr/>
        </p:nvGraphicFramePr>
        <p:xfrm>
          <a:off x="1257300" y="1550000"/>
          <a:ext cx="15773400" cy="630000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1257300" y="8000000"/>
            <a:ext cx="15773400" cy="7400000"/>
          </a:xfrm>
          <a:prstGeom prst="rect">
            <a:avLst/>
          </a:prstGeom>
          <a:noFill/>
        </p:spPr>
        <p:txBody>
          <a:bodyPr wrap="square">
            <a:spAutoFit/>
          </a:bodyPr>
          <a:lstStyle/>
          <a:p>
            <a:pPr marL="571500" indent="-571500">
              <a:lnSpc>
                <a:spcPct val="105000"/>
              </a:lnSpc>
              <a:spcAft>
                <a:spcPts val="600"/>
              </a:spcAft>
              <a:buFont typeface="Arial"/>
              <a:buChar char="•"/>
            </a:pPr>
            <a:r>
              <a:rPr sz="2800" b="0" i="0" dirty="0">
                <a:solidFill>
                  <a:srgbClr val="1A1A1A"/>
                </a:solidFill>
                <a:latin typeface="Times New Roman"/>
                <a:cs typeface="Times New Roman"/>
              </a:rPr>
              <a:t>v4 is the only model with non-zero recall on every subtype, at the same overall accuracy (~0.91).</a:t>
            </a:r>
          </a:p>
          <a:p>
            <a:pPr marL="571500" indent="-571500">
              <a:lnSpc>
                <a:spcPct val="105000"/>
              </a:lnSpc>
              <a:spcAft>
                <a:spcPts val="600"/>
              </a:spcAft>
              <a:buFont typeface="Arial"/>
              <a:buChar char="•"/>
            </a:pPr>
            <a:r>
              <a:rPr sz="2800" b="0" i="0" dirty="0">
                <a:solidFill>
                  <a:srgbClr val="1A1A1A"/>
                </a:solidFill>
                <a:latin typeface="Times New Roman"/>
                <a:cs typeface="Times New Roman"/>
              </a:rPr>
              <a:t>Gains on minority classes cost under 3 points of FIA recall.</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33</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Comparison: Overall Metrics</a:t>
            </a:r>
          </a:p>
        </p:txBody>
      </p:sp>
      <p:graphicFrame>
        <p:nvGraphicFramePr>
          <p:cNvPr id="10" name="Table 9"/>
          <p:cNvGraphicFramePr>
            <a:graphicFrameLocks noGrp="1"/>
          </p:cNvGraphicFramePr>
          <p:nvPr/>
        </p:nvGraphicFramePr>
        <p:xfrm>
          <a:off x="1257300" y="1750000"/>
          <a:ext cx="15773397" cy="3600000"/>
        </p:xfrm>
        <a:graphic>
          <a:graphicData uri="http://schemas.openxmlformats.org/drawingml/2006/table">
            <a:tbl>
              <a:tblPr>
                <a:tableStyleId>{5940675A-B579-460E-94D1-54222C63F5DA}</a:tableStyleId>
              </a:tblPr>
              <a:tblGrid>
                <a:gridCol w="4056017">
                  <a:extLst>
                    <a:ext uri="{9D8B030D-6E8A-4147-A177-3AD203B41FA5}">
                      <a16:colId xmlns:a16="http://schemas.microsoft.com/office/drawing/2014/main" val="20000"/>
                    </a:ext>
                  </a:extLst>
                </a:gridCol>
                <a:gridCol w="1802674">
                  <a:extLst>
                    <a:ext uri="{9D8B030D-6E8A-4147-A177-3AD203B41FA5}">
                      <a16:colId xmlns:a16="http://schemas.microsoft.com/office/drawing/2014/main" val="20001"/>
                    </a:ext>
                  </a:extLst>
                </a:gridCol>
                <a:gridCol w="2253342">
                  <a:extLst>
                    <a:ext uri="{9D8B030D-6E8A-4147-A177-3AD203B41FA5}">
                      <a16:colId xmlns:a16="http://schemas.microsoft.com/office/drawing/2014/main" val="20002"/>
                    </a:ext>
                  </a:extLst>
                </a:gridCol>
                <a:gridCol w="2028008">
                  <a:extLst>
                    <a:ext uri="{9D8B030D-6E8A-4147-A177-3AD203B41FA5}">
                      <a16:colId xmlns:a16="http://schemas.microsoft.com/office/drawing/2014/main" val="20003"/>
                    </a:ext>
                  </a:extLst>
                </a:gridCol>
                <a:gridCol w="2478677">
                  <a:extLst>
                    <a:ext uri="{9D8B030D-6E8A-4147-A177-3AD203B41FA5}">
                      <a16:colId xmlns:a16="http://schemas.microsoft.com/office/drawing/2014/main" val="20004"/>
                    </a:ext>
                  </a:extLst>
                </a:gridCol>
                <a:gridCol w="1464672">
                  <a:extLst>
                    <a:ext uri="{9D8B030D-6E8A-4147-A177-3AD203B41FA5}">
                      <a16:colId xmlns:a16="http://schemas.microsoft.com/office/drawing/2014/main" val="20005"/>
                    </a:ext>
                  </a:extLst>
                </a:gridCol>
                <a:gridCol w="1690007">
                  <a:extLst>
                    <a:ext uri="{9D8B030D-6E8A-4147-A177-3AD203B41FA5}">
                      <a16:colId xmlns:a16="http://schemas.microsoft.com/office/drawing/2014/main" val="20006"/>
                    </a:ext>
                  </a:extLst>
                </a:gridCol>
              </a:tblGrid>
              <a:tr h="900000">
                <a:tc>
                  <a:txBody>
                    <a:bodyPr/>
                    <a:lstStyle/>
                    <a:p>
                      <a:pPr algn="ctr"/>
                      <a:r>
                        <a:rPr sz="2600" b="1" i="0">
                          <a:solidFill>
                            <a:srgbClr val="1A1A1A"/>
                          </a:solidFill>
                          <a:latin typeface="Times New Roman"/>
                          <a:cs typeface="Times New Roman"/>
                        </a:rPr>
                        <a:t>Model</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600" b="1" i="0">
                          <a:solidFill>
                            <a:srgbClr val="1A1A1A"/>
                          </a:solidFill>
                          <a:latin typeface="Times New Roman"/>
                          <a:cs typeface="Times New Roman"/>
                        </a:rPr>
                        <a:t>Real Acc.</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600" b="1" i="0">
                          <a:solidFill>
                            <a:srgbClr val="1A1A1A"/>
                          </a:solidFill>
                          <a:latin typeface="Times New Roman"/>
                          <a:cs typeface="Times New Roman"/>
                        </a:rPr>
                        <a:t>Real Macro-F1</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600" b="1" i="0">
                          <a:solidFill>
                            <a:srgbClr val="1A1A1A"/>
                          </a:solidFill>
                          <a:latin typeface="Times New Roman"/>
                          <a:cs typeface="Times New Roman"/>
                        </a:rPr>
                        <a:t>Control Acc.</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600" b="1" i="0">
                          <a:solidFill>
                            <a:srgbClr val="1A1A1A"/>
                          </a:solidFill>
                          <a:latin typeface="Times New Roman"/>
                          <a:cs typeface="Times New Roman"/>
                        </a:rPr>
                        <a:t>Control Macro-F1</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600" b="1" i="0">
                          <a:solidFill>
                            <a:srgbClr val="1A1A1A"/>
                          </a:solidFill>
                          <a:latin typeface="Times New Roman"/>
                          <a:cs typeface="Times New Roman"/>
                        </a:rPr>
                        <a:t>Δ FA</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600" b="1" i="0">
                          <a:solidFill>
                            <a:srgbClr val="1A1A1A"/>
                          </a:solidFill>
                          <a:latin typeface="Times New Roman"/>
                          <a:cs typeface="Times New Roman"/>
                        </a:rPr>
                        <a:t>Δ FBTC</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extLst>
                  <a:ext uri="{0D108BD9-81ED-4DB2-BD59-A6C34878D82A}">
                    <a16:rowId xmlns:a16="http://schemas.microsoft.com/office/drawing/2014/main" val="10000"/>
                  </a:ext>
                </a:extLst>
              </a:tr>
              <a:tr h="900000">
                <a:tc>
                  <a:txBody>
                    <a:bodyPr/>
                    <a:lstStyle/>
                    <a:p>
                      <a:pPr algn="l"/>
                      <a:r>
                        <a:rPr sz="2600" b="1" i="0">
                          <a:solidFill>
                            <a:srgbClr val="1A1A1A"/>
                          </a:solidFill>
                          <a:latin typeface="Times New Roman"/>
                          <a:cs typeface="Times New Roman"/>
                        </a:rPr>
                        <a:t>1D-CNN (LOSO)</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0.897</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0.315</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0.816</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0.300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0.000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0.000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1"/>
                  </a:ext>
                </a:extLst>
              </a:tr>
              <a:tr h="900000">
                <a:tc>
                  <a:txBody>
                    <a:bodyPr/>
                    <a:lstStyle/>
                    <a:p>
                      <a:pPr algn="l"/>
                      <a:r>
                        <a:rPr sz="2600" b="1" i="0">
                          <a:solidFill>
                            <a:srgbClr val="1A1A1A"/>
                          </a:solidFill>
                          <a:latin typeface="Times New Roman"/>
                          <a:cs typeface="Times New Roman"/>
                        </a:rPr>
                        <a:t>Fine-tuned CRNN (v2)</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0.907</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0.526</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0.841</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0.387</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0.000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600" b="0" i="0">
                          <a:solidFill>
                            <a:srgbClr val="1A1A1A"/>
                          </a:solidFill>
                          <a:latin typeface="Times New Roman"/>
                          <a:cs typeface="Times New Roman"/>
                        </a:rPr>
                        <a:t>+0.281</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2"/>
                  </a:ext>
                </a:extLst>
              </a:tr>
              <a:tr h="900000">
                <a:tc>
                  <a:txBody>
                    <a:bodyPr/>
                    <a:lstStyle/>
                    <a:p>
                      <a:pPr algn="l"/>
                      <a:r>
                        <a:rPr sz="2600" b="1" i="0">
                          <a:solidFill>
                            <a:srgbClr val="1A1A1A"/>
                          </a:solidFill>
                          <a:latin typeface="Times New Roman"/>
                          <a:cs typeface="Times New Roman"/>
                        </a:rPr>
                        <a:t>EEG-HDC v4 (Proposed)</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BE4E4"/>
                    </a:solidFill>
                  </a:tcPr>
                </a:tc>
                <a:tc>
                  <a:txBody>
                    <a:bodyPr/>
                    <a:lstStyle/>
                    <a:p>
                      <a:pPr algn="ctr"/>
                      <a:r>
                        <a:rPr sz="2600" b="1" i="0">
                          <a:solidFill>
                            <a:srgbClr val="1A1A1A"/>
                          </a:solidFill>
                          <a:latin typeface="Times New Roman"/>
                          <a:cs typeface="Times New Roman"/>
                        </a:rPr>
                        <a:t>0.911</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BE4E4"/>
                    </a:solidFill>
                  </a:tcPr>
                </a:tc>
                <a:tc>
                  <a:txBody>
                    <a:bodyPr/>
                    <a:lstStyle/>
                    <a:p>
                      <a:pPr algn="ctr"/>
                      <a:r>
                        <a:rPr sz="2600" b="1" i="0">
                          <a:solidFill>
                            <a:srgbClr val="1A1A1A"/>
                          </a:solidFill>
                          <a:latin typeface="Times New Roman"/>
                          <a:cs typeface="Times New Roman"/>
                        </a:rPr>
                        <a:t>0.612</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BE4E4"/>
                    </a:solidFill>
                  </a:tcPr>
                </a:tc>
                <a:tc>
                  <a:txBody>
                    <a:bodyPr/>
                    <a:lstStyle/>
                    <a:p>
                      <a:pPr algn="ctr"/>
                      <a:r>
                        <a:rPr sz="2600" b="1" i="0">
                          <a:solidFill>
                            <a:srgbClr val="1A1A1A"/>
                          </a:solidFill>
                          <a:latin typeface="Times New Roman"/>
                          <a:cs typeface="Times New Roman"/>
                        </a:rPr>
                        <a:t>0.790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BE4E4"/>
                    </a:solidFill>
                  </a:tcPr>
                </a:tc>
                <a:tc>
                  <a:txBody>
                    <a:bodyPr/>
                    <a:lstStyle/>
                    <a:p>
                      <a:pPr algn="ctr"/>
                      <a:r>
                        <a:rPr sz="2600" b="1" i="0">
                          <a:solidFill>
                            <a:srgbClr val="1A1A1A"/>
                          </a:solidFill>
                          <a:latin typeface="Times New Roman"/>
                          <a:cs typeface="Times New Roman"/>
                        </a:rPr>
                        <a:t>0.475</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BE4E4"/>
                    </a:solidFill>
                  </a:tcPr>
                </a:tc>
                <a:tc>
                  <a:txBody>
                    <a:bodyPr/>
                    <a:lstStyle/>
                    <a:p>
                      <a:pPr algn="ctr"/>
                      <a:r>
                        <a:rPr sz="2600" b="1" i="0">
                          <a:solidFill>
                            <a:srgbClr val="1A1A1A"/>
                          </a:solidFill>
                          <a:latin typeface="Times New Roman"/>
                          <a:cs typeface="Times New Roman"/>
                        </a:rPr>
                        <a:t>+0.117</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BE4E4"/>
                    </a:solidFill>
                  </a:tcPr>
                </a:tc>
                <a:tc>
                  <a:txBody>
                    <a:bodyPr/>
                    <a:lstStyle/>
                    <a:p>
                      <a:pPr algn="ctr"/>
                      <a:r>
                        <a:rPr sz="2600" b="1" i="0">
                          <a:solidFill>
                            <a:srgbClr val="1A1A1A"/>
                          </a:solidFill>
                          <a:latin typeface="Times New Roman"/>
                          <a:cs typeface="Times New Roman"/>
                        </a:rPr>
                        <a:t>+0.069</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BE4E4"/>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1257300" y="5700000"/>
            <a:ext cx="15773400" cy="7400000"/>
          </a:xfrm>
          <a:prstGeom prst="rect">
            <a:avLst/>
          </a:prstGeom>
          <a:noFill/>
        </p:spPr>
        <p:txBody>
          <a:bodyPr wrap="square">
            <a:spAutoFit/>
          </a:bodyPr>
          <a:lstStyle/>
          <a:p>
            <a:pPr marL="571500" indent="-571500">
              <a:lnSpc>
                <a:spcPct val="112000"/>
              </a:lnSpc>
              <a:spcAft>
                <a:spcPts val="600"/>
              </a:spcAft>
              <a:buFont typeface="Arial"/>
              <a:buChar char="•"/>
            </a:pPr>
            <a:r>
              <a:rPr sz="2800" b="0" i="0">
                <a:solidFill>
                  <a:srgbClr val="1A1A1A"/>
                </a:solidFill>
                <a:latin typeface="Times New Roman"/>
                <a:cs typeface="Times New Roman"/>
              </a:rPr>
              <a:t>Macro-F1 doubles from the LOSO baseline (0.315) to v4 (0.612).</a:t>
            </a:r>
          </a:p>
          <a:p>
            <a:pPr marL="571500" indent="-571500">
              <a:lnSpc>
                <a:spcPct val="112000"/>
              </a:lnSpc>
              <a:spcAft>
                <a:spcPts val="600"/>
              </a:spcAft>
              <a:buFont typeface="Arial"/>
              <a:buChar char="•"/>
            </a:pPr>
            <a:r>
              <a:rPr sz="2800" b="0" i="0">
                <a:solidFill>
                  <a:srgbClr val="1A1A1A"/>
                </a:solidFill>
                <a:latin typeface="Times New Roman"/>
                <a:cs typeface="Times New Roman"/>
              </a:rPr>
              <a:t>v2 has the larger FBTC gap but no Focal Aware signal; v4 is the only model with a positive gap on both minority classes.</a:t>
            </a:r>
          </a:p>
          <a:p>
            <a:pPr marL="571500" indent="-571500">
              <a:lnSpc>
                <a:spcPct val="112000"/>
              </a:lnSpc>
              <a:spcAft>
                <a:spcPts val="600"/>
              </a:spcAft>
              <a:buFont typeface="Arial"/>
              <a:buChar char="•"/>
            </a:pPr>
            <a:r>
              <a:rPr sz="2800" b="0" i="0">
                <a:solidFill>
                  <a:srgbClr val="1A1A1A"/>
                </a:solidFill>
                <a:latin typeface="Times New Roman"/>
                <a:cs typeface="Times New Roman"/>
              </a:rPr>
              <a:t>Control = interictal windows relabelled with each patient’s subtype; a high control score means patient recognition rather than seizure recognition.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34</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Adversarial Control: Recall Gap</a:t>
            </a:r>
          </a:p>
        </p:txBody>
      </p:sp>
      <p:graphicFrame>
        <p:nvGraphicFramePr>
          <p:cNvPr id="10" name="Chart 9"/>
          <p:cNvGraphicFramePr>
            <a:graphicFrameLocks noGrp="1"/>
          </p:cNvGraphicFramePr>
          <p:nvPr/>
        </p:nvGraphicFramePr>
        <p:xfrm>
          <a:off x="1257300" y="1550000"/>
          <a:ext cx="15773400" cy="600000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1257300" y="7650000"/>
            <a:ext cx="15773400" cy="7400000"/>
          </a:xfrm>
          <a:prstGeom prst="rect">
            <a:avLst/>
          </a:prstGeom>
          <a:noFill/>
        </p:spPr>
        <p:txBody>
          <a:bodyPr wrap="square">
            <a:spAutoFit/>
          </a:bodyPr>
          <a:lstStyle/>
          <a:p>
            <a:pPr marL="571500" indent="-571500">
              <a:lnSpc>
                <a:spcPct val="105000"/>
              </a:lnSpc>
              <a:spcAft>
                <a:spcPts val="600"/>
              </a:spcAft>
              <a:buFont typeface="Arial"/>
              <a:buChar char="•"/>
            </a:pPr>
            <a:r>
              <a:rPr sz="2600" b="0" i="0">
                <a:solidFill>
                  <a:srgbClr val="1A1A1A"/>
                </a:solidFill>
                <a:latin typeface="Times New Roman"/>
                <a:cs typeface="Times New Roman"/>
              </a:rPr>
              <a:t>Gap = real recall minus control recall; a positive gap means the classifier responds to seizure dynamics, not to the patient’s background EEG.</a:t>
            </a:r>
          </a:p>
          <a:p>
            <a:pPr marL="571500" indent="-571500">
              <a:lnSpc>
                <a:spcPct val="105000"/>
              </a:lnSpc>
              <a:spcAft>
                <a:spcPts val="600"/>
              </a:spcAft>
              <a:buFont typeface="Arial"/>
              <a:buChar char="•"/>
            </a:pPr>
            <a:r>
              <a:rPr sz="2600" b="0" i="0">
                <a:solidFill>
                  <a:srgbClr val="1A1A1A"/>
                </a:solidFill>
                <a:latin typeface="Times New Roman"/>
                <a:cs typeface="Times New Roman"/>
              </a:rPr>
              <a:t>Random Forest is strongly negative on both classes: its decisions are dominated by patient identity.</a:t>
            </a:r>
          </a:p>
          <a:p>
            <a:pPr marL="571500" indent="-571500">
              <a:lnSpc>
                <a:spcPct val="105000"/>
              </a:lnSpc>
              <a:spcAft>
                <a:spcPts val="600"/>
              </a:spcAft>
              <a:buFont typeface="Arial"/>
              <a:buChar char="•"/>
            </a:pPr>
            <a:r>
              <a:rPr sz="2600" b="0" i="0">
                <a:solidFill>
                  <a:srgbClr val="1A1A1A"/>
                </a:solidFill>
                <a:latin typeface="Times New Roman"/>
                <a:cs typeface="Times New Roman"/>
              </a:rPr>
              <a:t>Configuration shown: SMOTE 3× FA / 5× FBTC.</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35</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Model Evolution Across Versions</a:t>
            </a:r>
          </a:p>
        </p:txBody>
      </p:sp>
      <p:graphicFrame>
        <p:nvGraphicFramePr>
          <p:cNvPr id="10" name="Chart 9"/>
          <p:cNvGraphicFramePr>
            <a:graphicFrameLocks noGrp="1"/>
          </p:cNvGraphicFramePr>
          <p:nvPr/>
        </p:nvGraphicFramePr>
        <p:xfrm>
          <a:off x="1257300" y="1550000"/>
          <a:ext cx="15773400" cy="530000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1257300" y="7000000"/>
            <a:ext cx="15773400" cy="7400000"/>
          </a:xfrm>
          <a:prstGeom prst="rect">
            <a:avLst/>
          </a:prstGeom>
          <a:noFill/>
        </p:spPr>
        <p:txBody>
          <a:bodyPr wrap="square">
            <a:spAutoFit/>
          </a:bodyPr>
          <a:lstStyle/>
          <a:p>
            <a:pPr marL="571500" indent="-571500">
              <a:lnSpc>
                <a:spcPct val="110000"/>
              </a:lnSpc>
              <a:spcAft>
                <a:spcPts val="600"/>
              </a:spcAft>
              <a:buFont typeface="Arial"/>
              <a:buChar char="•"/>
            </a:pPr>
            <a:r>
              <a:rPr sz="2800" b="0" i="0">
                <a:solidFill>
                  <a:srgbClr val="1A1A1A"/>
                </a:solidFill>
                <a:latin typeface="Times New Roman"/>
                <a:cs typeface="Times New Roman"/>
              </a:rPr>
              <a:t>v1 (embedding SMOTE) recovers Focal Aware (13 / 16) but never FBTC (0 / 56); v2 (fine-tuned) recovers FBTC but loses FA.</a:t>
            </a:r>
          </a:p>
          <a:p>
            <a:pPr marL="571500" indent="-571500">
              <a:lnSpc>
                <a:spcPct val="110000"/>
              </a:lnSpc>
              <a:spcAft>
                <a:spcPts val="600"/>
              </a:spcAft>
              <a:buFont typeface="Arial"/>
              <a:buChar char="•"/>
            </a:pPr>
            <a:r>
              <a:rPr sz="2800" b="0" i="0">
                <a:solidFill>
                  <a:srgbClr val="1A1A1A"/>
                </a:solidFill>
                <a:latin typeface="Times New Roman"/>
                <a:cs typeface="Times New Roman"/>
              </a:rPr>
              <a:t>v3 (frozen detection backbone only) recovers FA but accuracy drops to 0.573.</a:t>
            </a:r>
          </a:p>
          <a:p>
            <a:pPr marL="571500" indent="-571500">
              <a:lnSpc>
                <a:spcPct val="110000"/>
              </a:lnSpc>
              <a:spcAft>
                <a:spcPts val="600"/>
              </a:spcAft>
              <a:buFont typeface="Arial"/>
              <a:buChar char="•"/>
            </a:pPr>
            <a:r>
              <a:rPr sz="2800" b="0" i="0">
                <a:solidFill>
                  <a:srgbClr val="1A1A1A"/>
                </a:solidFill>
                <a:latin typeface="Times New Roman"/>
                <a:cs typeface="Times New Roman"/>
              </a:rPr>
              <a:t>v4 fuses both views: highest macro-F1 (0.612) with accuracy above 0.91.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36</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5200" b="1" i="0">
                <a:solidFill>
                  <a:srgbClr val="1A1A1A"/>
                </a:solidFill>
                <a:latin typeface="Times New Roman"/>
                <a:cs typeface="Times New Roman"/>
              </a:rPr>
              <a:t>Results: End-to-End Cascade (CNN Stage 1 + Stage 2)</a:t>
            </a:r>
          </a:p>
        </p:txBody>
      </p:sp>
      <p:pic>
        <p:nvPicPr>
          <p:cNvPr id="10" name="Picture 9" descr="cascade_metrics_comparison.png"/>
          <p:cNvPicPr>
            <a:picLocks noChangeAspect="1"/>
          </p:cNvPicPr>
          <p:nvPr/>
        </p:nvPicPr>
        <p:blipFill>
          <a:blip r:embed="rId3"/>
          <a:stretch>
            <a:fillRect/>
          </a:stretch>
        </p:blipFill>
        <p:spPr>
          <a:xfrm>
            <a:off x="1257300" y="1894438"/>
            <a:ext cx="8500000" cy="5011123"/>
          </a:xfrm>
          <a:prstGeom prst="rect">
            <a:avLst/>
          </a:prstGeom>
        </p:spPr>
      </p:pic>
      <p:graphicFrame>
        <p:nvGraphicFramePr>
          <p:cNvPr id="11" name="Table 10"/>
          <p:cNvGraphicFramePr>
            <a:graphicFrameLocks noGrp="1"/>
          </p:cNvGraphicFramePr>
          <p:nvPr/>
        </p:nvGraphicFramePr>
        <p:xfrm>
          <a:off x="10000000" y="2300000"/>
          <a:ext cx="6999997" cy="2162000"/>
        </p:xfrm>
        <a:graphic>
          <a:graphicData uri="http://schemas.openxmlformats.org/drawingml/2006/table">
            <a:tbl>
              <a:tblPr>
                <a:tableStyleId>{5940675A-B579-460E-94D1-54222C63F5DA}</a:tableStyleId>
              </a:tblPr>
              <a:tblGrid>
                <a:gridCol w="2531914">
                  <a:extLst>
                    <a:ext uri="{9D8B030D-6E8A-4147-A177-3AD203B41FA5}">
                      <a16:colId xmlns:a16="http://schemas.microsoft.com/office/drawing/2014/main" val="20000"/>
                    </a:ext>
                  </a:extLst>
                </a:gridCol>
                <a:gridCol w="968085">
                  <a:extLst>
                    <a:ext uri="{9D8B030D-6E8A-4147-A177-3AD203B41FA5}">
                      <a16:colId xmlns:a16="http://schemas.microsoft.com/office/drawing/2014/main" val="20001"/>
                    </a:ext>
                  </a:extLst>
                </a:gridCol>
                <a:gridCol w="1414893">
                  <a:extLst>
                    <a:ext uri="{9D8B030D-6E8A-4147-A177-3AD203B41FA5}">
                      <a16:colId xmlns:a16="http://schemas.microsoft.com/office/drawing/2014/main" val="20002"/>
                    </a:ext>
                  </a:extLst>
                </a:gridCol>
                <a:gridCol w="1489361">
                  <a:extLst>
                    <a:ext uri="{9D8B030D-6E8A-4147-A177-3AD203B41FA5}">
                      <a16:colId xmlns:a16="http://schemas.microsoft.com/office/drawing/2014/main" val="20003"/>
                    </a:ext>
                  </a:extLst>
                </a:gridCol>
                <a:gridCol w="595744">
                  <a:extLst>
                    <a:ext uri="{9D8B030D-6E8A-4147-A177-3AD203B41FA5}">
                      <a16:colId xmlns:a16="http://schemas.microsoft.com/office/drawing/2014/main" val="20004"/>
                    </a:ext>
                  </a:extLst>
                </a:gridCol>
              </a:tblGrid>
              <a:tr h="700000">
                <a:tc>
                  <a:txBody>
                    <a:bodyPr/>
                    <a:lstStyle/>
                    <a:p>
                      <a:pPr algn="ctr"/>
                      <a:endParaRP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200" b="1" i="0">
                          <a:solidFill>
                            <a:srgbClr val="1A1A1A"/>
                          </a:solidFill>
                          <a:latin typeface="Times New Roman"/>
                          <a:cs typeface="Times New Roman"/>
                        </a:rPr>
                        <a:t>Sens.</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200" b="1" i="0">
                          <a:solidFill>
                            <a:srgbClr val="1A1A1A"/>
                          </a:solidFill>
                          <a:latin typeface="Times New Roman"/>
                          <a:cs typeface="Times New Roman"/>
                        </a:rPr>
                        <a:t>Cond. Acc.</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200" b="1" i="0">
                          <a:solidFill>
                            <a:srgbClr val="1A1A1A"/>
                          </a:solidFill>
                          <a:latin typeface="Times New Roman"/>
                          <a:cs typeface="Times New Roman"/>
                        </a:rPr>
                        <a:t>End-to-end</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tc>
                  <a:txBody>
                    <a:bodyPr/>
                    <a:lstStyle/>
                    <a:p>
                      <a:pPr algn="ctr"/>
                      <a:r>
                        <a:rPr sz="2200" b="1" i="0">
                          <a:solidFill>
                            <a:srgbClr val="1A1A1A"/>
                          </a:solidFill>
                          <a:latin typeface="Times New Roman"/>
                          <a:cs typeface="Times New Roman"/>
                        </a:rPr>
                        <a:t>n</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E7E6E6"/>
                    </a:solidFill>
                  </a:tcPr>
                </a:tc>
                <a:extLst>
                  <a:ext uri="{0D108BD9-81ED-4DB2-BD59-A6C34878D82A}">
                    <a16:rowId xmlns:a16="http://schemas.microsoft.com/office/drawing/2014/main" val="10000"/>
                  </a:ext>
                </a:extLst>
              </a:tr>
              <a:tr h="700000">
                <a:tc>
                  <a:txBody>
                    <a:bodyPr/>
                    <a:lstStyle/>
                    <a:p>
                      <a:pPr algn="l"/>
                      <a:r>
                        <a:rPr sz="2200" b="1" i="0">
                          <a:solidFill>
                            <a:srgbClr val="1A1A1A"/>
                          </a:solidFill>
                          <a:latin typeface="Times New Roman"/>
                          <a:cs typeface="Times New Roman"/>
                        </a:rPr>
                        <a:t>Strict (2 patients)</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1.00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1.00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1.00</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4</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1"/>
                  </a:ext>
                </a:extLst>
              </a:tr>
              <a:tr h="700000">
                <a:tc>
                  <a:txBody>
                    <a:bodyPr/>
                    <a:lstStyle/>
                    <a:p>
                      <a:pPr algn="l"/>
                      <a:r>
                        <a:rPr sz="2200" b="1" i="0">
                          <a:solidFill>
                            <a:srgbClr val="1A1A1A"/>
                          </a:solidFill>
                          <a:latin typeface="Times New Roman"/>
                          <a:cs typeface="Times New Roman"/>
                        </a:rPr>
                        <a:t>Broad (13 patients)</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0.957</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0.744</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0.696</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tc>
                  <a:txBody>
                    <a:bodyPr/>
                    <a:lstStyle/>
                    <a:p>
                      <a:pPr algn="ctr"/>
                      <a:r>
                        <a:rPr sz="2200" b="0" i="0">
                          <a:solidFill>
                            <a:srgbClr val="1A1A1A"/>
                          </a:solidFill>
                          <a:latin typeface="Times New Roman"/>
                          <a:cs typeface="Times New Roman"/>
                        </a:rPr>
                        <a:t>46</a:t>
                      </a:r>
                    </a:p>
                  </a:txBody>
                  <a:tcPr anchor="ctr">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12" name="TextBox 11"/>
          <p:cNvSpPr txBox="1"/>
          <p:nvPr/>
        </p:nvSpPr>
        <p:spPr>
          <a:xfrm>
            <a:off x="10000000" y="4700000"/>
            <a:ext cx="7000000" cy="7400000"/>
          </a:xfrm>
          <a:prstGeom prst="rect">
            <a:avLst/>
          </a:prstGeom>
          <a:noFill/>
        </p:spPr>
        <p:txBody>
          <a:bodyPr wrap="square">
            <a:spAutoFit/>
          </a:bodyPr>
          <a:lstStyle/>
          <a:p>
            <a:pPr marL="571500" indent="-571500">
              <a:lnSpc>
                <a:spcPct val="105000"/>
              </a:lnSpc>
              <a:spcAft>
                <a:spcPts val="600"/>
              </a:spcAft>
              <a:buFont typeface="Arial"/>
              <a:buChar char="•"/>
            </a:pPr>
            <a:r>
              <a:rPr sz="2400" b="0" i="0">
                <a:solidFill>
                  <a:srgbClr val="1A1A1A"/>
                </a:solidFill>
                <a:latin typeface="Times New Roman"/>
                <a:cs typeface="Times New Roman"/>
              </a:rPr>
              <a:t>Strict = patients unseen by both stages; broad is optimistic for Stage 1.</a:t>
            </a:r>
          </a:p>
          <a:p>
            <a:pPr marL="571500" indent="-571500">
              <a:lnSpc>
                <a:spcPct val="105000"/>
              </a:lnSpc>
              <a:spcAft>
                <a:spcPts val="600"/>
              </a:spcAft>
              <a:buFont typeface="Arial"/>
              <a:buChar char="•"/>
            </a:pPr>
            <a:r>
              <a:rPr sz="2400" b="0" i="0">
                <a:solidFill>
                  <a:srgbClr val="1A1A1A"/>
                </a:solidFill>
                <a:latin typeface="Times New Roman"/>
                <a:cs typeface="Times New Roman"/>
              </a:rPr>
              <a:t>Strict result is only 4 events and is not statistically solid.</a:t>
            </a:r>
          </a:p>
        </p:txBody>
      </p:sp>
      <p:sp>
        <p:nvSpPr>
          <p:cNvPr id="13" name="TextBox 12"/>
          <p:cNvSpPr txBox="1"/>
          <p:nvPr/>
        </p:nvSpPr>
        <p:spPr>
          <a:xfrm>
            <a:off x="1257300" y="6950000"/>
            <a:ext cx="15773400" cy="7400000"/>
          </a:xfrm>
          <a:prstGeom prst="rect">
            <a:avLst/>
          </a:prstGeom>
          <a:noFill/>
        </p:spPr>
        <p:txBody>
          <a:bodyPr wrap="square">
            <a:spAutoFit/>
          </a:bodyPr>
          <a:lstStyle/>
          <a:p>
            <a:pPr marL="571500" indent="-571500">
              <a:lnSpc>
                <a:spcPct val="105000"/>
              </a:lnSpc>
              <a:spcAft>
                <a:spcPts val="600"/>
              </a:spcAft>
              <a:buFont typeface="Arial"/>
              <a:buChar char="•"/>
            </a:pPr>
            <a:r>
              <a:rPr sz="2800" b="0" i="0">
                <a:solidFill>
                  <a:srgbClr val="1A1A1A"/>
                </a:solidFill>
                <a:latin typeface="Times New Roman"/>
                <a:cs typeface="Times New Roman"/>
              </a:rPr>
              <a:t>This cascade chains the earlier independent CNNs; it is the end-to-end reference for the hierarchy idea.</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37</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Limitations &amp; Future Enhancements</a:t>
            </a:r>
          </a:p>
        </p:txBody>
      </p:sp>
      <p:sp>
        <p:nvSpPr>
          <p:cNvPr id="10" name="TextBox 9"/>
          <p:cNvSpPr txBox="1"/>
          <p:nvPr/>
        </p:nvSpPr>
        <p:spPr>
          <a:xfrm>
            <a:off x="1257300" y="1750000"/>
            <a:ext cx="15773400" cy="7400000"/>
          </a:xfrm>
          <a:prstGeom prst="rect">
            <a:avLst/>
          </a:prstGeom>
          <a:noFill/>
        </p:spPr>
        <p:txBody>
          <a:bodyPr wrap="square">
            <a:spAutoFit/>
          </a:bodyPr>
          <a:lstStyle/>
          <a:p>
            <a:pPr marL="571500" indent="-571500">
              <a:lnSpc>
                <a:spcPct val="118000"/>
              </a:lnSpc>
              <a:spcAft>
                <a:spcPts val="600"/>
              </a:spcAft>
              <a:buFont typeface="Arial"/>
              <a:buChar char="•"/>
            </a:pPr>
            <a:r>
              <a:rPr sz="3000" b="0" i="0">
                <a:solidFill>
                  <a:srgbClr val="1A1A1A"/>
                </a:solidFill>
                <a:latin typeface="Times New Roman"/>
                <a:cs typeface="Times New Roman"/>
              </a:rPr>
              <a:t>Extreme data scarcity: Focal Aware and FBTC come from one Siena patient each; the FA test set has only 16 windows (4 correct).</a:t>
            </a:r>
          </a:p>
          <a:p>
            <a:pPr marL="571500" indent="-571500">
              <a:lnSpc>
                <a:spcPct val="118000"/>
              </a:lnSpc>
              <a:spcAft>
                <a:spcPts val="600"/>
              </a:spcAft>
              <a:buFont typeface="Arial"/>
              <a:buChar char="•"/>
            </a:pPr>
            <a:r>
              <a:rPr sz="3000" b="0" i="0">
                <a:solidFill>
                  <a:srgbClr val="1A1A1A"/>
                </a:solidFill>
                <a:latin typeface="Times New Roman"/>
                <a:cs typeface="Times New Roman"/>
              </a:rPr>
              <a:t>v2 / v4 use an event-level split, so the same patient appears in train and test; this is weaker than patient-independent generalization.</a:t>
            </a:r>
          </a:p>
          <a:p>
            <a:pPr marL="571500" indent="-571500">
              <a:lnSpc>
                <a:spcPct val="118000"/>
              </a:lnSpc>
              <a:spcAft>
                <a:spcPts val="600"/>
              </a:spcAft>
              <a:buFont typeface="Arial"/>
              <a:buChar char="•"/>
            </a:pPr>
            <a:r>
              <a:rPr sz="3000" b="0" i="0">
                <a:solidFill>
                  <a:srgbClr val="1A1A1A"/>
                </a:solidFill>
                <a:latin typeface="Times New Roman"/>
                <a:cs typeface="Times New Roman"/>
              </a:rPr>
              <a:t>Detection is moderate (AUROC 0.824, sensitivity 0.605 at the best-F1 threshold); window-level only, with no temporal smoothing.</a:t>
            </a:r>
          </a:p>
          <a:p>
            <a:pPr marL="571500" indent="-571500">
              <a:lnSpc>
                <a:spcPct val="118000"/>
              </a:lnSpc>
              <a:spcAft>
                <a:spcPts val="600"/>
              </a:spcAft>
              <a:buFont typeface="Arial"/>
              <a:buChar char="•"/>
            </a:pPr>
            <a:r>
              <a:rPr sz="3000" b="0" i="0">
                <a:solidFill>
                  <a:srgbClr val="1A1A1A"/>
                </a:solidFill>
                <a:latin typeface="Times New Roman"/>
                <a:cs typeface="Times New Roman"/>
              </a:rPr>
              <a:t>FA recall of 25 % and FBTC recall of 51 % are not yet clinically sufficient.</a:t>
            </a:r>
          </a:p>
          <a:p>
            <a:pPr marL="571500" indent="-571500">
              <a:lnSpc>
                <a:spcPct val="118000"/>
              </a:lnSpc>
              <a:spcAft>
                <a:spcPts val="600"/>
              </a:spcAft>
              <a:buFont typeface="Arial"/>
              <a:buChar char="•"/>
            </a:pPr>
            <a:r>
              <a:rPr sz="3000" b="0" i="0">
                <a:solidFill>
                  <a:srgbClr val="1A1A1A"/>
                </a:solidFill>
                <a:latin typeface="Times New Roman"/>
                <a:cs typeface="Times New Roman"/>
              </a:rPr>
              <a:t>Only the three focal subtypes are covered; no prospective or clinical validation.</a:t>
            </a:r>
          </a:p>
          <a:p>
            <a:pPr marL="571500" indent="-571500">
              <a:lnSpc>
                <a:spcPct val="118000"/>
              </a:lnSpc>
              <a:spcAft>
                <a:spcPts val="600"/>
              </a:spcAft>
              <a:buFont typeface="Arial"/>
              <a:buChar char="•"/>
            </a:pPr>
            <a:r>
              <a:rPr sz="3000" b="0" i="0">
                <a:solidFill>
                  <a:srgbClr val="1A1A1A"/>
                </a:solidFill>
                <a:latin typeface="Times New Roman"/>
                <a:cs typeface="Times New Roman"/>
              </a:rPr>
              <a:t>Future: more multi-patient subtype data (e.g. TUSZ), true patient-independent evaluation, rare generalized subtypes, event-level smoothing and real-time deployment.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38</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Conclusion</a:t>
            </a:r>
          </a:p>
        </p:txBody>
      </p:sp>
      <p:sp>
        <p:nvSpPr>
          <p:cNvPr id="10" name="TextBox 9"/>
          <p:cNvSpPr txBox="1"/>
          <p:nvPr/>
        </p:nvSpPr>
        <p:spPr>
          <a:xfrm>
            <a:off x="1257300" y="1750000"/>
            <a:ext cx="15773400" cy="7400000"/>
          </a:xfrm>
          <a:prstGeom prst="rect">
            <a:avLst/>
          </a:prstGeom>
          <a:noFill/>
        </p:spPr>
        <p:txBody>
          <a:bodyPr wrap="square">
            <a:spAutoFit/>
          </a:bodyPr>
          <a:lstStyle/>
          <a:p>
            <a:pPr marL="571500" indent="-571500">
              <a:lnSpc>
                <a:spcPct val="125000"/>
              </a:lnSpc>
              <a:spcAft>
                <a:spcPts val="600"/>
              </a:spcAft>
              <a:buFont typeface="Arial"/>
              <a:buChar char="•"/>
            </a:pPr>
            <a:r>
              <a:rPr sz="3400" b="0" i="0">
                <a:solidFill>
                  <a:srgbClr val="1A1A1A"/>
                </a:solidFill>
                <a:latin typeface="Times New Roman"/>
                <a:cs typeface="Times New Roman"/>
              </a:rPr>
              <a:t>EEG-HDC v4 combines a standardized 18-channel preprocessing pipeline with a dual-embedding CRNN (128-D frozen + 128-D fine-tuned = 256-D).</a:t>
            </a:r>
          </a:p>
          <a:p>
            <a:pPr marL="571500" indent="-571500">
              <a:lnSpc>
                <a:spcPct val="125000"/>
              </a:lnSpc>
              <a:spcAft>
                <a:spcPts val="600"/>
              </a:spcAft>
              <a:buFont typeface="Arial"/>
              <a:buChar char="•"/>
            </a:pPr>
            <a:r>
              <a:rPr sz="3400" b="0" i="0">
                <a:solidFill>
                  <a:srgbClr val="1A1A1A"/>
                </a:solidFill>
                <a:latin typeface="Times New Roman"/>
                <a:cs typeface="Times New Roman"/>
              </a:rPr>
              <a:t>Latent-space SMOTE handles severe subtype imbalance without corrupting raw EEG.</a:t>
            </a:r>
          </a:p>
          <a:p>
            <a:pPr marL="571500" indent="-571500">
              <a:lnSpc>
                <a:spcPct val="125000"/>
              </a:lnSpc>
              <a:spcAft>
                <a:spcPts val="600"/>
              </a:spcAft>
              <a:buFont typeface="Arial"/>
              <a:buChar char="•"/>
            </a:pPr>
            <a:r>
              <a:rPr sz="3400" b="0" i="0">
                <a:solidFill>
                  <a:srgbClr val="1A1A1A"/>
                </a:solidFill>
                <a:latin typeface="Times New Roman"/>
                <a:cs typeface="Times New Roman"/>
              </a:rPr>
              <a:t>Best configuration (HistGB, 3× FA / 5× FBTC): accuracy 0.911, macro-F1 0.612, recall FA 25.0 %, FIA 96.2 %, FBTC 51.4 %.</a:t>
            </a:r>
          </a:p>
          <a:p>
            <a:pPr marL="571500" indent="-571500">
              <a:lnSpc>
                <a:spcPct val="125000"/>
              </a:lnSpc>
              <a:spcAft>
                <a:spcPts val="600"/>
              </a:spcAft>
              <a:buFont typeface="Arial"/>
              <a:buChar char="•"/>
            </a:pPr>
            <a:r>
              <a:rPr sz="3400" b="0" i="0">
                <a:solidFill>
                  <a:srgbClr val="1A1A1A"/>
                </a:solidFill>
                <a:latin typeface="Times New Roman"/>
                <a:cs typeface="Times New Roman"/>
              </a:rPr>
              <a:t>Positive control gaps on both minority classes (ΔFA = +0.117, ΔFBTC = +0.069) indicate the model is not merely recognising patients.</a:t>
            </a:r>
          </a:p>
          <a:p>
            <a:pPr marL="571500" indent="-571500">
              <a:lnSpc>
                <a:spcPct val="125000"/>
              </a:lnSpc>
              <a:spcAft>
                <a:spcPts val="600"/>
              </a:spcAft>
              <a:buFont typeface="Arial"/>
              <a:buChar char="•"/>
            </a:pPr>
            <a:r>
              <a:rPr sz="3400" b="0" i="0">
                <a:solidFill>
                  <a:srgbClr val="1A1A1A"/>
                </a:solidFill>
                <a:latin typeface="Times New Roman"/>
                <a:cs typeface="Times New Roman"/>
              </a:rPr>
              <a:t>Macro-F1 improves from 0.315 (1D-CNN baseline) to 0.612 and v4 is the only model that detects all three subtypes.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39</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References</a:t>
            </a:r>
          </a:p>
        </p:txBody>
      </p:sp>
      <p:sp>
        <p:nvSpPr>
          <p:cNvPr id="10" name="TextBox 9"/>
          <p:cNvSpPr txBox="1"/>
          <p:nvPr/>
        </p:nvSpPr>
        <p:spPr>
          <a:xfrm>
            <a:off x="1257300" y="1450000"/>
            <a:ext cx="15773400" cy="7700000"/>
          </a:xfrm>
          <a:prstGeom prst="rect">
            <a:avLst/>
          </a:prstGeom>
          <a:noFill/>
        </p:spPr>
        <p:txBody>
          <a:bodyPr wrap="square">
            <a:spAutoFit/>
          </a:bodyPr>
          <a:lstStyle/>
          <a:p>
            <a:pPr marL="914400" indent="-914400" algn="just">
              <a:lnSpc>
                <a:spcPct val="110000"/>
              </a:lnSpc>
              <a:spcAft>
                <a:spcPts val="1800"/>
              </a:spcAft>
              <a:tabLst>
                <a:tab pos="914400" algn="l"/>
              </a:tabLst>
            </a:pPr>
            <a:r>
              <a:rPr sz="2800" b="0" i="0">
                <a:solidFill>
                  <a:srgbClr val="1A1A1A"/>
                </a:solidFill>
                <a:latin typeface="Times New Roman"/>
                <a:cs typeface="Times New Roman"/>
              </a:rPr>
              <a:t>[1]	N. Ilakiyaselvan, A. N. Khan, and A. Shahina, “Deep learning approach to detect seizure using reconstructed phase space images,” J. Biomed. Res., vol. 34, no. 3, p. 240, 2020.</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[2]	S. Srinivasan, S. Dayalane, S. K. Mathivanan, H. Rajadurai, P. Jayagopal, and G. T. Dalu, “Detection and classification of adult epilepsy using hybrid deep learning approach,” Sci. Rep., vol. 13, no. 1, Art. no. 17574, Oct. 2023.</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[3]	H. Albaqami, G. M. Hassan, and A. Datta, “Wavelet-based multi-class seizure type classification system,” Appl. Sci., vol. 12, no. 11, Art. no. 5702, Jun. 2022.</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[4]	A. Abdelhameed and M. Bayoumi, “A deep learning approach for automatic seizure detection in children with epilepsy,” Front. Comput. Neurosci., vol. 15, Art. no. 650050, Apr. 2021.</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[5]	M. Guendelman, R. Vekslar, and O. Shriki, “A new perspective in epileptic seizure classification: Applying the taxonomy of seizure dynamotypes to non-invasive EEG and examining dynamical changes across sleep stages,” eNeuro, vol. 12, no. 1, Art. no. ENEURO.0157-24.2024, Jan. 2025.</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40</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References</a:t>
            </a:r>
          </a:p>
        </p:txBody>
      </p:sp>
      <p:sp>
        <p:nvSpPr>
          <p:cNvPr id="10" name="TextBox 9"/>
          <p:cNvSpPr txBox="1"/>
          <p:nvPr/>
        </p:nvSpPr>
        <p:spPr>
          <a:xfrm>
            <a:off x="1257300" y="1450000"/>
            <a:ext cx="15773400" cy="7700000"/>
          </a:xfrm>
          <a:prstGeom prst="rect">
            <a:avLst/>
          </a:prstGeom>
          <a:noFill/>
        </p:spPr>
        <p:txBody>
          <a:bodyPr wrap="square">
            <a:spAutoFit/>
          </a:bodyPr>
          <a:lstStyle/>
          <a:p>
            <a:pPr marL="914400" indent="-914400" algn="just">
              <a:lnSpc>
                <a:spcPct val="110000"/>
              </a:lnSpc>
              <a:spcAft>
                <a:spcPts val="1800"/>
              </a:spcAft>
              <a:tabLst>
                <a:tab pos="914400" algn="l"/>
              </a:tabLst>
            </a:pPr>
            <a:r>
              <a:rPr sz="2800" b="0" i="0">
                <a:solidFill>
                  <a:srgbClr val="1A1A1A"/>
                </a:solidFill>
                <a:latin typeface="Times New Roman"/>
                <a:cs typeface="Times New Roman"/>
              </a:rPr>
              <a:t>[6]	M. K. Siddiqui, R. Morales-Menendez, X. Huang, and N. Hussain, “A review of epileptic seizure detection using machine learning classifiers,” Brain Inform., vol. 7, no. 1, p. 5, May 2020.</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[7]	Y. Yuan et al., “A transformer-based framework with data augmentation for robust seizure detection across invasive and non-invasive neural recordings,” CNS Neurosci. Ther., vol. 31, no. 9, Art. no. e70584, Sep. 2025.</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[8]	P. A. Akor, G. Enemali, U. Muhammad, R. R. Singh, and H. Larijani, “An attention-residual convolutional network for real-time seizure classification on edge devices,” Sensors, vol. 25, no. 22, Art. no. 6855, Nov. 2025.</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[9]	A. Ulate-Campos, F. Coughlin, M. Gaínza-Lein, I. S. Fernández, P. L. Pearl, and T. Loddenkemper, “Automated seizure detection systems and their effectiveness for each type of seizure,” Seizure, vol. 40, pp. 88–101, Aug. 2016.</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[10]	U. R. Acharya, Y. Hagiwara, and H. Adeli, “Automated seizure prediction,” Epilepsy Behav., vol. 88, pp. 251–261, Nov. 2018.</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41</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References</a:t>
            </a:r>
          </a:p>
        </p:txBody>
      </p:sp>
      <p:sp>
        <p:nvSpPr>
          <p:cNvPr id="10" name="TextBox 9"/>
          <p:cNvSpPr txBox="1"/>
          <p:nvPr/>
        </p:nvSpPr>
        <p:spPr>
          <a:xfrm>
            <a:off x="1257300" y="1450000"/>
            <a:ext cx="15773400" cy="7700000"/>
          </a:xfrm>
          <a:prstGeom prst="rect">
            <a:avLst/>
          </a:prstGeom>
          <a:noFill/>
        </p:spPr>
        <p:txBody>
          <a:bodyPr wrap="square">
            <a:spAutoFit/>
          </a:bodyPr>
          <a:lstStyle/>
          <a:p>
            <a:pPr marL="914400" indent="-914400" algn="just">
              <a:lnSpc>
                <a:spcPct val="110000"/>
              </a:lnSpc>
              <a:spcAft>
                <a:spcPts val="1800"/>
              </a:spcAft>
              <a:tabLst>
                <a:tab pos="914400" algn="l"/>
              </a:tabLst>
            </a:pPr>
            <a:r>
              <a:rPr sz="2800" b="0" i="0">
                <a:solidFill>
                  <a:srgbClr val="1A1A1A"/>
                </a:solidFill>
                <a:latin typeface="Times New Roman"/>
                <a:cs typeface="Times New Roman"/>
              </a:rPr>
              <a:t>[11]	X. Wei, L. Zhou, Z. Chen, L. Zhang, and Y. Zhou, “Automatic seizure detection using three-dimensional CNN based on multi-channel EEG,” BMC Med. Inform. Decis. Mak., vol. 18, no. S5, Art. no. 111, Dec. 2018.</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[12]	R. San-Segundo, M. Gil-Martín, L. F. D’Haro-Enríquez, and J. M. Pardo, “Classification of epileptic EEG recordings using signal transforms and convolutional neural networks,” Comput. Biol. Med., vol. 109, pp. 148–158, Jun. 2019.</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[13]	Y. Wang, Y. Shi, Z. He, Z. Chen, and Y. Zhou, “Combining temporal and spatial attention for seizure prediction,” Health Inf. Sci. Syst., vol. 11, no. 1, Art. no. 38, Aug. 2023.</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[14]	L. Bai, G. Litscher, and X. Li, “Epileptic seizure detection using machine learning: A systematic review and meta-analysis,” Brain Sci., vol. 15, no. 6, Art. no. 634, Jun. 2025.</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[15]	I. Jemal, L. Abou-Abbas, K. Henni, A. Mitiche, and N. Mezghani, “Domain adaptation for EEG-based, cross-subject epileptic seizure prediction,” Front. Neuroinform., vol. 18, Art. no. 1303380, Feb. 2024.</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42</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References</a:t>
            </a:r>
          </a:p>
        </p:txBody>
      </p:sp>
      <p:sp>
        <p:nvSpPr>
          <p:cNvPr id="10" name="TextBox 9"/>
          <p:cNvSpPr txBox="1"/>
          <p:nvPr/>
        </p:nvSpPr>
        <p:spPr>
          <a:xfrm>
            <a:off x="1257300" y="1450000"/>
            <a:ext cx="15773400" cy="7700000"/>
          </a:xfrm>
          <a:prstGeom prst="rect">
            <a:avLst/>
          </a:prstGeom>
          <a:noFill/>
        </p:spPr>
        <p:txBody>
          <a:bodyPr wrap="square">
            <a:spAutoFit/>
          </a:bodyPr>
          <a:lstStyle/>
          <a:p>
            <a:pPr marL="914400" indent="-914400" algn="just">
              <a:lnSpc>
                <a:spcPct val="110000"/>
              </a:lnSpc>
              <a:spcAft>
                <a:spcPts val="1800"/>
              </a:spcAft>
              <a:tabLst>
                <a:tab pos="914400" algn="l"/>
              </a:tabLst>
            </a:pPr>
            <a:r>
              <a:rPr sz="2800" b="0" i="0">
                <a:solidFill>
                  <a:srgbClr val="1A1A1A"/>
                </a:solidFill>
                <a:latin typeface="Times New Roman"/>
                <a:cs typeface="Times New Roman"/>
              </a:rPr>
              <a:t>[16]	B. P. Prathaban and R. Balasubramanian, “Dynamic learning framework for epileptic seizure prediction using sparsity based EEG reconstruction with optimized CNN classifier,” Expert Syst. Appl., vol. 170, Art. no. 114533, May 2021.</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[17]	S. Raghu, N. Sriraam, Y. Temel, S. V. Rao, and P. L. Kubben, “EEG based multi-class seizure type classification using convolutional neural network and transfer learning,” Neural Netw., vol. 124, pp. 202–212, Apr. 2020.</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[18]	S. Wong et al., “EEG datasets for seizure detection and prediction—A review,” Epilepsia Open, vol. 8, no. 2, pp. 252–267, Jun. 2023.</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[19]	A. A. Ein Shoka, M. M. Dessouky, A. El-Sayed, and E. E.-D. Hemdan, “EEG seizure detection: Concepts, techniques, challenges, and future trends,” Multimed. Tools Appl., vol. 82, no. 27, pp. 42021–42051, 2023.</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[20]	W. Cao, Q. Li, A. Zhang, and T. Wang, “Efficient and accurate epilepsy seizure prediction and detection based on multi-teacher knowledge distillation RGF-model,” Brain Sci., vol. 16, no. 1, Art. no. 83, Jan. 2026.</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43</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References</a:t>
            </a:r>
          </a:p>
        </p:txBody>
      </p:sp>
      <p:sp>
        <p:nvSpPr>
          <p:cNvPr id="10" name="TextBox 9"/>
          <p:cNvSpPr txBox="1"/>
          <p:nvPr/>
        </p:nvSpPr>
        <p:spPr>
          <a:xfrm>
            <a:off x="1257300" y="1450000"/>
            <a:ext cx="15773400" cy="7700000"/>
          </a:xfrm>
          <a:prstGeom prst="rect">
            <a:avLst/>
          </a:prstGeom>
          <a:noFill/>
        </p:spPr>
        <p:txBody>
          <a:bodyPr wrap="square">
            <a:spAutoFit/>
          </a:bodyPr>
          <a:lstStyle/>
          <a:p>
            <a:pPr marL="914400" indent="-914400" algn="just">
              <a:lnSpc>
                <a:spcPct val="110000"/>
              </a:lnSpc>
              <a:spcAft>
                <a:spcPts val="1800"/>
              </a:spcAft>
              <a:tabLst>
                <a:tab pos="914400" algn="l"/>
              </a:tabLst>
            </a:pPr>
            <a:r>
              <a:rPr sz="2800" b="0" i="0">
                <a:solidFill>
                  <a:srgbClr val="1A1A1A"/>
                </a:solidFill>
                <a:latin typeface="Times New Roman"/>
                <a:cs typeface="Times New Roman"/>
              </a:rPr>
              <a:t>[21]	N. McCallan et al., “Epileptic multi-seizure type classification using electroencephalogram signals from the Temple University Hospital Seizure Corpus: A review,” Expert Syst. Appl., vol. 234, Art. no. 121040, Dec. 2023.</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[22]	M. Zhou et al., “Epileptic seizure detection based on EEG signals and CNN,” Front. Neuroinform., vol. 12, Art. no. 95, Dec. 2018.</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[23]	A. T. Tzallas, M. G. Tsipouras, and D. I. Fotiadis, “Epileptic seizure detection in EEGs using time–frequency analysis,” IEEE Trans. Inf. Technol. Biomed., vol. 13, no. 5, pp. 703–710, Sep. 2009.</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[24]	A. Subasi, J. Kevric, and M. Abdullah Canbaz, “Epileptic seizure detection using hybrid machine learning methods,” Neural Comput. Appl., vol. 31, no. 1, pp. 317–325, 2019.</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[25]	M. S. Farooq, A. Zulfiqar, and S. Riaz, “Epileptic seizure detection using machine learning: Taxonomy, opportunities, and challenges,” Diagnostics, vol. 13, no. 6, Art. no. 1058, Mar. 2023.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44</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References</a:t>
            </a:r>
          </a:p>
        </p:txBody>
      </p:sp>
      <p:sp>
        <p:nvSpPr>
          <p:cNvPr id="10" name="TextBox 9"/>
          <p:cNvSpPr txBox="1"/>
          <p:nvPr/>
        </p:nvSpPr>
        <p:spPr>
          <a:xfrm>
            <a:off x="1257300" y="1450000"/>
            <a:ext cx="15773400" cy="7700000"/>
          </a:xfrm>
          <a:prstGeom prst="rect">
            <a:avLst/>
          </a:prstGeom>
          <a:noFill/>
        </p:spPr>
        <p:txBody>
          <a:bodyPr wrap="square">
            <a:spAutoFit/>
          </a:bodyPr>
          <a:lstStyle/>
          <a:p>
            <a:pPr marL="914400" indent="-914400" algn="just">
              <a:lnSpc>
                <a:spcPct val="110000"/>
              </a:lnSpc>
              <a:spcAft>
                <a:spcPts val="1800"/>
              </a:spcAft>
              <a:tabLst>
                <a:tab pos="914400" algn="l"/>
              </a:tabLst>
            </a:pPr>
            <a:r>
              <a:rPr sz="2800" b="0" i="0">
                <a:solidFill>
                  <a:srgbClr val="1A1A1A"/>
                </a:solidFill>
                <a:latin typeface="Times New Roman"/>
                <a:cs typeface="Times New Roman"/>
              </a:rPr>
              <a:t>[26]	E. Ali, M. Angelova, and C. Karmakar, “Epileptic seizure detection using CHB-MIT dataset: The overlooked perspectives,” R. Soc. Open Sci., vol. 11, no. 3, 2024.</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[27]	A. Shoeibi et al., “Epileptic seizures detection using deep learning techniques: A review,” Int. J. Environ. Res. Public Health, vol. 18, no. 11, Art. no. 5780, May 2021.</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[28]	T. K. Murugan and A. Kameswaran, “Employing convolutional neural networks and explainable artificial intelligence for the detection of seizures from electroencephalogram signal,” Results Eng., vol. 24, Art. no. 103378, Dec. 2024.</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[29]	S. Cuyckens, R. Antonio, C. Fang, and M. Verhelst, “iEEG seizure detection with a sparse hyperdimensional computing accelerator,” in Proc. IEEE Int. Symp. Circuits Syst. (ISCAS), 2023.</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[30]	P. Thodoroff, J. Pineau, and A. Lim, “Learning robust features using deep learning for automatic seizure detection,” in Proc. Mach. Learn. Healthcare Conf. (MLHC), vol. 56, 2016, pp. 178–190.</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45</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References</a:t>
            </a:r>
          </a:p>
        </p:txBody>
      </p:sp>
      <p:sp>
        <p:nvSpPr>
          <p:cNvPr id="10" name="TextBox 9"/>
          <p:cNvSpPr txBox="1"/>
          <p:nvPr/>
        </p:nvSpPr>
        <p:spPr>
          <a:xfrm>
            <a:off x="1257300" y="1450000"/>
            <a:ext cx="15773400" cy="7700000"/>
          </a:xfrm>
          <a:prstGeom prst="rect">
            <a:avLst/>
          </a:prstGeom>
          <a:noFill/>
        </p:spPr>
        <p:txBody>
          <a:bodyPr wrap="square">
            <a:spAutoFit/>
          </a:bodyPr>
          <a:lstStyle/>
          <a:p>
            <a:pPr marL="914400" indent="-914400" algn="just">
              <a:lnSpc>
                <a:spcPct val="110000"/>
              </a:lnSpc>
              <a:spcAft>
                <a:spcPts val="1800"/>
              </a:spcAft>
              <a:tabLst>
                <a:tab pos="914400" algn="l"/>
              </a:tabLst>
            </a:pPr>
            <a:r>
              <a:rPr sz="2800" b="0" i="0">
                <a:solidFill>
                  <a:srgbClr val="1A1A1A"/>
                </a:solidFill>
                <a:latin typeface="Times New Roman"/>
                <a:cs typeface="Times New Roman"/>
              </a:rPr>
              <a:t>[31]	T. Sverrisson and S. Gudmundsson, “LookAroundNet: Extending temporal context with transformers for clinically viable EEG seizure detection,” arXiv preprint, 2025.</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[32]	G. Giannakakis, V. Sakkalis, M. Pediaditis, and M. Tsiknakis, “Methods for seizure detection and prediction: An overview,” in Modern Electroencephalographic Assessment Techniques (Neuromethods, vol. 91). New York, NY, USA: Springer, 2015, pp. 131–157.</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[33]	Y. Yang, K. Guo, Z. Fang, H. Lin, M. Grosser, and J. Lu, “Multi-model transfer learning and genotypic analysis for seizure type classification,” in Lecture Notes in Computer Science. Springer, 2023, pp. 223–234.</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[34]	D. Ahmedt-Aristizabal, T. Fernando, S. Denman, L. Petersson, M. J. Aburn, and C. Fookes, “Neural memory networks for seizure type classification,” in Proc. 42nd Annu. Int. Conf. IEEE Eng. Med. Biol. Soc. (EMBC), Jul. 2020, pp. 569–575.</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[35]	S. Ghosh, V. Singh, and O. S. Powar, “Seizure detection using EEG on the CHB-MIT dataset via multi-domain feature engineering and classical machine learning,” Discov. Appl. Sci., vol. 8, no. 3, Art. no. 312, 2026.</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46</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References</a:t>
            </a:r>
          </a:p>
        </p:txBody>
      </p:sp>
      <p:sp>
        <p:nvSpPr>
          <p:cNvPr id="10" name="TextBox 9"/>
          <p:cNvSpPr txBox="1"/>
          <p:nvPr/>
        </p:nvSpPr>
        <p:spPr>
          <a:xfrm>
            <a:off x="1257300" y="1450000"/>
            <a:ext cx="15773400" cy="7700000"/>
          </a:xfrm>
          <a:prstGeom prst="rect">
            <a:avLst/>
          </a:prstGeom>
          <a:noFill/>
        </p:spPr>
        <p:txBody>
          <a:bodyPr wrap="square">
            <a:spAutoFit/>
          </a:bodyPr>
          <a:lstStyle/>
          <a:p>
            <a:pPr marL="914400" indent="-914400" algn="just">
              <a:lnSpc>
                <a:spcPct val="110000"/>
              </a:lnSpc>
              <a:spcAft>
                <a:spcPts val="1800"/>
              </a:spcAft>
              <a:tabLst>
                <a:tab pos="914400" algn="l"/>
              </a:tabLst>
            </a:pPr>
            <a:r>
              <a:rPr sz="2800" b="0" i="0">
                <a:solidFill>
                  <a:srgbClr val="1A1A1A"/>
                </a:solidFill>
                <a:latin typeface="Times New Roman"/>
                <a:cs typeface="Times New Roman"/>
              </a:rPr>
              <a:t>[36]	M. L. Scheuer, S. B. Wilson, A. Antony, G. Ghearing, A. Urban, and A. I. Bagić, “Seizure detection: Interreader agreement and detection algorithm assessments using a large dataset,” J. Clin. Neurophysiol., vol. 38, no. 5, pp. 439–447, Sep. 2021.</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[37]	S. Roy, U. Asif, J. Tang, and S. Harrer, “Seizure type classification using EEG signals and machine learning: Setting a benchmark,” in Proc. IEEE Signal Process. Med. Biol. Symp. (SPMB), Dec. 2020, pp. 1–6.</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[38]	C. Baumgartner and J. P. Koren, “Seizure detection using scalp-EEG,” Epilepsia, vol. 59, no. S1, pp. 14–22, Jun. 2018.</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[39]	U. Asif, S. Roy, J. Tang, and S. Harrer, “SeizureNet: Multi-spectral deep feature learning for seizure type classification,” in Machine Learning in Clinical Neuroimaging and Radiogenomics in Neuro-oncology (Lecture Notes in Computer Science). Springer, 2020, pp. 77–87.</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[40]	K. Wu, Z. Zhao, and B. Yener, “SeizureTransformer: Scaling U-Net with transformer for simultaneous time-step level seizure detection from long EEG recordings,” arXiv:2504.00336, 2025.</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47</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References</a:t>
            </a:r>
          </a:p>
        </p:txBody>
      </p:sp>
      <p:sp>
        <p:nvSpPr>
          <p:cNvPr id="10" name="TextBox 9"/>
          <p:cNvSpPr txBox="1"/>
          <p:nvPr/>
        </p:nvSpPr>
        <p:spPr>
          <a:xfrm>
            <a:off x="1257300" y="1450000"/>
            <a:ext cx="15773400" cy="7700000"/>
          </a:xfrm>
          <a:prstGeom prst="rect">
            <a:avLst/>
          </a:prstGeom>
          <a:noFill/>
        </p:spPr>
        <p:txBody>
          <a:bodyPr wrap="square">
            <a:spAutoFit/>
          </a:bodyPr>
          <a:lstStyle/>
          <a:p>
            <a:pPr marL="914400" indent="-914400" algn="just">
              <a:lnSpc>
                <a:spcPct val="110000"/>
              </a:lnSpc>
              <a:spcAft>
                <a:spcPts val="1800"/>
              </a:spcAft>
              <a:tabLst>
                <a:tab pos="914400" algn="l"/>
              </a:tabLst>
            </a:pPr>
            <a:r>
              <a:rPr sz="2800" b="0" i="0">
                <a:solidFill>
                  <a:srgbClr val="1A1A1A"/>
                </a:solidFill>
                <a:latin typeface="Times New Roman"/>
                <a:cs typeface="Times New Roman"/>
              </a:rPr>
              <a:t>[41]	W. Weng et al., “Self-supervised learning for electroencephalogram: A systematic survey,” ACM Comput. Surv., vol. 57, no. 12, pp. 1–38, 2025.</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[42]	J. J. Falco-Walter, I. E. Scheffer, and R. S. Fisher, “The new definition and classification of seizures and epilepsy,” Epilepsy Res., vol. 139, pp. 73–79, Jan. 2018.</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[43]	L. Wei and C. Mooney, “Transfer learning-based seizure detection on multiple channels of paediatric EEGs,” in Proc. 45th Annu. Int. Conf. IEEE Eng. Med. Biol. Soc. (EMBC), Jul. 2023, pp. 1–4.</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[44]	H. Banville, O. Chehab, A. Hyvärinen, D.-A. Engemann, and A. Gramfort, “Uncovering the structure of clinical EEG signals with self-supervised learning,” J. Neural Eng., vol. 18, no. 4, Art. no. 046020, 2021.</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[45]	A. Shoeibi et al., “Automatic diagnosis of schizophrenia in EEG signals using CNN-LSTM models,” Front. Neuroinform., vol. 15, Art. no. 777977, Nov. 2021.</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B7A7E6-0BB5-4562-B4D8-B2D95118667A}" type="datetime3">
              <a:rPr lang="en-US" smtClean="0">
                <a:latin typeface="Times New Roman" panose="02020603050405020304" pitchFamily="18" charset="0"/>
                <a:cs typeface="Times New Roman" panose="02020603050405020304" pitchFamily="18" charset="0"/>
              </a:rPr>
              <a:t>26 October 2026</a:t>
            </a:fld>
            <a:endParaRPr lang="en-US" dirty="0">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latin typeface="Times New Roman" panose="02020603050405020304" pitchFamily="18" charset="0"/>
                <a:cs typeface="Times New Roman" panose="02020603050405020304" pitchFamily="18" charset="0"/>
              </a:rPr>
              <a:pPr/>
              <a:t>48</a:t>
            </a:fld>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08000" y="230000"/>
            <a:ext cx="17272000" cy="1100000"/>
          </a:xfrm>
          <a:prstGeom prst="rect">
            <a:avLst/>
          </a:prstGeom>
          <a:noFill/>
        </p:spPr>
        <p:txBody>
          <a:bodyPr wrap="square">
            <a:spAutoFit/>
          </a:bodyPr>
          <a:lstStyle/>
          <a:p>
            <a:pPr algn="ctr"/>
            <a:r>
              <a:rPr sz="6000" b="1" i="0">
                <a:solidFill>
                  <a:srgbClr val="1A1A1A"/>
                </a:solidFill>
                <a:latin typeface="Times New Roman"/>
                <a:cs typeface="Times New Roman"/>
              </a:rPr>
              <a:t>References</a:t>
            </a:r>
          </a:p>
        </p:txBody>
      </p:sp>
      <p:sp>
        <p:nvSpPr>
          <p:cNvPr id="10" name="TextBox 9"/>
          <p:cNvSpPr txBox="1"/>
          <p:nvPr/>
        </p:nvSpPr>
        <p:spPr>
          <a:xfrm>
            <a:off x="1257300" y="1450000"/>
            <a:ext cx="15773400" cy="7700000"/>
          </a:xfrm>
          <a:prstGeom prst="rect">
            <a:avLst/>
          </a:prstGeom>
          <a:noFill/>
        </p:spPr>
        <p:txBody>
          <a:bodyPr wrap="square">
            <a:spAutoFit/>
          </a:bodyPr>
          <a:lstStyle/>
          <a:p>
            <a:pPr marL="914400" indent="-914400" algn="just">
              <a:lnSpc>
                <a:spcPct val="110000"/>
              </a:lnSpc>
              <a:spcAft>
                <a:spcPts val="1800"/>
              </a:spcAft>
              <a:tabLst>
                <a:tab pos="914400" algn="l"/>
              </a:tabLst>
            </a:pPr>
            <a:r>
              <a:rPr sz="2800" b="0" i="0">
                <a:solidFill>
                  <a:srgbClr val="1A1A1A"/>
                </a:solidFill>
                <a:latin typeface="Times New Roman"/>
                <a:cs typeface="Times New Roman"/>
              </a:rPr>
              <a:t>[46]	R. S. Fisher et al., “Operational classification of seizure types by the International League Against Epilepsy: Position paper of the ILAE Commission for Classification and Terminology,” Epilepsia, vol. 58, no. 4, pp. 522–530, Apr. 2017.</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[47]	P. Detti et al., “Siena Scalp EEG Database,” PhysioNet, 2020. [Online]. Available: https://doi.org/10.13026/5d4a-j060</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[48]	A. H. Shoeb, “Application of machine learning to epileptic seizure onset detection and treatment,” Ph.D. dissertation, Dept. Elect. Eng. Comput. Sci., Massachusetts Inst. Technol., Cambridge, MA, USA, 2009 (CHB-MIT Scalp EEG Database).</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[49]	S. Roy, I. Kiral-Kornek, and S. Harrer, “ChronoNet: A deep recurrent neural network for abnormal EEG identification,” in Proc. Conf. Artif. Intell. Med. (AIME), 2019, pp. 47–56.</a:t>
            </a:r>
          </a:p>
          <a:p>
            <a:pPr marL="914400" indent="-914400" algn="just">
              <a:lnSpc>
                <a:spcPct val="110000"/>
              </a:lnSpc>
              <a:spcAft>
                <a:spcPts val="1800"/>
              </a:spcAft>
              <a:tabLst>
                <a:tab pos="914400" algn="l"/>
              </a:tabLst>
            </a:pPr>
            <a:r>
              <a:rPr sz="2800" b="0" i="0">
                <a:solidFill>
                  <a:srgbClr val="1A1A1A"/>
                </a:solidFill>
                <a:latin typeface="Times New Roman"/>
                <a:cs typeface="Times New Roman"/>
              </a:rPr>
              <a:t>[50]	K. Saab, J. Dunnmon, C. Ré, D. Rubin, and C. Lee-Messer, “Weak supervision as an efficient approach for automated seizure detection in electroencephalography,” npj Digit. Med., vol. 3, no. 1, Art. no. 59, Apr. 2020.</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p:nvPr/>
        </p:nvSpPr>
        <p:spPr>
          <a:xfrm>
            <a:off x="844232" y="3736063"/>
            <a:ext cx="16599535" cy="1407437"/>
          </a:xfrm>
          <a:prstGeom prst="rect">
            <a:avLst/>
          </a:prstGeom>
        </p:spPr>
        <p:txBody>
          <a:bodyPr vert="horz" wrap="square" lIns="0" tIns="12700" rIns="0" bIns="0" rtlCol="0">
            <a:spAutoFit/>
          </a:bodyPr>
          <a:lstStyle/>
          <a:p>
            <a:pPr marL="12700" marR="5080" algn="ctr">
              <a:lnSpc>
                <a:spcPct val="125000"/>
              </a:lnSpc>
              <a:spcBef>
                <a:spcPts val="100"/>
              </a:spcBef>
            </a:pPr>
            <a:r>
              <a:rPr lang="en-US" sz="8000" b="1" dirty="0">
                <a:latin typeface="Times New Roman" panose="02020603050405020304" pitchFamily="18" charset="0"/>
                <a:cs typeface="Times New Roman" panose="02020603050405020304" pitchFamily="18" charset="0"/>
              </a:rPr>
              <a:t>THANK YOU</a:t>
            </a:r>
            <a:endParaRPr sz="8000" b="1"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09442DFB-37A0-44C9-B8EE-93596F90C7A6}" type="datetime3">
              <a:rPr lang="en-US" smtClean="0"/>
              <a:t>26 October 2026</a:t>
            </a:fld>
            <a:endParaRPr lang="en-US" dirty="0"/>
          </a:p>
        </p:txBody>
      </p:sp>
      <p:sp>
        <p:nvSpPr>
          <p:cNvPr id="6" name="Footer Placeholder 5"/>
          <p:cNvSpPr>
            <a:spLocks noGrp="1"/>
          </p:cNvSpPr>
          <p:nvPr>
            <p:ph type="ftr" sz="quarter" idx="11"/>
          </p:nvPr>
        </p:nvSpPr>
        <p:spPr/>
        <p:txBody>
          <a:bodyPr/>
          <a:lstStyle/>
          <a:p>
            <a:r>
              <a:rPr lang="en-IN" dirty="0"/>
              <a:t>Dept of CSE </a:t>
            </a:r>
          </a:p>
        </p:txBody>
      </p:sp>
      <p:sp>
        <p:nvSpPr>
          <p:cNvPr id="8" name="Slide Number Placeholder 7"/>
          <p:cNvSpPr>
            <a:spLocks noGrp="1"/>
          </p:cNvSpPr>
          <p:nvPr>
            <p:ph type="sldNum" sz="quarter" idx="12"/>
          </p:nvPr>
        </p:nvSpPr>
        <p:spPr/>
        <p:txBody>
          <a:bodyPr/>
          <a:lstStyle/>
          <a:p>
            <a:fld id="{B6F15528-21DE-4FAA-801E-634DDDAF4B2B}" type="slidenum">
              <a:rPr lang="en-IN" smtClean="0"/>
              <a:pPr/>
              <a:t>49</a:t>
            </a:fld>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9574</TotalTime>
  <Words>11221</Words>
  <Application>Microsoft Office PowerPoint</Application>
  <PresentationFormat>Custom</PresentationFormat>
  <Paragraphs>844</Paragraphs>
  <Slides>49</Slides>
  <Notes>34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49</vt:i4>
      </vt:variant>
    </vt:vector>
  </HeadingPairs>
  <TitlesOfParts>
    <vt:vector size="56" baseType="lpstr">
      <vt:lpstr>Arial</vt:lpstr>
      <vt:lpstr>Arial</vt:lpstr>
      <vt:lpstr>Calibri</vt:lpstr>
      <vt:lpstr>Calibri Light</vt:lpstr>
      <vt:lpstr>Times New Roman</vt:lpstr>
      <vt:lpstr>Office Theme</vt:lpstr>
      <vt:lpstr>1_Office Theme</vt:lpstr>
      <vt:lpstr>Vivekananda College of Engineering &amp; Technology</vt:lpstr>
      <vt:lpstr>Contents</vt:lpstr>
      <vt:lpstr>PowerPoint Presentation</vt:lpstr>
      <vt:lpstr>Problem Statement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 Seminar Presentation</dc:title>
  <dc:creator>Devadatta Bhat</dc:creator>
  <cp:keywords>DAFfHv8tBnY,BAEw4UIMEh0</cp:keywords>
  <cp:lastModifiedBy>Adithya .</cp:lastModifiedBy>
  <cp:revision>249</cp:revision>
  <dcterms:created xsi:type="dcterms:W3CDTF">2023-04-19T04:19:00Z</dcterms:created>
  <dcterms:modified xsi:type="dcterms:W3CDTF">2026-10-26T05:31:05Z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2023-04-05T11:00:00Z</vt:filetime>
  </property>
  <property fmtid="{D5CDD505-2E9C-101B-9397-08002B2CF9AE}" pid="3" name="Creator">
    <vt:lpwstr>Canva</vt:lpwstr>
  </property>
  <property fmtid="{D5CDD505-2E9C-101B-9397-08002B2CF9AE}" pid="4" name="LastSaved">
    <vt:filetime>2023-04-05T11:00:00Z</vt:filetime>
  </property>
  <property fmtid="{D5CDD505-2E9C-101B-9397-08002B2CF9AE}" pid="5" name="ContentTypeId">
    <vt:lpwstr>0x0101008301C2465860E646B06EEF43E40A17DD</vt:lpwstr>
  </property>
  <property fmtid="{D5CDD505-2E9C-101B-9397-08002B2CF9AE}" pid="6" name="ICV">
    <vt:lpwstr>51D16898E5F34F01B2EC78FD561D3C06</vt:lpwstr>
  </property>
  <property fmtid="{D5CDD505-2E9C-101B-9397-08002B2CF9AE}" pid="7" name="KSOProductBuildVer">
    <vt:lpwstr>1033-11.2.0.11225</vt:lpwstr>
  </property>
</Properties>
</file>